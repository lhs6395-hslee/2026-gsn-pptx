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31.xml" ContentType="application/vnd.openxmlformats-officedocument.presentationml.slide+xml"/>
  <Override PartName="/ppt/slides/slide38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sldIdLst>
    <p:sldId id="256" r:id="rId8"/>
    <p:sldId id="257" r:id="rId9"/>
    <p:sldId id="281" r:id="rId15"/>
    <p:sldId id="285" r:id="rId16"/>
    <p:sldId id="302" r:id="rId33"/>
    <p:sldId id="308" r:id="rId40"/>
    <p:sldId id="316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5D52F42-0661-4B41-B441-9185E535CF94}">
          <p14:sldIdLst>
            <p14:sldId id="256"/>
          </p14:sldIdLst>
        </p14:section>
        <p14:section name="목차/간지" id="{17576DB7-0DB2-4FD3-B50E-9DE209D1F52D}">
          <p14:sldIdLst>
            <p14:sldId id="257"/>
            <p14:sldId id="258"/>
          </p14:sldIdLst>
        </p14:section>
        <p14:section name="본문" id="{A213B285-4DD1-4C1D-A27B-633F1C9F1121}">
          <p14:sldIdLst>
            <p14:sldId id="283"/>
            <p14:sldId id="291"/>
            <p14:sldId id="282"/>
            <p14:sldId id="290"/>
            <p14:sldId id="281"/>
            <p14:sldId id="285"/>
            <p14:sldId id="293"/>
            <p14:sldId id="292"/>
            <p14:sldId id="289"/>
            <p14:sldId id="311"/>
            <p14:sldId id="310"/>
            <p14:sldId id="312"/>
            <p14:sldId id="267"/>
            <p14:sldId id="270"/>
            <p14:sldId id="284"/>
            <p14:sldId id="294"/>
            <p14:sldId id="261"/>
            <p14:sldId id="275"/>
            <p14:sldId id="299"/>
            <p14:sldId id="300"/>
            <p14:sldId id="269"/>
            <p14:sldId id="272"/>
            <p14:sldId id="286"/>
            <p14:sldId id="287"/>
            <p14:sldId id="301"/>
            <p14:sldId id="262"/>
            <p14:sldId id="263"/>
            <p14:sldId id="307"/>
            <p14:sldId id="305"/>
            <p14:sldId id="295"/>
            <p14:sldId id="298"/>
            <p14:sldId id="304"/>
            <p14:sldId id="308"/>
            <p14:sldId id="297"/>
            <p14:sldId id="260"/>
            <p14:sldId id="276"/>
            <p14:sldId id="302"/>
            <p14:sldId id="317"/>
            <p14:sldId id="309"/>
            <p14:sldId id="277"/>
          </p14:sldIdLst>
        </p14:section>
        <p14:section name="마무리" id="{62DC044E-9886-4F21-AC6A-E8799B9F72A4}">
          <p14:sldIdLst>
            <p14:sldId id="313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50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40" Type="http://schemas.openxmlformats.org/officeDocument/2006/relationships/slide" Target="slides/slide38.xml"/><Relationship Id="rId15" Type="http://schemas.openxmlformats.org/officeDocument/2006/relationships/slide" Target="slides/slide13.xml"/><Relationship Id="rId49" Type="http://schemas.openxmlformats.org/officeDocument/2006/relationships/presProps" Target="presProps.xml"/><Relationship Id="rId52" Type="http://schemas.openxmlformats.org/officeDocument/2006/relationships/tableStyles" Target="tableStyles.xml"/><Relationship Id="rId9" Type="http://schemas.openxmlformats.org/officeDocument/2006/relationships/slide" Target="slides/slide7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3" Type="http://schemas.openxmlformats.org/officeDocument/2006/relationships/slide" Target="slides/slide31.xml"/><Relationship Id="rId1" Type="http://schemas.openxmlformats.org/officeDocument/2006/relationships/slideMaster" Target="slideMasters/slideMaster1.xml"/></Relationship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774017"/>
            <ns1:ext cx="10274239" cy="812800"/>
          </ns1:xfrm>
          <ns1:prstGeom prst="rect">
            <ns1:avLst/>
          </ns1:prstGeom>
          <ns1:noFill/>
          <ns1:ln/>
        </ns0:spPr>
        <ns0:txBody>
          <ns1:bodyPr lIns="0" tIns="0" rIns="0" bIns="0" rtlCol="0" anchor="ctr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Field Delivery Engineering의 기술 역량과 세일즈 가속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ko-KR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AI, Cloud, BigData, CDN, Contact Center, 스마트 </ns1:t>
            </ns1:r>
            <ns1:r>
              <ns1:rPr lang="ko-KR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ko-KR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 </ns1:t>
            </ns1:r>
            <ns1:r>
              <ns1:rPr lang="ko-KR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12192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AWS AI FDE 핵심 역할·기술·세일즈 전략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2026.06.08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AWS AI FDE 역할 정의 및 핵심 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AWS AI/ML 핵심 기술 스택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고객 세일즈 사이클과 FDE 개입 전략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파트너 기술 협업 및 공동 딜리버리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11081475" y="2005776"/>
            <ns1:ext cx="1110525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11081475" y="2680450"/>
            <ns1:ext cx="1110525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11081475" y="3355124"/>
            <ns1:ext cx="1110525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11081475" y="4029798"/>
            <ns1:ext cx="1110525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11081475" y="4704472"/>
            <ns1:ext cx="1110525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11081475" y="5379146"/>
            <ns1:ext cx="1110525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11081475" y="6053819"/>
            <ns1:ext cx="1110525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목차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04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1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altLang="ko-KR" dirty="0" smtClean="0"/>
              <ns1:t>AWS AI FDE 역할 정의 및 핵심 책임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ko-KR" dirty="0"/>
              <ns1:t>01 FDE 포지셔닝 및 역할 범위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 FDE의 3대 핵심 책임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AWS AI FDE는 기술 검증·고객 구현 지원·파트너 역량 강화를 동시에 수행하는 필드 전문가입니다.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780495"/>
            <ns1:ext cx="3120956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AWS 로고와 체크리스트 아이콘이 결합된 PoC 검증 프로세스 다이어그램]</ns1:t>
            </ns1:r>
            <ns1:endParaRPr lang="ko-KR" altLang="en-US" sz="1200" dirty="0">
              <ns1:solidFill>
                <ns1:schemeClr val="tx1">
                  <ns1:lumMod val="85000"/>
                  <ns1:lumOff val="15000"/>
                </ns1:schemeClr>
              </ns1:solidFill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780495"/>
            <ns1:ext cx="3120956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클라우드 아키텍처 블록 다이어그램 — SageMaker, Bedrock, S3 연결 구조]</ns1:t>
            </ns1:r>
            <ns1:endParaRPr lang="ko-KR" altLang="en-US" sz="1200" dirty="0">
              <ns1:solidFill>
                <ns1:schemeClr val="tx1">
                  <ns1:lumMod val="85000"/>
                  <ns1:lumOff val="15000"/>
                </ns1:schemeClr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780495"/>
            <ns1:ext cx="3120956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사람 아이콘 그룹과 상승 화살표로 구성된 파트너 역량 강화 일러스트]</ns1:t>
            </ns1:r>
            <ns1:endParaRPr lang="ko-KR" altLang="en-US" sz="1200" dirty="0">
              <ns1:solidFill>
                <ns1:schemeClr val="tx1">
                  <ns1:lumMod val="85000"/>
                  <ns1:lumOff val="15000"/>
                </ns1:schemeClr>
              </ns1:solidFill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58993" y="4227457"/>
            <ns1:ext cx="3124079" cy="114464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고객 요구사항 기반 AWS AI/ML 서비스 PoC 설계 및 기술 타당성 검증 수행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85505" y="4227457"/>
            <ns1:ext cx="3124079" cy="114464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파트너사 기술팀 대상 AWS AI 서비스 트레이닝·핸즈온 워크숍 주도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8994" y="780495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기술 검증 &amp; PoC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3459" y="780494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솔루션 아키텍처 설계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9483" y="780494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파트너 역량 Enablement</ns1:t>
            </ns1:r>
          </ns1:p>
        </ns0:txBody>
      </ns0:sp>
      <ns0:sp>
        <ns0:nvSpPr>
          <ns0:cNvPr id="38" name="Text 1"/>
          <ns0:cNvSpPr/>
          <ns0:nvPr/>
        </ns0:nvSpPr>
        <ns0:spPr>
          <ns1:xfrm>
            <ns1:off x="5859479" y="4240157"/>
            <ns1:ext cx="3124079" cy="114464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SageMaker·Bedrock·Rekognition 활용 엔드투엔드 아키텍처 제안 및 문서화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9" name="직선 연결선 38"/>
          <ns0:cNvCxnSpPr/>
          <ns0:nvPr/>
        </ns0:nvCxnSpPr>
        <ns0:spPr>
          <ns1:xfrm>
            <ns1:off x="5808610" y="5693668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9021779" y="5693668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2" name="갈매기형 수장 21"/>
          <ns0:cNvSpPr/>
          <ns0:nvPr/>
        </ns0:nvSpPr>
        <ns0:spPr>
          <ns1:xfrm rot="5400000">
            <ns1:off x="4159149" y="551231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23" name="갈매기형 수장 22"/>
          <ns0:cNvSpPr/>
          <ns0:nvPr/>
        </ns0:nvSpPr>
        <ns0:spPr>
          <ns1:xfrm rot="5400000">
            <ns1:off x="7353312" y="551231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26" name="갈매기형 수장 25"/>
          <ns0:cNvSpPr/>
          <ns0:nvPr/>
        </ns0:nvSpPr>
        <ns0:spPr>
          <ns1:xfrm rot="5400000">
            <ns1:off x="10585661" y="5479896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27" name="Text 1"/>
          <ns0:cNvSpPr/>
          <ns0:nvPr/>
        </ns0:nvSpPr>
        <ns0:spPr>
          <ns1:xfrm>
            <ns1:off x="2863516" y="6051883"/>
            <ns1:ext cx="2622883" cy="2767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PoC 성공이 고객 계약 전환의 핵심 트리거</ns1:t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6103753" y="6051883"/>
            <ns1:ext cx="2622883" cy="2767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Well-Architected 통과 = 고객 신뢰</ns1:t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316921" y="6051882"/>
            <ns1:ext cx="2622883" cy="2767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파트너 기술 역량이 FDE 영향력의 배수 효과</ns1:t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3788725186"/>
      </ns0:ext>
    </ns0:extLst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780495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Bedrock 서비스 아이콘과 LLM 모델 선택 UI 스크린샷 스타일 일러스트]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780495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SageMaker 파이프라인 플로우 다이어그램 아이콘]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780494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AI 서비스 아이콘 모음 — 카메라·텍스트·그래프 심볼]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780494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CI/CD 파이프라인 순환 화살표와 모델 배포 아이콘]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altLang="ko-KR" dirty="0" smtClean="0"/>
              <ns1:t>AWS AI/ML 핵심 기술 스택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ko-KR" dirty="0"/>
              <ns1:t>02 플랫폼 및 서비스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94380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 FDE 필수 AWS AI/ML 서비스 4대 영역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FDE가 고객 프로젝트에서 반드시 숙달해야 할 AWS AI/ML 핵심 서비스 영역을 정의합니다.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Amazon Bedrock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4255054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FM 기반 생성형 AI 애플리케이션 구축·RAG 아키텍처 설계·Agents 구성 및 프롬프트 엔지니어링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Amazon SageMaker</ns1:t>
            </ns1: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AWS AI Services</ns1:t>
            </ns1: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MLOps &amp; DataOps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4255054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모델 학습·튜닝·배포 파이프라인 자동화 및 Feature Store·Clarify 활용 ML 거버넌스 구현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4252196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Rekognition·Comprehend·Textract·Forecast 등 완전관리형 AI API 통합 솔루션 설계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196996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SageMaker Pipelines·MLflow·CodePipeline 연계 CI/CD 기반 모델 생애주기 관리 전략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7350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갈매기형 수장 23"/>
          <ns0:cNvSpPr/>
          <ns0:nvPr/>
        </ns0:nvSpPr>
        <ns0:spPr>
          <ns1:xfrm rot="5400000">
            <ns1:off x="3794869" y="5671969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3" name="Text 1"/>
          <ns0:cNvSpPr/>
          <ns0:nvPr/>
        </ns0:nvSpPr>
        <ns0:spPr>
          <ns1:xfrm>
            <ns1:off x="2755068" y="6012541"/>
            <ns1:ext cx="2203369" cy="31607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생성형 AI의 60%가 RAG 아키텍처 기반 구현</ns1:t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4" name="갈매기형 수장 33"/>
          <ns0:cNvSpPr/>
          <ns0:nvPr/>
        </ns0:nvSpPr>
        <ns0:spPr>
          <ns1:xfrm rot="5400000">
            <ns1:off x="6252404" y="5671969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5" name="Text 1"/>
          <ns0:cNvSpPr/>
          <ns0:nvPr/>
        </ns0:nvSpPr>
        <ns0:spPr>
          <ns1:xfrm>
            <ns1:off x="5212604" y="6012541"/>
            <ns1:ext cx="2102800" cy="31607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자동화로 학습 시간 40% 단축</ns1:t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갈매기형 수장 35"/>
          <ns0:cNvSpPr/>
          <ns0:nvPr/>
        </ns0:nvSpPr>
        <ns0:spPr>
          <ns1:xfrm rot="5400000">
            <ns1:off x="8657665" y="5671969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7" name="Text 1"/>
          <ns0:cNvSpPr/>
          <ns0:nvPr/>
        </ns0:nvSpPr>
        <ns0:spPr>
          <ns1:xfrm>
            <ns1:off x="7617865" y="6012541"/>
            <ns1:ext cx="2020064" cy="31607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완전관리형 AI API로 도입 기간 3개월 절감</ns1:t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갈매기형 수장 37"/>
          <ns0:cNvSpPr/>
          <ns0:nvPr/>
        </ns0:nvSpPr>
        <ns0:spPr>
          <ns1:xfrm rot="5400000">
            <ns1:off x="11020997" y="5675596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10024739" y="6012541"/>
            <ns1:ext cx="2016598" cy="31969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CI/CD 통합으로 모델 배포 빈도 10배 향상</ns1:t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3261194610"/>
      </ns0:ext>
    </ns0:extLst>
  </ns0:cSld>
  <ns0:clrMapOvr>
    <ns1:masterClrMapping/>
  </ns0:clrMapOvr>
</ns0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altLang="ko-KR" dirty="0" smtClean="0"/>
              <ns1:t>고객 세일즈 사이클과 FDE 개입 전략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ko-KR" dirty="0" smtClean="0"/>
              <ns1:t>03 세일즈 사이클 단계별 FDE 역할</ns1:t>
            </ns1:r>
            <ns1:endParaRPr lang="ko-KR" altLang="en-US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 FDE 세일즈 개입 4단계 프로세스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고객 세일즈 사이클 전 단계에서 FDE가 기술 신뢰를 구축하고 딜 클로징을 가속하는 단계별 전략입니다.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이등변 삼각형 13"/>
          <ns0:cNvSpPr/>
          <ns0:nvPr/>
        </ns0:nvSpPr>
        <ns0:spPr>
          <ns1:xfrm rot="5400000">
            <ns1:off x="482324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이등변 삼각형 15"/>
          <ns0:cNvSpPr/>
          <ns0:nvPr/>
        </ns0:nvSpPr>
        <ns0:spPr>
          <ns1:xfrm rot="5400000">
            <ns1:off x="731131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9621521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4263276" y="895905"/>
            <ns1:ext cx="634662" cy="338554"/>
          </ns1:xfrm>
          <ns1:prstGeom prst="rect">
            <ns1:avLst/>
          </ns1:prstGeom>
        </ns0:spPr>
        <ns0:txBody>
          <ns1:bodyPr wrap="non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1단계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6751345" y="895905"/>
            <ns1:ext cx="634662" cy="338554"/>
          </ns1:xfrm>
          <ns1:prstGeom prst="rect">
            <ns1:avLst/>
          </ns1:prstGeom>
        </ns0:spPr>
        <ns0:txBody>
          <ns1:bodyPr wrap="non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2단계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051374" y="895905"/>
            <ns1:ext cx="634662" cy="338554"/>
          </ns1:xfrm>
          <ns1:prstGeom prst="rect">
            <ns1:avLst/>
          </ns1:prstGeom>
        </ns0:spPr>
        <ns0:txBody>
          <ns1:bodyPr wrap="non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3단계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11493341" y="895905"/>
            <ns1:ext cx="634662" cy="338554"/>
          </ns1:xfrm>
          <ns1:prstGeom prst="rect">
            <ns1:avLst/>
          </ns1:prstGeom>
        </ns0:spPr>
        <ns0:txBody>
          <ns1:bodyPr wrap="non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4단계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2717592" y="4291015"/>
            <ns1:ext cx="9414407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2717592" y="4327015"/>
            <ns1:ext cx="9414407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2717592" y="1499874"/>
            <ns1:ext cx="2120346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기술 Discovery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고객 Pain Point 파악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요구사항 심층 인터뷰</ns1:t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2717592" y="4738164"/>
            <ns1:ext cx="2120346" cy="66294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요구사항 문서 완료</ns1:t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2717592" y="5521104"/>
            <ns1:ext cx="1378224" cy="66294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요건 불명확 → 범위 확장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4135816" y="5521104"/>
            <ns1:ext cx="702122" cy="66294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FDE 1~2주</ns1:t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4957938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PoC 설계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AWS AI 서비스 선정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검증 시나리오 정의</ns1:t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4957938" y="4738164"/>
            <ns1:ext cx="2375782" cy="66294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PoC 완료율 100%</ns1:t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4957938" y="5521104"/>
            <ns1:ext cx="1544258" cy="66294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기술 적합성 미검증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6542196" y="5521104"/>
            <ns1:ext cx="791524" cy="66294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FDE 2~4주</ns1:t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7453720" y="1499874"/>
            <ns1:ext cx="218249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아키텍처 제안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비용·성능·보안 최적화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레퍼런스 아키텍처 작성</ns1:t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7453720" y="4738164"/>
            <ns1:ext cx="2182497" cy="66294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WAR 통과 / 제안서 승인</ns1:t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7453720" y="5521104"/>
            <ns1:ext cx="1418623" cy="66294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예산 불일치 → 재설계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8912343" y="5521104"/>
            <ns1:ext cx="723874" cy="66294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FDE 1~2주</ns1:t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756217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딜 클로징 지원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ROI 문서화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경영진 프레젠테이션</ns1:t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756217" y="4738164"/>
            <ns1:ext cx="2375782" cy="66294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계약 전환율 향상</ns1:t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756217" y="5521104"/>
            <ns1:ext cx="1544258" cy="66294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경영진 기술 이해 부족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1340475" y="5521104"/>
            <ns1:ext cx="791524" cy="66294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>
            <ns1:normAutofit/>
          </ns1:bodyPr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FDE 1주</ns1:t>
            </ns1:r>
          </ns1:p>
        </ns0:txBody>
      </ns0:sp>
    </ns0:spTree>
    <ns0:extLst>
      <ns0:ext uri="{BB962C8B-B14F-4D97-AF65-F5344CB8AC3E}">
        <ns2:creationId val="3958239633"/>
      </ns0:ext>
    </ns0:extLst>
  </ns0:cSld>
  <ns0:clrMapOvr>
    <ns1:masterClrMapping/>
  </ns0:clrMapOvr>
</ns0:sld>
</file>

<file path=ppt/slides/slide38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altLang="ko-KR" dirty="0" smtClean="0"/>
              <ns1:t>파트너 기술 협업 및 공동 딜리버리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ko-KR" dirty="0" smtClean="0"/>
              <ns1:t>04 파트너 공동 딜리버리 모델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94380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 FDE-파트너 공동 딜리버리 아키텍처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AWS FDE와 파트너 기술팀이 역할을 분담하여 고객 프로젝트를 성공적으로 완수하는 협업 흐름입니다.</ns1:t>
            </ns1:r>
          </ns1:p>
        </ns0:txBody>
      </ns0:sp>
      <ns0:sp>
        <ns0:nvSpPr>
          <ns0:cNvPr id="7" name="직사각형 6"/>
          <ns0:cNvSpPr/>
          <ns0:nvPr/>
        </ns0:nvSpPr>
        <ns0:spPr>
          <ns1:xfrm>
            <ns1:off x="4238354" y="1895050"/>
            <ns1:ext cx="2750093" cy="120574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FDE: 기술 검증 리드 / 파트너: 비즈니스 요건 수집 및 현업 인터페이스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0" name="직사각형 9"/>
          <ns0:cNvSpPr/>
          <ns0:nvPr/>
        </ns0:nvSpPr>
        <ns0:spPr>
          <ns1:xfrm>
            <ns1:off x="4238354" y="3371605"/>
            <ns1:ext cx="2750093" cy="120574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FDE: AWS 레퍼런스 아키텍처 제공 / 파트너: 커스터마이징 및 통합 설계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1" name="직사각형 10"/>
          <ns0:cNvSpPr/>
          <ns0:nvPr/>
        </ns0:nvSpPr>
        <ns0:spPr>
          <ns1:xfrm>
            <ns1:off x="4238354" y="4848159"/>
            <ns1:ext cx="2750093" cy="120574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FDE: 기술 품질 검토 및 Well-Architected Review / 파트너: 구현·테스트·운영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3" name="직사각형 12"/>
          <ns0:cNvSpPr/>
          <ns0:nvPr/>
        </ns0:nvSpPr>
        <ns0:spPr>
          <ns1:xfrm>
            <ns1:off x="1402851" y="1895046"/>
            <ns1:ext cx="2547448" cy="1205749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tx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고객 요구사항 정의</ns1:t>
            </ns1:r>
            <ns1:endParaRPr lang="en-US" altLang="ko-KR" sz="1200" dirty="0">
              <ns1:solidFill>
                <ns1:schemeClr val="tx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직사각형 13"/>
          <ns0:cNvSpPr/>
          <ns0:nvPr/>
        </ns0:nvSpPr>
        <ns0:spPr>
          <ns1:xfrm>
            <ns1:off x="1402851" y="3371600"/>
            <ns1:ext cx="2547448" cy="1205749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tx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공동 솔루션 설계</ns1:t>
            </ns1:r>
            <ns1:endParaRPr lang="en-US" altLang="ko-KR" sz="1200" dirty="0">
              <ns1:solidFill>
                <ns1:schemeClr val="tx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1402851" y="4848155"/>
            <ns1:ext cx="2547448" cy="1205749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tx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통합 딜리버리 실행</ns1:t>
            </ns1:r>
            <ns1:endParaRPr lang="en-US" altLang="ko-KR" sz="1200" dirty="0">
              <ns1:solidFill>
                <ns1:schemeClr val="tx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7425917" y="1895046"/>
            <ns1:ext cx="3578851" cy="1205749"/>
          </ns1:xfrm>
          <ns1:prstGeom prst="rect">
            <ns1:avLst/>
          </ns1:prstGeom>
          <ns1:noFill/>
          <ns1:ln>
            <ns1:solidFill>
              <ns1:srgbClr val="393EBA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err="1" smtClean="0">
                <ns1:solidFill>
                  <ns1:srgbClr val="393EBA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고객 인터뷰·워크숍·현황 분석을 통한 AI 도입 요건 및 성공 지표 공동 확정</ns1:t>
            </ns1:r>
            <ns1:endParaRPr lang="en-US" altLang="ko-KR" sz="1200" dirty="0">
              <ns1:solidFill>
                <ns1:srgbClr val="393EBA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0" name="이등변 삼각형 19"/>
          <ns0:cNvSpPr/>
          <ns0:nvPr/>
        </ns0:nvSpPr>
        <ns0:spPr>
          <ns1:xfrm rot="5400000">
            <ns1:off x="6811360" y="2405135"/>
            <ns1:ext cx="539747" cy="185573"/>
          </ns1:xfrm>
          <ns1:prstGeom prst="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1" name="이등변 삼각형 20"/>
          <ns0:cNvSpPr/>
          <ns0:nvPr/>
        </ns0:nvSpPr>
        <ns0:spPr>
          <ns1:xfrm rot="5400000">
            <ns1:off x="6799293" y="3881690"/>
            <ns1:ext cx="539747" cy="185573"/>
          </ns1:xfrm>
          <ns1:prstGeom prst="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이등변 삼각형 22"/>
          <ns0:cNvSpPr/>
          <ns0:nvPr/>
        </ns0:nvSpPr>
        <ns0:spPr>
          <ns1:xfrm rot="5400000">
            <ns1:off x="6799292" y="5358245"/>
            <ns1:ext cx="539747" cy="185573"/>
          </ns1:xfrm>
          <ns1:prstGeom prst="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7425916" y="3366734"/>
            <ns1:ext cx="3578851" cy="1205749"/>
          </ns1:xfrm>
          <ns1:prstGeom prst="rect">
            <ns1:avLst/>
          </ns1:prstGeom>
          <ns1:noFill/>
          <ns1:ln>
            <ns1:solidFill>
              <ns1:srgbClr val="393EBA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err="1" smtClean="0">
                <ns1:solidFill>
                  <ns1:srgbClr val="393EBA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Bedrock·SageMaker 기반 RA 설계 후 파트너 개발 환경에 맞춘 커스터마이징 적용</ns1:t>
            </ns1:r>
            <ns1:endParaRPr lang="en-US" altLang="ko-KR" sz="1200" dirty="0">
              <ns1:solidFill>
                <ns1:srgbClr val="393EBA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7425916" y="4838422"/>
            <ns1:ext cx="3578851" cy="1205749"/>
          </ns1:xfrm>
          <ns1:prstGeom prst="rect">
            <ns1:avLst/>
          </ns1:prstGeom>
          <ns1:noFill/>
          <ns1:ln>
            <ns1:solidFill>
              <ns1:srgbClr val="393EBA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err="1" smtClean="0">
                <ns1:solidFill>
                  <ns1:srgbClr val="393EBA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WAR(Well-Architected Review) 수행·성능 벤치마크·Go-Live 체크리스트 공…</ns1:t>
            </ns1:r>
            <ns1:endParaRPr lang="en-US" altLang="ko-KR" sz="1200" dirty="0">
              <ns1:solidFill>
                <ns1:srgbClr val="393EBA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6" name="이등변 삼각형 25"/>
          <ns0:cNvSpPr/>
          <ns0:nvPr/>
        </ns0:nvSpPr>
        <ns0:spPr>
          <ns1:xfrm rot="5400000">
            <ns1:off x="3773211" y="2405133"/>
            <ns1:ext cx="539747" cy="185573"/>
          </ns1:xfrm>
          <ns1:prstGeom prst="triangle">
            <ns1:avLst/>
          </ns1:prstGeom>
          <ns1:solidFill>
            <ns1:srgbClr val="D9D9D9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7" name="이등변 삼각형 26"/>
          <ns0:cNvSpPr/>
          <ns0:nvPr/>
        </ns0:nvSpPr>
        <ns0:spPr>
          <ns1:xfrm rot="5400000">
            <ns1:off x="3773211" y="3881690"/>
            <ns1:ext cx="539747" cy="185573"/>
          </ns1:xfrm>
          <ns1:prstGeom prst="triangle">
            <ns1:avLst/>
          </ns1:prstGeom>
          <ns1:solidFill>
            <ns1:srgbClr val="D9D9D9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이등변 삼각형 27"/>
          <ns0:cNvSpPr/>
          <ns0:nvPr/>
        </ns0:nvSpPr>
        <ns0:spPr>
          <ns1:xfrm rot="5400000">
            <ns1:off x="3773211" y="5348509"/>
            <ns1:ext cx="539747" cy="185573"/>
          </ns1:xfrm>
          <ns1:prstGeom prst="triangle">
            <ns1:avLst/>
          </ns1:prstGeom>
          <ns1:solidFill>
            <ns1:srgbClr val="D9D9D9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사각형 28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7D80D5">
                  <ns1:alpha val="0"/>
                </ns1:srgbClr>
              </ns1:gs>
              <ns1:gs pos="100000">
                <ns1:srgbClr val="E6E7FF">
                  <ns1:alpha val="0"/>
                </ns1:srgbClr>
              </ns1:gs>
              <ns1:gs pos="4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1084052846"/>
      </ns0:ext>
    </ns0:extLst>
  </ns0:cSld>
  <ns0:clrMapOvr>
    <ns1:masterClrMapping/>
  </ns0:clrMapOvr>
</ns0:sld>
</file>

<file path=ppt/slides/slide4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603311" y="2311400"/>
            <ns1:ext cx="1598632" cy="267494"/>
          </ns1:xfrm>
          <ns1:prstGeom prst="rect">
            <ns1:avLst/>
          </ns1:prstGeom>
        </ns0:spPr>
      </ns0:pic>
      <ns0:sp>
        <ns0:nvSpPr>
          <ns0:cNvPr id="8" name="Text 3"/>
          <ns0:cNvSpPr/>
          <ns0:nvPr/>
        </ns0:nvSpPr>
        <ns0:spPr>
          <ns1:xfrm>
            <ns1:off x="8661461" y="332443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dirty="0">
                <ns1:solidFill>
                  <ns1:schemeClr val="bg1"/>
                </ns1:solidFill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Drive Neo Technology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603311" y="2943548"/>
            <ns1:ext cx="7532191" cy="1018852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Autofit/>
          </ns1:bodyPr>
          <ns1:lstStyle/>
          <ns1:p>
            <ns1:pPr>
              <ns1:lnSpc>
                <ns1:spcPts val="4064"/>
              </ns1:lnSpc>
            </ns1:pPr>
            <ns1:r>
              <ns1:rPr lang="ko-KR" altLang="en-US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감사합니다</ns1:t>
            </ns1:r>
            <ns1:r>
              <ns1:rPr lang="en-US" altLang="ko-KR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.</ns1:t>
            </ns1:r>
            <ns1:endParaRPr lang="en-US" altLang="ko-KR" sz="66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3:creationId val="2657807510"/>
      </ns0:ext>
    </ns0:extLst>
  </ns0:cSld>
  <ns0:clrMapOvr>
    <ns1:masterClrMapping/>
  </ns0:clrMapOvr>
</ns0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