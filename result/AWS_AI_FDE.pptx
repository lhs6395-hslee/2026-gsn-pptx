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1.xml" ContentType="application/vnd.openxmlformats-officedocument.presentationml.slide+xml"/>
  <Override PartName="/ppt/slides/slide38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8"/>
    <p:sldId id="257" r:id="rId9"/>
    <p:sldId id="281" r:id="rId15"/>
    <p:sldId id="285" r:id="rId16"/>
    <p:sldId id="302" r:id="rId33"/>
    <p:sldId id="308" r:id="rId40"/>
    <p:sldId id="31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가이드" id="{5B676074-C3C7-4E33-82A1-B8F989B76644}">
          <p14:sldIdLst>
            <p14:sldId id="269"/>
            <p14:sldId id="272"/>
            <p14:sldId id="286"/>
            <p14:sldId id="287"/>
            <p14:sldId id="301"/>
          </p14:sldIdLst>
        </p14:section>
        <p14:section name="표지" id="{65D52F42-0661-4B41-B441-9185E535CF94}">
          <p14:sldIdLst>
            <p14:sldId id="256"/>
          </p14:sldIdLst>
        </p14:section>
        <p14:section name="목차/간지" id="{17576DB7-0DB2-4FD3-B50E-9DE209D1F52D}">
          <p14:sldIdLst>
            <p14:sldId id="257"/>
            <p14:sldId id="258"/>
          </p14:sldIdLst>
        </p14:section>
        <p14:section name="본문" id="{A213B285-4DD1-4C1D-A27B-633F1C9F1121}">
          <p14:sldIdLst>
            <p14:sldId id="283"/>
            <p14:sldId id="291"/>
            <p14:sldId id="282"/>
            <p14:sldId id="290"/>
            <p14:sldId id="281"/>
            <p14:sldId id="285"/>
            <p14:sldId id="293"/>
            <p14:sldId id="292"/>
            <p14:sldId id="289"/>
            <p14:sldId id="311"/>
            <p14:sldId id="310"/>
            <p14:sldId id="312"/>
            <p14:sldId id="267"/>
            <p14:sldId id="270"/>
            <p14:sldId id="284"/>
            <p14:sldId id="294"/>
            <p14:sldId id="261"/>
            <p14:sldId id="275"/>
            <p14:sldId id="299"/>
            <p14:sldId id="300"/>
          </p14:sldIdLst>
        </p14:section>
        <p14:section name="타임라인/흐름" id="{9D4BB107-11D1-4A44-9ACC-0B6CE7C3E5D2}">
          <p14:sldIdLst>
            <p14:sldId id="260"/>
            <p14:sldId id="276"/>
            <p14:sldId id="302"/>
            <p14:sldId id="317"/>
            <p14:sldId id="309"/>
            <p14:sldId id="277"/>
          </p14:sldIdLst>
        </p14:section>
        <p14:section name="변화" id="{4DCBC75A-F0A0-451D-8FC4-62F9A6C094AF}">
          <p14:sldIdLst>
            <p14:sldId id="295"/>
            <p14:sldId id="298"/>
            <p14:sldId id="304"/>
            <p14:sldId id="308"/>
            <p14:sldId id="297"/>
          </p14:sldIdLst>
        </p14:section>
        <p14:section name="그래프/차트" id="{9658A8A5-B58E-4998-B187-951F90C296A1}">
          <p14:sldIdLst>
            <p14:sldId id="262"/>
            <p14:sldId id="263"/>
            <p14:sldId id="307"/>
            <p14:sldId id="305"/>
          </p14:sldIdLst>
        </p14:section>
        <p14:section name="마무리" id="{62DC044E-9886-4F21-AC6A-E8799B9F72A4}">
          <p14:sldIdLst>
            <p14:sldId id="313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1419AB"/>
    <a:srgbClr val="363AB9"/>
    <a:srgbClr val="D9D9D9"/>
    <a:srgbClr val="B0B2E9"/>
    <a:srgbClr val="7B7ED4"/>
    <a:srgbClr val="0C0E68"/>
    <a:srgbClr val="7377D1"/>
    <a:srgbClr val="3C41E6"/>
    <a:srgbClr val="393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73" autoAdjust="0"/>
    <p:restoredTop sz="94660"/>
  </p:normalViewPr>
  <p:slideViewPr>
    <p:cSldViewPr snapToGrid="0">
      <p:cViewPr>
        <p:scale>
          <a:sx n="75" d="100"/>
          <a:sy n="75" d="100"/>
        </p:scale>
        <p:origin x="19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0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40" Type="http://schemas.openxmlformats.org/officeDocument/2006/relationships/slide" Target="slides/slide38.xml"/><Relationship Id="rId15" Type="http://schemas.openxmlformats.org/officeDocument/2006/relationships/slide" Target="slides/slide13.xml"/><Relationship Id="rId49" Type="http://schemas.openxmlformats.org/officeDocument/2006/relationships/presProps" Target="presProps.xml"/><Relationship Id="rId52" Type="http://schemas.openxmlformats.org/officeDocument/2006/relationships/tableStyles" Target="tableStyles.xml"/><Relationship Id="rId9" Type="http://schemas.openxmlformats.org/officeDocument/2006/relationships/slide" Target="slides/slide7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3" Type="http://schemas.openxmlformats.org/officeDocument/2006/relationships/slide" Target="slides/slide31.xml"/><Relationship Id="rId1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8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7373257" y="0"/>
            <a:ext cx="481874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02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1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03312" y="1286198"/>
            <a:ext cx="3248226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4800" dirty="0" smtClean="0">
                <a:solidFill>
                  <a:srgbClr val="171CAC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Index.</a:t>
            </a:r>
            <a:endParaRPr lang="en-US" altLang="ko-KR" sz="4800" dirty="0">
              <a:solidFill>
                <a:srgbClr val="171CAC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2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4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rgbClr val="0C0E68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1625600"/>
            <a:ext cx="12192000" cy="523239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9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2076450"/>
            <a:ext cx="12192000" cy="478154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6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0"/>
            <a:ext cx="12192000" cy="5372100"/>
          </a:xfrm>
          <a:prstGeom prst="rect">
            <a:avLst/>
          </a:prstGeom>
          <a:solidFill>
            <a:srgbClr val="171CAC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>01 Contents 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4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3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8381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84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3" r:id="rId3"/>
    <p:sldLayoutId id="2147483659" r:id="rId4"/>
    <p:sldLayoutId id="2147483655" r:id="rId5"/>
    <p:sldLayoutId id="2147483660" r:id="rId6"/>
    <p:sldLayoutId id="2147483656" r:id="rId7"/>
    <p:sldLayoutId id="2147483658" r:id="rId8"/>
    <p:sldLayoutId id="214748366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Image 1" descr="preencoded.png"/>
          <ns0:cNvPicPr>
            <ns1:picLocks noChangeAspect="1"/>
          </ns0:cNvPicPr>
          <ns0:nvPr/>
        </ns0:nvPicPr>
        <ns0:blipFill>
          <ns1:blip ns2:embed="rId2"/>
          <ns1:srcRect/>
          <ns1:stretch/>
        </ns0:blipFill>
        <ns0:spPr>
          <ns1:xfrm>
            <ns1:off x="7601247" y="4975384"/>
            <ns1:ext cx="1542754" cy="258144"/>
          </ns1:xfrm>
          <ns1:prstGeom prst="rect">
            <ns1:avLst/>
          </ns1:prstGeom>
        </ns0:spPr>
      </ns0:pic>
      <ns0:sp>
        <ns0:nvSpPr>
          <ns0:cNvPr id="6" name="Text 1"/>
          <ns0:cNvSpPr/>
          <ns0:nvPr/>
        </ns0:nvSpPr>
        <ns0:spPr>
          <ns1:xfrm>
            <ns1:off x="603311" y="2774017"/>
            <ns1:ext cx="10274239" cy="812800"/>
          </ns1:xfrm>
          <ns1:prstGeom prst="rect">
            <ns1:avLst/>
          </ns1:prstGeom>
          <ns1:noFill/>
          <ns1:ln/>
        </ns0:spPr>
        <ns0:txBody>
          <ns1:bodyPr lIns="0" tIns="0" rIns="0" bIns="0" rtlCol="0" anchor="ctr">
            <ns1:normAutofit/>
          </ns1:bodyPr>
          <ns1:lstStyle/>
          <ns1:p>
            <ns1:pPr>
              <ns1:lnSpc>
                <ns1:spcPct val="100000"/>
              </ns1:lnSpc>
            </ns1:pPr>
            <ns1:r>
              <ns1:rPr lang="ko-KR" sz="3200" dirty="0" altLang="en-US">
                <ns1:solidFill>
                  <ns1:schemeClr val="bg1"/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Field Delivery Engineering의 기술 역량과 세일즈 가속 전략</ns1:t>
            </ns1:r>
          </ns1:p>
        </ns0:txBody>
      </ns0:sp>
      <ns0:sp>
        <ns0:nvSpPr>
          <ns0:cNvPr id="7" name="Text 2"/>
          <ns0:cNvSpPr/>
          <ns0:nvPr/>
        </ns0:nvSpPr>
        <ns0:spPr>
          <ns1:xfrm>
            <ns1:off x="7601245" y="5688832"/>
            <ns1:ext cx="3833891" cy="7446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buNone/>
            </ns1:pPr>
            <ns1:r>
              <ns1:rPr lang="ko-KR" sz="1200" dirty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AI, Cloud, BigData, CDN, Contact Center, 스마트 </ns1:t>
            </ns1:r>
            <ns1:r>
              <ns1:rPr lang="ko-KR" sz="1200" dirty="0" err="1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물류</ns1:t>
            </ns1:r>
            <ns1:r>
              <ns1:rPr lang="en-US" sz="1200" dirty="0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,</ns1:t>
            </ns1:r>
          </ns1:p>
          <ns1:p>
            <ns1:pPr marL="0" indent="0" algn="l">
              <ns1:buNone/>
            </ns1:pPr>
            <ns1:r>
              <ns1:rPr lang="ko-KR" sz="1200" dirty="0" err="1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스마트</ns1:t>
            </ns1:r>
            <ns1:r>
              <ns1:rPr lang="en-US" sz="1200" dirty="0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 </ns1:t>
            </ns1:r>
            <ns1:r>
              <ns1:rPr lang="ko-KR" sz="1200" dirty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인프라 등 다양한 영역에서 고객의 Business를 선도하는 Digital Innovator입니다.</ns1:t>
            </ns1:r>
            <ns1:endParaRPr lang="en-US" sz="1200" dirty="0">
              <ns1:solidFill>
                <ns1:schemeClr val="bg1"/>
              </ns1:solidFill>
            </ns1:endParaRPr>
          </ns1:p>
        </ns0:txBody>
      </ns0:sp>
      <ns0:sp>
        <ns0:nvSpPr>
          <ns0:cNvPr id="8" name="Text 3"/>
          <ns0:cNvSpPr/>
          <ns0:nvPr/>
        </ns0:nvSpPr>
        <ns0:spPr>
          <ns1:xfrm>
            <ns1:off x="7601247" y="5418660"/>
            <ns1:ext cx="2821971" cy="25708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lnSpc>
                <ns1:spcPts val="1020"/>
              </ns1:lnSpc>
              <ns1:buNone/>
            </ns1:pPr>
            <ns1:r>
              <ns1:rPr lang="en-US" sz="1400" b="1" dirty="0">
                <ns1:solidFill>
                  <ns1:schemeClr val="bg1"/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Drive Neo Technology</ns1:t>
            </ns1:r>
            <ns1:endParaRPr lang="en-US" sz="1400" dirty="0">
              <ns1:solidFill>
                <ns1:schemeClr val="bg1"/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10" name="직선 연결선 9"/>
          <ns0:cNvCxnSpPr/>
          <ns0:nvPr/>
        </ns0:nvCxnSpPr>
        <ns0:spPr>
          <ns1:xfrm>
            <ns1:off x="7275314" y="4944583"/>
            <ns1:ext cx="0" cy="1488913"/>
          </ns1:xfrm>
          <ns1:prstGeom prst="line">
            <ns1:avLst/>
          </ns1:prstGeom>
          <ns1:ln>
            <ns1:solidFill>
              <ns1:schemeClr val="bg1">
                <ns1:alpha val="5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12" name="TextBox 11"/>
          <ns0:cNvSpPr txBox="1"/>
          <ns0:nvPr/>
        </ns0:nvSpPr>
        <ns0:spPr>
          <ns1:xfrm>
            <ns1:off x="603311" y="1310977"/>
            <ns1:ext cx="10274239" cy="1219200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rmAutofit/>
          </ns1:bodyPr>
          <ns1:lstStyle/>
          <ns1:p>
            <ns1:pPr>
              <ns1:lnSpc>
                <ns1:spcPct val="100000"/>
              </ns1:lnSpc>
            </ns1:pPr>
            <ns1:r>
              <ns1:rPr lang="ko-KR" altLang="en-US" sz="4800" b="1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AWS AI FDE 핵심 역할·기술·세일즈 전략</ns1:t>
            </ns1:r>
          </ns1:p>
        </ns0:txBody>
      </ns0:sp>
      <ns0:sp>
        <ns0:nvSpPr>
          <ns0:cNvPr id="15" name="Text 1"/>
          <ns0:cNvSpPr/>
          <ns0:nvPr/>
        </ns0:nvSpPr>
        <ns0:spPr>
          <ns1:xfrm>
            <ns1:off x="603311" y="664962"/>
            <ns1:ext cx="3689289" cy="34121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/>
            <ns1:r>
              <ns1:rPr lang="ko-KR" dirty="0" smtClean="0" altLang="en-US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2026.06.08</ns1:t>
            </ns1:r>
          </ns1:p>
        </ns0:txBody>
      </ns0:sp>
    </ns0:spTree>
    <ns0:extLst>
      <ns0:ext uri="{BB962C8B-B14F-4D97-AF65-F5344CB8AC3E}">
        <ns3:creationId val="2009827017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" name="Text 3"/>
          <ns0:cNvSpPr/>
          <ns0:nvPr/>
        </ns0:nvSpPr>
        <ns0:spPr>
          <ns1:xfrm>
            <ns1:off x="4541178" y="1574452"/>
            <ns1:ext cx="6790297" cy="448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lnSpc>
                <ns1:spcPct val="150000"/>
              </ns1:lnSpc>
              <ns1:buNone/>
            </ns1:pPr>
            <ns1:r>
              <ns1:rPr lang="ko-KR" sz="3000" dirty="0" err="1" smtClean="0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AWS AI FDE 역할 정의 및 핵심 </ns1:t>
            </ns1:r>
            <ns1:endParaRPr lang="en-US" sz="3000" dirty="0" smtClean="0">
              <ns1:solidFill>
                <ns1:schemeClr val="tx1">
                  <ns1:lumMod val="95000"/>
                  <ns1:lumOff val="5000"/>
                  <ns1:alpha val="99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AWS AI/ML 핵심 기술 스택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고객 세일즈 사이클과 FDE 개입 전략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파트너 기술 협업 및 공동 딜리버리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</ns0:txBody>
      </ns0:sp>
      <ns0:sp>
        <ns0:nvSpPr>
          <ns0:cNvPr id="11" name="Text 3"/>
          <ns0:cNvSpPr/>
          <ns0:nvPr/>
        </ns0:nvSpPr>
        <ns0:spPr>
          <ns1:xfrm>
            <ns1:off x="3851538" y="1574452"/>
            <ns1:ext cx="536801" cy="44832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lnSpc>
                <ns1:spcPct val="150000"/>
              </ns1:lnSpc>
              <ns1:buNone/>
            </ns1:pPr>
            <ns1:r>
              <ns1:rPr 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3.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cxnSp>
        <ns0:nvCxnSpPr>
          <ns0:cNvPr id="12" name="직선 연결선 11"/>
          <ns0:cNvCxnSpPr/>
          <ns0:nvPr/>
        </ns0:nvCxnSpPr>
        <ns0:spPr>
          <ns1:xfrm>
            <ns1:off x="11081475" y="2005776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13" name="직선 연결선 12"/>
          <ns0:cNvCxnSpPr/>
          <ns0:nvPr/>
        </ns0:nvCxnSpPr>
        <ns0:spPr>
          <ns1:xfrm>
            <ns1:off x="11081475" y="2680450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7" name="직선 연결선 36"/>
          <ns0:cNvCxnSpPr/>
          <ns0:nvPr/>
        </ns0:nvCxnSpPr>
        <ns0:spPr>
          <ns1:xfrm>
            <ns1:off x="11081475" y="3355124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8" name="직선 연결선 37"/>
          <ns0:cNvCxnSpPr/>
          <ns0:nvPr/>
        </ns0:nvCxnSpPr>
        <ns0:spPr>
          <ns1:xfrm>
            <ns1:off x="11081475" y="4029798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9" name="직선 연결선 38"/>
          <ns0:cNvCxnSpPr/>
          <ns0:nvPr/>
        </ns0:nvCxnSpPr>
        <ns0:spPr>
          <ns1:xfrm>
            <ns1:off x="11081475" y="4704472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0" name="직선 연결선 39"/>
          <ns0:cNvCxnSpPr/>
          <ns0:nvPr/>
        </ns0:nvCxnSpPr>
        <ns0:spPr>
          <ns1:xfrm>
            <ns1:off x="11081475" y="5379146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1" name="직선 연결선 40"/>
          <ns0:cNvCxnSpPr/>
          <ns0:nvPr/>
        </ns0:nvCxnSpPr>
        <ns0:spPr>
          <ns1:xfrm>
            <ns1:off x="11081475" y="6053819"/>
            <ns1:ext cx="1110525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42" name="제목 41"/>
          <ns0:cNvSpPr>
            <ns1:spLocks noGrp="1"/>
          </ns0:cNvSpPr>
          <ns0:nvPr>
            <ns0:ph type="title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r>
              <ns1:rPr lang="ko-KR" altLang="ko-KR" dirty="0"/>
              <ns1:t>목차</ns1:t>
            </ns1:r>
            <ns1:endParaRPr lang="ko-KR" altLang="en-US" dirty="0"/>
          </ns1:p>
        </ns0:txBody>
      </ns0:sp>
      <ns0:sp>
        <ns0:nvSpPr>
          <ns0:cNvPr id="14" name="Text 3"/>
          <ns0:cNvSpPr/>
          <ns0:nvPr/>
        </ns0:nvSpPr>
        <ns0:spPr>
          <ns1:xfrm>
            <ns1:off x="11431475" y="974723"/>
            <ns1:ext cx="760525" cy="54115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>
              <ns1:lnSpc>
                <ns1:spcPct val="310000"/>
              </ns1:lnSpc>
              <ns1:buNone/>
            </ns1:pPr>
            <ns1:r>
              <ns1:rPr 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03</ns1:t>
            </ns1: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04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05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06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</ns0:spTree>
    <ns0:extLst>
      <ns0:ext uri="{BB962C8B-B14F-4D97-AF65-F5344CB8AC3E}">
        <ns2:creationId val="2918603763"/>
      </ns0:ext>
    </ns0:extLst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ko-KR" altLang="ko-KR" dirty="0" smtClean="0"/>
              <ns1:t>AWS AI FDE 역할 정의 및 핵심 책임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ko-KR" altLang="ko-KR" dirty="0"/>
              <ns1:t>01 FDE 포지셔닝 및 역할 범위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62920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 FDE의 3대 핵심 책임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AWS AI FDE는 기술 검증·고객 구현 지원·파트너 역량 강화를 동시에 수행하는 필드 전문가입니다.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0" name="직사각형 19"/>
          <ns0:cNvSpPr/>
          <ns0:nvPr/>
        </ns0:nvSpPr>
        <ns0:spPr>
          <ns1:xfrm>
            <ns1:off x="2662116" y="780495"/>
            <ns1:ext cx="3120956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AWS 로고와 체크리스트 아이콘이 결합된 PoC 검증 프로세스 다이어그램]</ns1:t>
            </ns1:r>
            <ns1:endParaRPr lang="ko-KR" altLang="en-US" sz="1200" dirty="0">
              <ns1:solidFill>
                <ns1:schemeClr val="tx1">
                  <ns1:lumMod val="85000"/>
                  <ns1:lumOff val="15000"/>
                </ns1:schemeClr>
              </ns1:solidFill>
            </ns1:endParaRPr>
          </ns1:p>
        </ns0:txBody>
      </ns0:sp>
      <ns0:sp>
        <ns0:nvSpPr>
          <ns0:cNvPr id="24" name="직사각형 23"/>
          <ns0:cNvSpPr/>
          <ns0:nvPr/>
        </ns0:nvSpPr>
        <ns0:spPr>
          <ns1:xfrm>
            <ns1:off x="5866580" y="780495"/>
            <ns1:ext cx="3120956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클라우드 아키텍처 블록 다이어그램 — SageMaker, Bedrock, S3 연결 구조]</ns1:t>
            </ns1:r>
            <ns1:endParaRPr lang="ko-KR" altLang="en-US" sz="1200" dirty="0">
              <ns1:solidFill>
                <ns1:schemeClr val="tx1">
                  <ns1:lumMod val="85000"/>
                  <ns1:lumOff val="15000"/>
                </ns1:schemeClr>
              </ns1:solidFill>
            </ns1:endParaRPr>
          </ns1:p>
        </ns0:txBody>
      </ns0:sp>
      <ns0:sp>
        <ns0:nvSpPr>
          <ns0:cNvPr id="25" name="직사각형 24"/>
          <ns0:cNvSpPr/>
          <ns0:nvPr/>
        </ns0:nvSpPr>
        <ns0:spPr>
          <ns1:xfrm>
            <ns1:off x="9071044" y="780495"/>
            <ns1:ext cx="3120956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사람 아이콘 그룹과 상승 화살표로 구성된 파트너 역량 강화 일러스트]</ns1:t>
            </ns1:r>
            <ns1:endParaRPr lang="ko-KR" altLang="en-US" sz="1200" dirty="0">
              <ns1:solidFill>
                <ns1:schemeClr val="tx1">
                  <ns1:lumMod val="85000"/>
                  <ns1:lumOff val="15000"/>
                </ns1:schemeClr>
              </ns1:solidFill>
            </ns1:endParaRPr>
          </ns1:p>
        </ns0:txBody>
      </ns0:sp>
      <ns0:sp>
        <ns0:nvSpPr>
          <ns0:cNvPr id="62" name="Text 1"/>
          <ns0:cNvSpPr/>
          <ns0:nvPr/>
        </ns0:nvSpPr>
        <ns0:spPr>
          <ns1:xfrm>
            <ns1:off x="2658993" y="4227457"/>
            <ns1:ext cx="3124079" cy="114464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고객 요구사항 기반 AWS AI/ML 서비스 PoC 설계 및 기술 타당성 검증 수행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69" name="Text 1"/>
          <ns0:cNvSpPr/>
          <ns0:nvPr/>
        </ns0:nvSpPr>
        <ns0:spPr>
          <ns1:xfrm>
            <ns1:off x="9085505" y="4227457"/>
            <ns1:ext cx="3124079" cy="114464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파트너사 기술팀 대상 AWS AI 서비스 트레이닝·핸즈온 워크숍 주도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18" name="모서리가 둥근 직사각형 17"/>
          <ns0:cNvSpPr/>
          <ns0:nvPr/>
        </ns0:nvSpPr>
        <ns0:spPr>
          <ns1:xfrm>
            <ns1:off x="2658994" y="780495"/>
            <ns1:ext cx="3124077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기술 검증 &amp; PoC</ns1:t>
            </ns1:r>
          </ns1:p>
        </ns0:txBody>
      </ns0:sp>
      <ns0:sp>
        <ns0:nvSpPr>
          <ns0:cNvPr id="19" name="모서리가 둥근 직사각형 18"/>
          <ns0:cNvSpPr/>
          <ns0:nvPr/>
        </ns0:nvSpPr>
        <ns0:spPr>
          <ns1:xfrm>
            <ns1:off x="5863459" y="780494"/>
            <ns1:ext cx="3124077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솔루션 아키텍처 설계</ns1:t>
            </ns1:r>
          </ns1:p>
        </ns0:txBody>
      </ns0:sp>
      <ns0:sp>
        <ns0:nvSpPr>
          <ns0:cNvPr id="21" name="모서리가 둥근 직사각형 20"/>
          <ns0:cNvSpPr/>
          <ns0:nvPr/>
        </ns0:nvSpPr>
        <ns0:spPr>
          <ns1:xfrm>
            <ns1:off x="9069483" y="780494"/>
            <ns1:ext cx="3124077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파트너 역량 Enablement</ns1:t>
            </ns1:r>
          </ns1:p>
        </ns0:txBody>
      </ns0:sp>
      <ns0:sp>
        <ns0:nvSpPr>
          <ns0:cNvPr id="38" name="Text 1"/>
          <ns0:cNvSpPr/>
          <ns0:nvPr/>
        </ns0:nvSpPr>
        <ns0:spPr>
          <ns1:xfrm>
            <ns1:off x="5859479" y="4240157"/>
            <ns1:ext cx="3124079" cy="114464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>
              <ns1:lnSpc>
                <ns1:spcPct val="150000"/>
              </ns1:lnSpc>
            </ns1:pPr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SageMaker·Bedrock·Rekognition 활용 엔드투엔드 아키텍처 제안 및 문서화</ns1:t>
            </ns1: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>
              <ns1:lnSpc>
                <ns1:spcPct val="150000"/>
              </ns1:lnSpc>
            </ns1:pP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39" name="직선 연결선 38"/>
          <ns0:cNvCxnSpPr/>
          <ns0:nvPr/>
        </ns0:nvCxnSpPr>
        <ns0:spPr>
          <ns1:xfrm>
            <ns1:off x="5808610" y="5693668"/>
            <ns1:ext cx="0" cy="1164332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40" name="직선 연결선 39"/>
          <ns0:cNvCxnSpPr/>
          <ns0:nvPr/>
        </ns0:nvCxnSpPr>
        <ns0:spPr>
          <ns1:xfrm>
            <ns1:off x="9021779" y="5693668"/>
            <ns1:ext cx="0" cy="1164332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2" name="갈매기형 수장 21"/>
          <ns0:cNvSpPr/>
          <ns0:nvPr/>
        </ns0:nvSpPr>
        <ns0:spPr>
          <ns1:xfrm rot="5400000">
            <ns1:off x="4159149" y="5512311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23" name="갈매기형 수장 22"/>
          <ns0:cNvSpPr/>
          <ns0:nvPr/>
        </ns0:nvSpPr>
        <ns0:spPr>
          <ns1:xfrm rot="5400000">
            <ns1:off x="7353312" y="5512311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26" name="갈매기형 수장 25"/>
          <ns0:cNvSpPr/>
          <ns0:nvPr/>
        </ns0:nvSpPr>
        <ns0:spPr>
          <ns1:xfrm rot="5400000">
            <ns1:off x="10585661" y="5479896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27" name="Text 1"/>
          <ns0:cNvSpPr/>
          <ns0:nvPr/>
        </ns0:nvSpPr>
        <ns0:spPr>
          <ns1:xfrm>
            <ns1:off x="2863516" y="6051883"/>
            <ns1:ext cx="2622883" cy="2767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PoC 성공이 고객 계약 전환의 핵심 트리거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9" name="Text 1"/>
          <ns0:cNvSpPr/>
          <ns0:nvPr/>
        </ns0:nvSpPr>
        <ns0:spPr>
          <ns1:xfrm>
            <ns1:off x="6103753" y="6051883"/>
            <ns1:ext cx="2622883" cy="2767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Well-Architected 통과 = 고객 신뢰 …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0" name="Text 1"/>
          <ns0:cNvSpPr/>
          <ns0:nvPr/>
        </ns0:nvSpPr>
        <ns0:spPr>
          <ns1:xfrm>
            <ns1:off x="9316921" y="6051882"/>
            <ns1:ext cx="2622883" cy="27672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파트너 기술 역량이 FDE 영향력의 배수 효과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2:creationId val="3788725186"/>
      </ns0:ext>
    </ns0:extLst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0" name="직사각형 19"/>
          <ns0:cNvSpPr/>
          <ns0:nvPr/>
        </ns0:nvSpPr>
        <ns0:spPr>
          <ns1:xfrm>
            <ns1:off x="2662116" y="780495"/>
            <ns1:ext cx="2296321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Bedrock 서비스 아이콘과 LLM 모델 선택 UI 스크린샷 스타일 일러스트]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21" name="직사각형 20"/>
          <ns0:cNvSpPr/>
          <ns0:nvPr/>
        </ns0:nvSpPr>
        <ns0:spPr>
          <ns1:xfrm>
            <ns1:off x="5077194" y="780495"/>
            <ns1:ext cx="2296321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SageMaker 파이프라인 플로우 다이어그램 아이콘]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23" name="직사각형 22"/>
          <ns0:cNvSpPr/>
          <ns0:nvPr/>
        </ns0:nvSpPr>
        <ns0:spPr>
          <ns1:xfrm>
            <ns1:off x="7488382" y="780494"/>
            <ns1:ext cx="2296321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AI 서비스 아이콘 모음 — 카메라·텍스트·그래프 심볼]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27" name="직사각형 26"/>
          <ns0:cNvSpPr/>
          <ns0:nvPr/>
        </ns0:nvSpPr>
        <ns0:spPr>
          <ns1:xfrm>
            <ns1:off x="9895681" y="780494"/>
            <ns1:ext cx="2296320" cy="3298019"/>
          </ns1:xfrm>
          <ns1:prstGeom prst="rect">
            <ns1:avLst/>
          </ns1:prstGeom>
          <ns1:solidFill>
            <ns1:schemeClr val="bg1">
              <ns1:lumMod val="75000"/>
              <ns1:alpha val="19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CI/CD 파이프라인 순환 화살표와 모델 배포 아이콘]</ns1:t>
            </ns1:r>
            <ns1:endParaRPr lang="ko-KR" altLang="en-US" sz="1200" dirty="0">
              <ns1:solidFill>
                <ns1:srgbClr val="3C41E6"/>
              </ns1:solidFill>
            </ns1:endParaRPr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ko-KR" altLang="ko-KR" dirty="0" smtClean="0"/>
              <ns1:t>AWS AI/ML 핵심 기술 스택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ko-KR" altLang="ko-KR" dirty="0"/>
              <ns1:t>02 플랫폼 및 서비스 역량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94380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2. FDE 필수 AWS AI/ML 서비스 4대 영역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FDE가 고객 프로젝트에서 반드시 숙달해야 할 AWS AI/ML 핵심 서비스 영역을 정의합니다.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4" name="직선 연결선 3"/>
          <ns0:cNvCxnSpPr/>
          <ns0:nvPr/>
        </ns0:nvCxnSpPr>
        <ns0:spPr>
          <ns1:xfrm>
            <ns1:off x="5061373" y="6012543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58" name="모서리가 둥근 직사각형 57"/>
          <ns0:cNvSpPr/>
          <ns0:nvPr/>
        </ns0:nvSpPr>
        <ns0:spPr>
          <ns1:xfrm>
            <ns1:off x="2658995" y="780495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Amazon Bedrock</ns1:t>
            </ns1:r>
          </ns1:p>
        </ns0:txBody>
      </ns0:sp>
      <ns0:sp>
        <ns0:nvSpPr>
          <ns0:cNvPr id="62" name="Text 1"/>
          <ns0:cNvSpPr/>
          <ns0:nvPr/>
        </ns0:nvSpPr>
        <ns0:spPr>
          <ns1:xfrm>
            <ns1:off x="2755068" y="4255054"/>
            <ns1:ext cx="2052705" cy="1303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FM 기반 생성형 AI 애플리케이션 구축·RAG 아키텍처 설계·Agents 구성 및 프롬프트 엔지니어링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2" name="모서리가 둥근 직사각형 21"/>
          <ns0:cNvSpPr/>
          <ns0:nvPr/>
        </ns0:nvSpPr>
        <ns0:spPr>
          <ns1:xfrm>
            <ns1:off x="5074073" y="780495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Amazon SageMaker</ns1:t>
            </ns1:r>
          </ns1:p>
        </ns0:txBody>
      </ns0:sp>
      <ns0:sp>
        <ns0:nvSpPr>
          <ns0:cNvPr id="26" name="모서리가 둥근 직사각형 25"/>
          <ns0:cNvSpPr/>
          <ns0:nvPr/>
        </ns0:nvSpPr>
        <ns0:spPr>
          <ns1:xfrm>
            <ns1:off x="7485261" y="780495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AWS AI Services</ns1:t>
            </ns1:r>
          </ns1:p>
        </ns0:txBody>
      </ns0:sp>
      <ns0:sp>
        <ns0:nvSpPr>
          <ns0:cNvPr id="28" name="모서리가 둥근 직사각형 27"/>
          <ns0:cNvSpPr/>
          <ns0:nvPr/>
        </ns0:nvSpPr>
        <ns0:spPr>
          <ns1:xfrm>
            <ns1:off x="9892559" y="780495"/>
            <ns1:ext cx="2299442" cy="368856"/>
          </ns1:xfrm>
          <ns1:prstGeom prst="roundRect">
            <ns1:avLst>
              <ns1:gd name="adj" fmla="val 5865"/>
            </ns1:avLst>
          </ns1:prstGeom>
          <ns1:solidFill>
            <ns1:srgbClr val="1419AB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400" dirty="0" smtClean="0"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MLOps &amp; DataOps</ns1:t>
            </ns1:r>
          </ns1:p>
        </ns0:txBody>
      </ns0:sp>
      <ns0:sp>
        <ns0:nvSpPr>
          <ns0:cNvPr id="25" name="Text 1"/>
          <ns0:cNvSpPr/>
          <ns0:nvPr/>
        </ns0:nvSpPr>
        <ns0:spPr>
          <ns1:xfrm>
            <ns1:off x="5170146" y="4255054"/>
            <ns1:ext cx="2052705" cy="1303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모델 학습·튜닝·배포 파이프라인 자동화 및 Feature Store·Clarify 활용 ML 거버넌스 구현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29" name="Text 1"/>
          <ns0:cNvSpPr/>
          <ns0:nvPr/>
        </ns0:nvSpPr>
        <ns0:spPr>
          <ns1:xfrm>
            <ns1:off x="7585224" y="4252196"/>
            <ns1:ext cx="2052705" cy="1303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Rekognition·Comprehend·Textract·Forecast 등 완전관리형 AI API 통합 솔루션 설계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sp>
        <ns0:nvSpPr>
          <ns0:cNvPr id="30" name="Text 1"/>
          <ns0:cNvSpPr/>
          <ns0:nvPr/>
        </ns0:nvSpPr>
        <ns0:spPr>
          <ns1:xfrm>
            <ns1:off x="9988632" y="4196996"/>
            <ns1:ext cx="2052705" cy="130391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SageMaker Pipelines·MLflow·CodePipeline 연계 CI/CD 기반 모델 생애주기 관리 전략</ns1:t>
            </ns1:r>
            <ns1:endParaRPr lang="en-US" altLang="ko-KR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 algn="ctr"/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31" name="직선 연결선 30"/>
          <ns0:cNvCxnSpPr/>
          <ns0:nvPr/>
        </ns0:nvCxnSpPr>
        <ns0:spPr>
          <ns1:xfrm>
            <ns1:off x="7466634" y="6012542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32" name="직선 연결선 31"/>
          <ns0:cNvCxnSpPr/>
          <ns0:nvPr/>
        </ns0:nvCxnSpPr>
        <ns0:spPr>
          <ns1:xfrm>
            <ns1:off x="9873509" y="6012541"/>
            <ns1:ext cx="0" cy="845457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24" name="갈매기형 수장 23"/>
          <ns0:cNvSpPr/>
          <ns0:nvPr/>
        </ns0:nvSpPr>
        <ns0:spPr>
          <ns1:xfrm rot="5400000">
            <ns1:off x="3794869" y="5671969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33" name="Text 1"/>
          <ns0:cNvSpPr/>
          <ns0:nvPr/>
        </ns0:nvSpPr>
        <ns0:spPr>
          <ns1:xfrm>
            <ns1:off x="2755068" y="6012541"/>
            <ns1:ext cx="2203369" cy="31607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생성형 AI의 60%가 RAG 아키텍처 기반 구현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4" name="갈매기형 수장 33"/>
          <ns0:cNvSpPr/>
          <ns0:nvPr/>
        </ns0:nvSpPr>
        <ns0:spPr>
          <ns1:xfrm rot="5400000">
            <ns1:off x="6252404" y="5671969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35" name="Text 1"/>
          <ns0:cNvSpPr/>
          <ns0:nvPr/>
        </ns0:nvSpPr>
        <ns0:spPr>
          <ns1:xfrm>
            <ns1:off x="5212604" y="6012541"/>
            <ns1:ext cx="2102800" cy="31607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ML 파이프라인 자동화로 학습 시간 40% 단축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6" name="갈매기형 수장 35"/>
          <ns0:cNvSpPr/>
          <ns0:nvPr/>
        </ns0:nvSpPr>
        <ns0:spPr>
          <ns1:xfrm rot="5400000">
            <ns1:off x="8657665" y="5671969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37" name="Text 1"/>
          <ns0:cNvSpPr/>
          <ns0:nvPr/>
        </ns0:nvSpPr>
        <ns0:spPr>
          <ns1:xfrm>
            <ns1:off x="7617865" y="6012541"/>
            <ns1:ext cx="2020064" cy="31607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완전관리형 AI API로 도입 기간 3개월 절감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38" name="갈매기형 수장 37"/>
          <ns0:cNvSpPr/>
          <ns0:nvPr/>
        </ns0:nvSpPr>
        <ns0:spPr>
          <ns1:xfrm rot="5400000">
            <ns1:off x="11020997" y="5675596"/>
            <ns1:ext cx="123766" cy="273502"/>
          </ns1:xfrm>
          <ns1:prstGeom prst="chevron">
            <ns1:avLst>
              <ns1:gd name="adj" fmla="val 59417"/>
            </ns1:avLst>
          </ns1:prstGeom>
          <ns1:solidFill>
            <ns1:schemeClr val="bg1">
              <ns1:lumMod val="65000"/>
              <ns1:alpha val="5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>
              <ns1:solidFill>
                <ns1:schemeClr val="tx1"/>
              </ns1:solidFill>
            </ns1:endParaRPr>
          </ns1:p>
        </ns0:txBody>
      </ns0:sp>
      <ns0:sp>
        <ns0:nvSpPr>
          <ns0:cNvPr id="39" name="Text 1"/>
          <ns0:cNvSpPr/>
          <ns0:nvPr/>
        </ns0:nvSpPr>
        <ns0:spPr>
          <ns1:xfrm>
            <ns1:off x="10024739" y="6012541"/>
            <ns1:ext cx="2016598" cy="31969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/>
            <ns1:r>
              <ns1:rPr lang="ko-KR" altLang="ko-KR" sz="14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CI/CD 통합으로 모델 배포 빈도 10배 향상</ns1:t>
            </ns1:r>
            <ns1:endParaRPr lang="en-US" altLang="ko-KR" sz="14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2:creationId val="3261194610"/>
      </ns0:ext>
    </ns0:extLst>
  </ns0:cSld>
  <ns0:clrMapOvr>
    <ns1:masterClrMapping/>
  </ns0:clrMapOvr>
</ns0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4897938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9696217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 smtClean="0"/>
              <a:t>고객 세일즈 사이클과 FDE 개입 전략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ko-KR" dirty="0" smtClean="0"/>
              <a:t>03 세일즈 사이클 단계별 FDE 역할</a:t>
            </a:r>
            <a:endParaRPr lang="ko-KR" altLang="en-US" dirty="0"/>
          </a:p>
        </p:txBody>
      </p:sp>
      <p:sp>
        <p:nvSpPr>
          <p:cNvPr id="17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 FDE 세일즈 개입 4단계 프로세스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세일즈 사이클 전 단계에서 FDE가 기술 신뢰를 구축하고 딜 클로징을 가속하는 단계별 전략입니다.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657592" y="780495"/>
            <a:ext cx="953440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이등변 삼각형 13"/>
          <p:cNvSpPr/>
          <p:nvPr/>
        </p:nvSpPr>
        <p:spPr>
          <a:xfrm rot="5400000">
            <a:off x="4823242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 rot="5400000">
            <a:off x="7311312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/>
          <p:cNvSpPr/>
          <p:nvPr/>
        </p:nvSpPr>
        <p:spPr>
          <a:xfrm rot="5400000">
            <a:off x="9621521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263276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B0B2E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1단계</a:t>
            </a:r>
            <a:endParaRPr lang="en-US" altLang="ko-KR" sz="1600" dirty="0">
              <a:solidFill>
                <a:srgbClr val="B0B2E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51345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7377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2단계</a:t>
            </a:r>
            <a:endParaRPr lang="en-US" altLang="ko-KR" sz="1600" dirty="0">
              <a:solidFill>
                <a:srgbClr val="7377D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51374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363AB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3단계</a:t>
            </a:r>
            <a:endParaRPr lang="en-US" altLang="ko-KR" sz="1600" dirty="0">
              <a:solidFill>
                <a:srgbClr val="363AB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1493341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4단계</a:t>
            </a:r>
            <a:endParaRPr lang="en-US" altLang="ko-KR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0" name="RQ300"/>
          <p:cNvSpPr>
            <a:spLocks noGrp="1"/>
          </p:cNvSpPr>
          <p:nvPr/>
        </p:nvSpPr>
        <p:spPr>
          <a:xfrm>
            <a:off x="2717592" y="4100515"/>
            <a:ext cx="9414407" cy="6000"/>
          </a:xfrm>
          <a:prstGeom prst="rect">
            <a:avLst/>
          </a:prstGeom>
          <a:solidFill>
            <a:srgbClr val="CCCCCC"/>
          </a:solidFill>
        </p:spPr>
      </p:sp>
      <p:sp>
        <p:nvSpPr>
          <p:cNvPr id="301" name="RQ301"/>
          <p:cNvSpPr>
            <a:spLocks noGrp="1"/>
          </p:cNvSpPr>
          <p:nvPr/>
        </p:nvSpPr>
        <p:spPr>
          <a:xfrm>
            <a:off x="2717592" y="4136515"/>
            <a:ext cx="9414407" cy="12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ko-KR" dirty="0" sz="100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분기별 실행 계획</a:t>
            </a:r>
          </a:p>
        </p:txBody>
      </p:sp>
      <p:sp>
        <p:nvSpPr>
          <p:cNvPr id="302" name="RD302"/>
          <p:cNvSpPr>
            <a:spLocks noGrp="1"/>
          </p:cNvSpPr>
          <p:nvPr/>
        </p:nvSpPr>
        <p:spPr>
          <a:xfrm>
            <a:off x="2717592" y="1499874"/>
            <a:ext cx="2120346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▷ 기술 Discovery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고객 Pain Point 파악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요구사항 심층 인터뷰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현황 아키텍처 분석</a:t>
            </a:r>
          </a:p>
        </p:txBody>
      </p:sp>
      <p:sp>
        <p:nvSpPr>
          <p:cNvPr id="303" name="RQ303"/>
          <p:cNvSpPr>
            <a:spLocks noGrp="1"/>
          </p:cNvSpPr>
          <p:nvPr/>
        </p:nvSpPr>
        <p:spPr>
          <a:xfrm>
            <a:off x="2717592" y="4547664"/>
            <a:ext cx="2120346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3C41E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요구사항 문서 완료</a:t>
            </a:r>
          </a:p>
        </p:txBody>
      </p:sp>
      <p:sp>
        <p:nvSpPr>
          <p:cNvPr id="304" name="RQ304"/>
          <p:cNvSpPr>
            <a:spLocks noGrp="1"/>
          </p:cNvSpPr>
          <p:nvPr/>
        </p:nvSpPr>
        <p:spPr>
          <a:xfrm>
            <a:off x="2717592" y="5187664"/>
            <a:ext cx="2120346" cy="380000"/>
          </a:xfrm>
          <a:prstGeom prst="rect">
            <a:avLst/>
          </a:prstGeom>
          <a:solidFill>
            <a:srgbClr val="E8EC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ko-KR" dirty="0" sz="9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요건 불명확 → 범위 확장</a:t>
            </a:r>
          </a:p>
          <a:p>
            <a:pPr algn="ctr"/>
            <a:r>
              <a:rPr lang="ko-KR" dirty="0" sz="900" b="0">
                <a:latin typeface="Pretendard"/>
                <a:ea typeface="Pretendard"/>
                <a:cs typeface="Pretendard"/>
                <a:solidFill>
                  <a:srgbClr val="333333"/>
                </a:solidFill>
              </a:rPr>
              <a:t>규모: FDE 1~2주</a:t>
            </a:r>
          </a:p>
        </p:txBody>
      </p:sp>
      <p:sp>
        <p:nvSpPr>
          <p:cNvPr id="306" name="RD306"/>
          <p:cNvSpPr>
            <a:spLocks noGrp="1"/>
          </p:cNvSpPr>
          <p:nvPr/>
        </p:nvSpPr>
        <p:spPr>
          <a:xfrm>
            <a:off x="4957938" y="1499874"/>
            <a:ext cx="2375782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▷ PoC 설계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AWS AI 서비스 선정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검증 시나리오 정의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성공 기준(KPI) 수립</a:t>
            </a:r>
          </a:p>
        </p:txBody>
      </p:sp>
      <p:sp>
        <p:nvSpPr>
          <p:cNvPr id="307" name="RQ307"/>
          <p:cNvSpPr>
            <a:spLocks noGrp="1"/>
          </p:cNvSpPr>
          <p:nvPr/>
        </p:nvSpPr>
        <p:spPr>
          <a:xfrm>
            <a:off x="4957938" y="4547664"/>
            <a:ext cx="2375782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2D30B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PoC 완료율 100%</a:t>
            </a:r>
          </a:p>
        </p:txBody>
      </p:sp>
      <p:sp>
        <p:nvSpPr>
          <p:cNvPr id="308" name="RQ308"/>
          <p:cNvSpPr>
            <a:spLocks noGrp="1"/>
          </p:cNvSpPr>
          <p:nvPr/>
        </p:nvSpPr>
        <p:spPr>
          <a:xfrm>
            <a:off x="4957938" y="5187664"/>
            <a:ext cx="2255782" cy="380000"/>
          </a:xfrm>
          <a:prstGeom prst="rect">
            <a:avLst/>
          </a:prstGeom>
          <a:solidFill>
            <a:srgbClr val="D4DCFB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ko-KR" dirty="0" sz="9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기술 적합성 미검증</a:t>
            </a:r>
          </a:p>
          <a:p>
            <a:pPr algn="ctr"/>
            <a:r>
              <a:rPr lang="ko-KR" dirty="0" sz="900" b="0">
                <a:latin typeface="Pretendard"/>
                <a:ea typeface="Pretendard"/>
                <a:cs typeface="Pretendard"/>
                <a:solidFill>
                  <a:srgbClr val="333333"/>
                </a:solidFill>
              </a:rPr>
              <a:t>규모: FDE 2~4주</a:t>
            </a:r>
          </a:p>
        </p:txBody>
      </p:sp>
      <p:sp>
        <p:nvSpPr>
          <p:cNvPr id="310" name="RD310"/>
          <p:cNvSpPr>
            <a:spLocks noGrp="1"/>
          </p:cNvSpPr>
          <p:nvPr/>
        </p:nvSpPr>
        <p:spPr>
          <a:xfrm>
            <a:off x="7453720" y="1499874"/>
            <a:ext cx="2182497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▷ 아키텍처 제안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비용·성능·보안 최적화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레퍼런스 아키텍처 작성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Well-Architected Review</a:t>
            </a:r>
          </a:p>
        </p:txBody>
      </p:sp>
      <p:sp>
        <p:nvSpPr>
          <p:cNvPr id="311" name="RQ311"/>
          <p:cNvSpPr>
            <a:spLocks noGrp="1"/>
          </p:cNvSpPr>
          <p:nvPr/>
        </p:nvSpPr>
        <p:spPr>
          <a:xfrm>
            <a:off x="7453720" y="4547664"/>
            <a:ext cx="2182497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1E249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WAR 통과 / 제안서 승인</a:t>
            </a:r>
          </a:p>
        </p:txBody>
      </p:sp>
      <p:sp>
        <p:nvSpPr>
          <p:cNvPr id="312" name="RQ312"/>
          <p:cNvSpPr>
            <a:spLocks noGrp="1"/>
          </p:cNvSpPr>
          <p:nvPr/>
        </p:nvSpPr>
        <p:spPr>
          <a:xfrm>
            <a:off x="7453720" y="5187664"/>
            <a:ext cx="2062497" cy="380000"/>
          </a:xfrm>
          <a:prstGeom prst="rect">
            <a:avLst/>
          </a:prstGeom>
          <a:solidFill>
            <a:srgbClr val="C0CCF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ko-KR" dirty="0" sz="9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예산 불일치 → 재설계</a:t>
            </a:r>
          </a:p>
          <a:p>
            <a:pPr algn="ctr"/>
            <a:r>
              <a:rPr lang="ko-KR" dirty="0" sz="900" b="0">
                <a:latin typeface="Pretendard"/>
                <a:ea typeface="Pretendard"/>
                <a:cs typeface="Pretendard"/>
                <a:solidFill>
                  <a:srgbClr val="333333"/>
                </a:solidFill>
              </a:rPr>
              <a:t>규모: FDE 1~2주</a:t>
            </a:r>
          </a:p>
        </p:txBody>
      </p:sp>
      <p:sp>
        <p:nvSpPr>
          <p:cNvPr id="314" name="RD314"/>
          <p:cNvSpPr>
            <a:spLocks noGrp="1"/>
          </p:cNvSpPr>
          <p:nvPr/>
        </p:nvSpPr>
        <p:spPr>
          <a:xfrm>
            <a:off x="9756217" y="1499874"/>
            <a:ext cx="2375782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▷ 딜 클로징 지원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ROI 문서화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경영진 프레젠테이션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계약 기술 지원</a:t>
            </a:r>
          </a:p>
        </p:txBody>
      </p:sp>
      <p:sp>
        <p:nvSpPr>
          <p:cNvPr id="315" name="RQ315"/>
          <p:cNvSpPr>
            <a:spLocks noGrp="1"/>
          </p:cNvSpPr>
          <p:nvPr/>
        </p:nvSpPr>
        <p:spPr>
          <a:xfrm>
            <a:off x="9756217" y="4547664"/>
            <a:ext cx="2375782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1419AB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계약 전환율 향상</a:t>
            </a:r>
          </a:p>
        </p:txBody>
      </p:sp>
      <p:sp>
        <p:nvSpPr>
          <p:cNvPr id="316" name="RQ316"/>
          <p:cNvSpPr>
            <a:spLocks noGrp="1"/>
          </p:cNvSpPr>
          <p:nvPr/>
        </p:nvSpPr>
        <p:spPr>
          <a:xfrm>
            <a:off x="9756217" y="5187664"/>
            <a:ext cx="2255782" cy="380000"/>
          </a:xfrm>
          <a:prstGeom prst="rect">
            <a:avLst/>
          </a:prstGeom>
          <a:solidFill>
            <a:srgbClr val="AABBF9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ko-KR" dirty="0" sz="9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경영진 기술 이해 부족</a:t>
            </a:r>
          </a:p>
          <a:p>
            <a:pPr algn="ctr"/>
            <a:r>
              <a:rPr lang="ko-KR" dirty="0" sz="900" b="0">
                <a:latin typeface="Pretendard"/>
                <a:ea typeface="Pretendard"/>
                <a:cs typeface="Pretendard"/>
                <a:solidFill>
                  <a:srgbClr val="333333"/>
                </a:solidFill>
              </a:rPr>
              <a:t>규모: FDE 1주</a:t>
            </a:r>
          </a:p>
        </p:txBody>
      </p:sp>
    </p:spTree>
    <p:extLst>
      <p:ext uri="{BB962C8B-B14F-4D97-AF65-F5344CB8AC3E}">
        <p14:creationId val="3958239633"/>
      </p:ext>
    </p:extLst>
  </p:cSld>
  <p:clrMapOvr>
    <a:masterClrMapping/>
  </p:clrMapOvr>
</p:sld>
</file>

<file path=ppt/slides/slide38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ko-KR" altLang="ko-KR" dirty="0" smtClean="0"/>
              <ns1:t>파트너 기술 협업 및 공동 딜리버리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rPr lang="ko-KR" altLang="ko-KR" dirty="0" smtClean="0"/>
              <ns1:t>04 파트너 공동 딜리버리 모델</ns1:t>
            </ns1:r>
            <ns1:endParaRPr lang="ko-KR" altLang="en-US" dirty="0"/>
          </ns1:p>
        </ns0:txBody>
      </ns0:sp>
      <ns0:sp>
        <ns0:nvSpPr>
          <ns0:cNvPr id="22" name="Text 1"/>
          <ns0:cNvSpPr/>
          <ns0:nvPr/>
        </ns0:nvSpPr>
        <ns0:spPr>
          <ns1:xfrm>
            <ns1:off x="395032" y="780494"/>
            <ns1:ext cx="2200409" cy="94380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 FDE-파트너 공동 딜리버리 아키텍처</ns1:t>
            </ns1:r>
          </ns1:p>
          <ns1:p>
            <ns1:r>
              <ns1:rPr lang="ko-KR" altLang="en-US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r>
              <ns1:rPr lang="en-US" altLang="ko-KR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</ns0:txBody>
      </ns0:sp>
      <ns0:sp>
        <ns0:nvSpPr>
          <ns0:cNvPr id="12" name="Text 1"/>
          <ns0:cNvSpPr/>
          <ns0:nvPr/>
        </ns0:nvSpPr>
        <ns0:spPr>
          <ns1:xfrm>
            <ns1:off x="2676575" y="719331"/>
            <ns1:ext cx="8870845" cy="737936"/>
          </ns1:xfrm>
          <ns1:prstGeom prst="rect">
            <ns1:avLst/>
          </ns1:prstGeom>
          <ns1:noFill/>
          <ns1:ln/>
        </ns0:spPr>
        <ns0:txBody>
          <ns1:bodyPr wrap="square" lIns="0" tIns="0" rIns="0" bIns="0" numCol="1" rtlCol="0" anchor="ctr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AWS FDE와 파트너 기술팀이 역할을 분담하여 고객 프로젝트를 성공적으로 완수하는 협업 흐름입니다.</ns1:t>
            </ns1:r>
          </ns1:p>
        </ns0:txBody>
      </ns0:sp>
      <ns0:sp>
        <ns0:nvSpPr>
          <ns0:cNvPr id="7" name="직사각형 6"/>
          <ns0:cNvSpPr/>
          <ns0:nvPr/>
        </ns0:nvSpPr>
        <ns0:spPr>
          <ns1:xfrm>
            <ns1:off x="4238354" y="1895050"/>
            <ns1:ext cx="2750093" cy="1205749"/>
          </ns1:xfrm>
          <ns1:prstGeom prst="rect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FDE: 기술 검증 리드 / 파트너: 비즈니스 요건 수집 및 현업 인터페이스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0" name="직사각형 9"/>
          <ns0:cNvSpPr/>
          <ns0:nvPr/>
        </ns0:nvSpPr>
        <ns0:spPr>
          <ns1:xfrm>
            <ns1:off x="4238354" y="3371605"/>
            <ns1:ext cx="2750093" cy="1205749"/>
          </ns1:xfrm>
          <ns1:prstGeom prst="rect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FDE: AWS 레퍼런스 아키텍처 제공 / 파트너: 커스터마이징 및 통합 설계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1" name="직사각형 10"/>
          <ns0:cNvSpPr/>
          <ns0:nvPr/>
        </ns0:nvSpPr>
        <ns0:spPr>
          <ns1:xfrm>
            <ns1:off x="4238354" y="4848159"/>
            <ns1:ext cx="2750093" cy="1205749"/>
          </ns1:xfrm>
          <ns1:prstGeom prst="rect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FDE: 기술 품질 검토 및 Well-Architected Review / 파트너: 구현·테스트·운영</ns1:t>
            </ns1:r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3" name="직사각형 12"/>
          <ns0:cNvSpPr/>
          <ns0:nvPr/>
        </ns0:nvSpPr>
        <ns0:spPr>
          <ns1:xfrm>
            <ns1:off x="1402851" y="1895046"/>
            <ns1:ext cx="2547448" cy="1205749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solidFill>
                  <ns1:schemeClr val="tx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고객 요구사항 정의</ns1:t>
            </ns1:r>
            <ns1:endParaRPr lang="en-US" altLang="ko-KR" sz="1200" dirty="0">
              <ns1:solidFill>
                <ns1:schemeClr val="tx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4" name="직사각형 13"/>
          <ns0:cNvSpPr/>
          <ns0:nvPr/>
        </ns0:nvSpPr>
        <ns0:spPr>
          <ns1:xfrm>
            <ns1:off x="1402851" y="3371600"/>
            <ns1:ext cx="2547448" cy="1205749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solidFill>
                  <ns1:schemeClr val="tx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공동 솔루션 설계</ns1:t>
            </ns1:r>
            <ns1:endParaRPr lang="en-US" altLang="ko-KR" sz="1200" dirty="0">
              <ns1:solidFill>
                <ns1:schemeClr val="tx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5" name="직사각형 14"/>
          <ns0:cNvSpPr/>
          <ns0:nvPr/>
        </ns0:nvSpPr>
        <ns0:spPr>
          <ns1:xfrm>
            <ns1:off x="1402851" y="4848155"/>
            <ns1:ext cx="2547448" cy="1205749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smtClean="0">
                <ns1:solidFill>
                  <ns1:schemeClr val="tx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통합 딜리버리 실행</ns1:t>
            </ns1:r>
            <ns1:endParaRPr lang="en-US" altLang="ko-KR" sz="1200" dirty="0">
              <ns1:solidFill>
                <ns1:schemeClr val="tx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9" name="직사각형 18"/>
          <ns0:cNvSpPr/>
          <ns0:nvPr/>
        </ns0:nvSpPr>
        <ns0:spPr>
          <ns1:xfrm>
            <ns1:off x="7425917" y="1895046"/>
            <ns1:ext cx="3578851" cy="1205749"/>
          </ns1:xfrm>
          <ns1:prstGeom prst="rect">
            <ns1:avLst/>
          </ns1:prstGeom>
          <ns1:noFill/>
          <ns1:ln>
            <ns1:solidFill>
              <ns1:srgbClr val="393EBA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err="1" smtClean="0">
                <ns1:solidFill>
                  <ns1:srgbClr val="393EBA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고객 인터뷰·워크숍·현황 분석을 통한 AI 도입 요건 및 성공 지표 공동 확정</ns1:t>
            </ns1:r>
            <ns1:endParaRPr lang="en-US" altLang="ko-KR" sz="1200" dirty="0">
              <ns1:solidFill>
                <ns1:srgbClr val="393EBA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0" name="이등변 삼각형 19"/>
          <ns0:cNvSpPr/>
          <ns0:nvPr/>
        </ns0:nvSpPr>
        <ns0:spPr>
          <ns1:xfrm rot="5400000">
            <ns1:off x="6811360" y="2405135"/>
            <ns1:ext cx="539747" cy="185573"/>
          </ns1:xfrm>
          <ns1:prstGeom prst="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1" name="이등변 삼각형 20"/>
          <ns0:cNvSpPr/>
          <ns0:nvPr/>
        </ns0:nvSpPr>
        <ns0:spPr>
          <ns1:xfrm rot="5400000">
            <ns1:off x="6799293" y="3881690"/>
            <ns1:ext cx="539747" cy="185573"/>
          </ns1:xfrm>
          <ns1:prstGeom prst="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3" name="이등변 삼각형 22"/>
          <ns0:cNvSpPr/>
          <ns0:nvPr/>
        </ns0:nvSpPr>
        <ns0:spPr>
          <ns1:xfrm rot="5400000">
            <ns1:off x="6799292" y="5358245"/>
            <ns1:ext cx="539747" cy="185573"/>
          </ns1:xfrm>
          <ns1:prstGeom prst="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4" name="직사각형 23"/>
          <ns0:cNvSpPr/>
          <ns0:nvPr/>
        </ns0:nvSpPr>
        <ns0:spPr>
          <ns1:xfrm>
            <ns1:off x="7425916" y="3366734"/>
            <ns1:ext cx="3578851" cy="1205749"/>
          </ns1:xfrm>
          <ns1:prstGeom prst="rect">
            <ns1:avLst/>
          </ns1:prstGeom>
          <ns1:noFill/>
          <ns1:ln>
            <ns1:solidFill>
              <ns1:srgbClr val="393EBA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err="1" smtClean="0">
                <ns1:solidFill>
                  <ns1:srgbClr val="393EBA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Bedrock·SageMaker 기반 RA 설계 후 파트너 개발 환경에 맞춘 커스터마이징 적용</ns1:t>
            </ns1:r>
            <ns1:endParaRPr lang="en-US" altLang="ko-KR" sz="1200" dirty="0">
              <ns1:solidFill>
                <ns1:srgbClr val="393EBA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5" name="직사각형 24"/>
          <ns0:cNvSpPr/>
          <ns0:nvPr/>
        </ns0:nvSpPr>
        <ns0:spPr>
          <ns1:xfrm>
            <ns1:off x="7425916" y="4838422"/>
            <ns1:ext cx="3578851" cy="1205749"/>
          </ns1:xfrm>
          <ns1:prstGeom prst="rect">
            <ns1:avLst/>
          </ns1:prstGeom>
          <ns1:noFill/>
          <ns1:ln>
            <ns1:solidFill>
              <ns1:srgbClr val="393EBA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ko-KR" sz="1200" dirty="0" err="1" smtClean="0">
                <ns1:solidFill>
                  <ns1:srgbClr val="393EBA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WAR(Well-Architected Review) 수행·성능 벤치마크·Go-Live 체크리스트 공…</ns1:t>
            </ns1:r>
            <ns1:endParaRPr lang="en-US" altLang="ko-KR" sz="1200" dirty="0">
              <ns1:solidFill>
                <ns1:srgbClr val="393EBA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26" name="이등변 삼각형 25"/>
          <ns0:cNvSpPr/>
          <ns0:nvPr/>
        </ns0:nvSpPr>
        <ns0:spPr>
          <ns1:xfrm rot="5400000">
            <ns1:off x="3773211" y="2405133"/>
            <ns1:ext cx="539747" cy="185573"/>
          </ns1:xfrm>
          <ns1:prstGeom prst="triangle">
            <ns1:avLst/>
          </ns1:prstGeom>
          <ns1:solidFill>
            <ns1:srgbClr val="D9D9D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7" name="이등변 삼각형 26"/>
          <ns0:cNvSpPr/>
          <ns0:nvPr/>
        </ns0:nvSpPr>
        <ns0:spPr>
          <ns1:xfrm rot="5400000">
            <ns1:off x="3773211" y="3881690"/>
            <ns1:ext cx="539747" cy="185573"/>
          </ns1:xfrm>
          <ns1:prstGeom prst="triangle">
            <ns1:avLst/>
          </ns1:prstGeom>
          <ns1:solidFill>
            <ns1:srgbClr val="D9D9D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8" name="이등변 삼각형 27"/>
          <ns0:cNvSpPr/>
          <ns0:nvPr/>
        </ns0:nvSpPr>
        <ns0:spPr>
          <ns1:xfrm rot="5400000">
            <ns1:off x="3773211" y="5348509"/>
            <ns1:ext cx="539747" cy="185573"/>
          </ns1:xfrm>
          <ns1:prstGeom prst="triangle">
            <ns1:avLst/>
          </ns1:prstGeom>
          <ns1:solidFill>
            <ns1:srgbClr val="D9D9D9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9" name="직사각형 28"/>
          <ns0:cNvSpPr/>
          <ns0:nvPr/>
        </ns0:nvSpPr>
        <ns0:spPr>
          <ns1:xfrm>
            <ns1:off x="-23077" y="1619072"/>
            <ns1:ext cx="12215077" cy="57705"/>
          </ns1:xfrm>
          <ns1:prstGeom prst="rect">
            <ns1:avLst/>
          </ns1:prstGeom>
          <ns1:gradFill>
            <ns1:gsLst>
              <ns1:gs pos="0">
                <ns1:srgbClr val="7D80D5">
                  <ns1:alpha val="0"/>
                </ns1:srgbClr>
              </ns1:gs>
              <ns1:gs pos="100000">
                <ns1:srgbClr val="E6E7FF">
                  <ns1:alpha val="0"/>
                </ns1:srgbClr>
              </ns1:gs>
              <ns1:gs pos="47000">
                <ns1:srgbClr val="1419AB"/>
              </ns1:gs>
            </ns1:gsLst>
            <ns1:lin ang="2700000" scaled="0"/>
          </ns1:gra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 altLang="ko-KR" sz="1200" dirty="0"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2:creationId val="1084052846"/>
      </ns0:ext>
    </ns0:extLst>
  </ns0:cSld>
  <ns0:clrMapOvr>
    <ns1:masterClrMapping/>
  </ns0:clrMapOvr>
</ns0:sld>
</file>

<file path=ppt/slides/slide4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Image 1" descr="preencoded.png"/>
          <ns0:cNvPicPr>
            <ns1:picLocks noChangeAspect="1"/>
          </ns0:cNvPicPr>
          <ns0:nvPr/>
        </ns0:nvPicPr>
        <ns0:blipFill>
          <ns1:blip ns2:embed="rId2"/>
          <ns1:srcRect/>
          <ns1:stretch/>
        </ns0:blipFill>
        <ns0:spPr>
          <ns1:xfrm>
            <ns1:off x="603311" y="2311400"/>
            <ns1:ext cx="1598632" cy="267494"/>
          </ns1:xfrm>
          <ns1:prstGeom prst="rect">
            <ns1:avLst/>
          </ns1:prstGeom>
        </ns0:spPr>
      </ns0:pic>
      <ns0:sp>
        <ns0:nvSpPr>
          <ns0:cNvPr id="8" name="Text 3"/>
          <ns0:cNvSpPr/>
          <ns0:nvPr/>
        </ns0:nvSpPr>
        <ns0:spPr>
          <ns1:xfrm>
            <ns1:off x="8661461" y="3324430"/>
            <ns1:ext cx="2821971" cy="25708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lnSpc>
                <ns1:spcPts val="1020"/>
              </ns1:lnSpc>
              <ns1:buNone/>
            </ns1:pPr>
            <ns1:r>
              <ns1:rPr lang="en-US" dirty="0">
                <ns1:solidFill>
                  <ns1:schemeClr val="bg1"/>
                </ns1:solidFill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Drive Neo Technology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03311" y="2943548"/>
            <ns1:ext cx="7532191" cy="1018852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>
              <ns1:lnSpc>
                <ns1:spcPts val="4064"/>
              </ns1:lnSpc>
            </ns1:pPr>
            <ns1:r>
              <ns1:rPr lang="ko-KR" altLang="en-US" sz="66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감사합니다</ns1:t>
            </ns1:r>
            <ns1:r>
              <ns1:rPr lang="en-US" altLang="ko-KR" sz="66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.</ns1:t>
            </ns1:r>
            <ns1:endParaRPr lang="en-US" altLang="ko-KR" sz="6600" dirty="0">
              <ns1:solidFill>
                <ns1:schemeClr val="bg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3:creationId val="265780751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3905</Words>
  <Application>Microsoft Office PowerPoint</Application>
  <PresentationFormat>와이드스크린</PresentationFormat>
  <Paragraphs>667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60" baseType="lpstr"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맑은 고딕</vt:lpstr>
      <vt:lpstr>프리젠테이션 4 Regular</vt:lpstr>
      <vt:lpstr>프리젠테이션 5 Medium</vt:lpstr>
      <vt:lpstr>프리젠테이션 7 Bold</vt:lpstr>
      <vt:lpstr>Arial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발표 제목을 작성해주세요</vt:lpstr>
      <vt:lpstr>발표 제목을 작성해주세요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gsin</dc:creator>
  <cp:lastModifiedBy>gsin</cp:lastModifiedBy>
  <cp:revision>112</cp:revision>
  <dcterms:created xsi:type="dcterms:W3CDTF">2026-04-14T08:20:41Z</dcterms:created>
  <dcterms:modified xsi:type="dcterms:W3CDTF">2026-05-26T07:20:56Z</dcterms:modified>
</cp:coreProperties>
</file>