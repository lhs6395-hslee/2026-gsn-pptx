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slides/slide38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2_c2.xml" ContentType="application/vnd.openxmlformats-officedocument.presentationml.slide+xml"/>
  <Override PartName="/ppt/slides/slide32_c3.xml" ContentType="application/vnd.openxmlformats-officedocument.presentationml.slide+xml"/>
  <Override PartName="/ppt/slides/slide32_c4.xml" ContentType="application/vnd.openxmlformats-officedocument.presentationml.slide+xml"/>
  <Override PartName="/ppt/slides/slide32_c5.xml" ContentType="application/vnd.openxmlformats-officedocument.presentationml.slide+xml"/>
  <Override PartName="/ppt/slides/slide16_c2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sldIdLst>
    <p:sldId id="256" r:id="rId8"/>
    <p:sldId id="257" r:id="rId9"/>
    <p:sldId id="317" r:id="rId34"/>
    <p:sldId id="318" r:id="rId53"/>
    <p:sldId id="285" r:id="rId16"/>
    <p:sldId id="319" r:id="rId54"/>
    <p:sldId id="308" r:id="rId40"/>
    <p:sldId id="320" r:id="rId55"/>
    <p:sldId id="321" r:id="rId56"/>
    <p:sldId id="276" r:id="rId32"/>
    <p:sldId id="292" r:id="rId18"/>
    <p:sldId id="283" r:id="rId11"/>
    <p:sldId id="322" r:id="rId57"/>
    <p:sldId id="316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65D52F42-0661-4B41-B441-9185E535CF94}">
          <p14:sldIdLst>
            <p14:sldId id="256"/>
          </p14:sldIdLst>
        </p14:section>
        <p14:section name="목차/간지" id="{17576DB7-0DB2-4FD3-B50E-9DE209D1F52D}">
          <p14:sldIdLst>
            <p14:sldId id="257"/>
            <p14:sldId id="258"/>
          </p14:sldIdLst>
        </p14:section>
        <p14:section name="본문" id="{A213B285-4DD1-4C1D-A27B-633F1C9F1121}">
          <p14:sldIdLst>
            <p14:sldId id="283"/>
            <p14:sldId id="291"/>
            <p14:sldId id="282"/>
            <p14:sldId id="290"/>
            <p14:sldId id="281"/>
            <p14:sldId id="285"/>
            <p14:sldId id="293"/>
            <p14:sldId id="292"/>
            <p14:sldId id="289"/>
            <p14:sldId id="311"/>
            <p14:sldId id="310"/>
            <p14:sldId id="312"/>
            <p14:sldId id="267"/>
            <p14:sldId id="270"/>
            <p14:sldId id="284"/>
            <p14:sldId id="294"/>
            <p14:sldId id="261"/>
            <p14:sldId id="275"/>
            <p14:sldId id="299"/>
            <p14:sldId id="300"/>
            <p14:sldId id="260"/>
            <p14:sldId id="276"/>
            <p14:sldId id="302"/>
            <p14:sldId id="317"/>
            <p14:sldId id="309"/>
            <p14:sldId id="277"/>
            <p14:sldId id="269"/>
            <p14:sldId id="272"/>
            <p14:sldId id="286"/>
            <p14:sldId id="287"/>
            <p14:sldId id="301"/>
            <p14:sldId id="262"/>
            <p14:sldId id="263"/>
            <p14:sldId id="307"/>
            <p14:sldId id="305"/>
            <p14:sldId id="295"/>
            <p14:sldId id="298"/>
            <p14:sldId id="304"/>
            <p14:sldId id="308"/>
            <p14:sldId id="297"/>
          </p14:sldIdLst>
        </p14:section>
        <p14:section name="마무리" id="{62DC044E-9886-4F21-AC6A-E8799B9F72A4}">
          <p14:sldIdLst>
            <p14:sldId id="313"/>
            <p14:sldId id="315"/>
            <p14:sldId id="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8E8"/>
    <a:srgbClr val="1419AB"/>
    <a:srgbClr val="363AB9"/>
    <a:srgbClr val="D9D9D9"/>
    <a:srgbClr val="B0B2E9"/>
    <a:srgbClr val="7B7ED4"/>
    <a:srgbClr val="0C0E68"/>
    <a:srgbClr val="7377D1"/>
    <a:srgbClr val="3C41E6"/>
    <a:srgbClr val="393E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273" autoAdjust="0"/>
    <p:restoredTop sz="94660"/>
  </p:normalViewPr>
  <p:slideViewPr>
    <p:cSldViewPr snapToGrid="0">
      <p:cViewPr>
        <p:scale>
          <a:sx n="75" d="100"/>
          <a:sy n="75" d="100"/>
        </p:scale>
        <p:origin x="192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6.xml"/><Relationship Id="rId34" Type="http://schemas.openxmlformats.org/officeDocument/2006/relationships/slide" Target="slides/slide32.xml"/><Relationship Id="rId50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40" Type="http://schemas.openxmlformats.org/officeDocument/2006/relationships/slide" Target="slides/slide38.xml"/><Relationship Id="rId49" Type="http://schemas.openxmlformats.org/officeDocument/2006/relationships/presProps" Target="presProps.xml"/><Relationship Id="rId52" Type="http://schemas.openxmlformats.org/officeDocument/2006/relationships/tableStyles" Target="tableStyles.xml"/><Relationship Id="rId9" Type="http://schemas.openxmlformats.org/officeDocument/2006/relationships/slide" Target="slides/slide7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53" Type="http://schemas.openxmlformats.org/officeDocument/2006/relationships/slide" Target="slides/slide32_c2.xml"/><Relationship Id="rId54" Type="http://schemas.openxmlformats.org/officeDocument/2006/relationships/slide" Target="slides/slide32_c3.xml"/><Relationship Id="rId55" Type="http://schemas.openxmlformats.org/officeDocument/2006/relationships/slide" Target="slides/slide32_c4.xml"/><Relationship Id="rId56" Type="http://schemas.openxmlformats.org/officeDocument/2006/relationships/slide" Target="slides/slide32_c5.xml"/><Relationship Id="rId57" Type="http://schemas.openxmlformats.org/officeDocument/2006/relationships/slide" Target="slides/slide16_c2.xml"/></Relationship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68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7373257" y="0"/>
            <a:ext cx="4818743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9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8024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5514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514412" y="570139"/>
            <a:ext cx="10515600" cy="356961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 smtClean="0"/>
              <a:t>제안서 제목을 작성해주세요</a:t>
            </a:r>
            <a:endParaRPr lang="ko-KR" alt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603312" y="1286198"/>
            <a:ext cx="3248226" cy="71004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ts val="4064"/>
              </a:lnSpc>
            </a:pPr>
            <a:r>
              <a:rPr lang="en-US" altLang="ko-KR" sz="4800" dirty="0" smtClean="0">
                <a:solidFill>
                  <a:srgbClr val="171CAC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Index.</a:t>
            </a:r>
            <a:endParaRPr lang="en-US" altLang="ko-KR" sz="4800" dirty="0">
              <a:solidFill>
                <a:srgbClr val="171CAC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99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443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2654300" y="776865"/>
            <a:ext cx="9537700" cy="6081135"/>
          </a:xfrm>
          <a:prstGeom prst="rect">
            <a:avLst/>
          </a:prstGeom>
          <a:solidFill>
            <a:srgbClr val="0C0E68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45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1625600"/>
            <a:ext cx="12192000" cy="523239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93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2076450"/>
            <a:ext cx="12192000" cy="4781549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3" y="6386286"/>
            <a:ext cx="856325" cy="212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564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2"/>
          <p:cNvSpPr/>
          <p:nvPr userDrawn="1"/>
        </p:nvSpPr>
        <p:spPr>
          <a:xfrm>
            <a:off x="0" y="0"/>
            <a:ext cx="12192000" cy="5372100"/>
          </a:xfrm>
          <a:prstGeom prst="rect">
            <a:avLst/>
          </a:prstGeom>
          <a:solidFill>
            <a:srgbClr val="171CAC"/>
          </a:solidFill>
          <a:ln/>
        </p:spPr>
      </p:sp>
      <p:sp>
        <p:nvSpPr>
          <p:cNvPr id="10" name="TextBox 9"/>
          <p:cNvSpPr txBox="1"/>
          <p:nvPr userDrawn="1"/>
        </p:nvSpPr>
        <p:spPr>
          <a:xfrm>
            <a:off x="10208332" y="225458"/>
            <a:ext cx="162099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fld id="{D4D3CB94-2040-454F-8FC0-96221EAF3B89}" type="slidenum">
              <a:rPr lang="en-US" altLang="ko-KR" sz="105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 algn="r">
                <a:defRPr/>
              </a:p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제목 1"/>
          <p:cNvSpPr>
            <a:spLocks noGrp="1"/>
          </p:cNvSpPr>
          <p:nvPr>
            <p:ph type="title" hasCustomPrompt="1"/>
          </p:nvPr>
        </p:nvSpPr>
        <p:spPr>
          <a:xfrm>
            <a:off x="344232" y="225866"/>
            <a:ext cx="1557593" cy="228225"/>
          </a:xfrm>
          <a:prstGeom prst="rect">
            <a:avLst/>
          </a:prstGeom>
        </p:spPr>
        <p:txBody>
          <a:bodyPr/>
          <a:lstStyle>
            <a:lvl1pPr>
              <a:defRPr sz="1050" baseline="0">
                <a:solidFill>
                  <a:schemeClr val="bg1">
                    <a:lumMod val="95000"/>
                  </a:schemeClr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 smtClean="0"/>
              <a:t>PPT </a:t>
            </a:r>
            <a:r>
              <a:rPr lang="ko-KR" altLang="en-US" dirty="0" err="1" smtClean="0"/>
              <a:t>대제목</a:t>
            </a:r>
            <a:endParaRPr lang="ko-KR" altLang="en-US" dirty="0"/>
          </a:p>
        </p:txBody>
      </p:sp>
      <p:sp>
        <p:nvSpPr>
          <p:cNvPr id="16" name="내용 개체 틀 15"/>
          <p:cNvSpPr>
            <a:spLocks noGrp="1"/>
          </p:cNvSpPr>
          <p:nvPr>
            <p:ph sz="quarter" idx="10" hasCustomPrompt="1"/>
          </p:nvPr>
        </p:nvSpPr>
        <p:spPr>
          <a:xfrm>
            <a:off x="2595441" y="225458"/>
            <a:ext cx="3017960" cy="254000"/>
          </a:xfrm>
          <a:prstGeom prst="rect">
            <a:avLst/>
          </a:prstGeom>
        </p:spPr>
        <p:txBody>
          <a:bodyPr/>
          <a:lstStyle>
            <a:lvl1pPr>
              <a:defRPr sz="1050">
                <a:solidFill>
                  <a:schemeClr val="bg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</a:lstStyle>
          <a:p>
            <a:pPr lvl="0"/>
            <a:r>
              <a:rPr lang="en-US" altLang="ko-KR" dirty="0" smtClean="0"/>
              <a:t>01 Contents 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3274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231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83812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07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1842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7" r:id="rId2"/>
    <p:sldLayoutId id="2147483653" r:id="rId3"/>
    <p:sldLayoutId id="2147483659" r:id="rId4"/>
    <p:sldLayoutId id="2147483655" r:id="rId5"/>
    <p:sldLayoutId id="2147483660" r:id="rId6"/>
    <p:sldLayoutId id="2147483656" r:id="rId7"/>
    <p:sldLayoutId id="2147483658" r:id="rId8"/>
    <p:sldLayoutId id="2147483661" r:id="rId9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_c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_c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_c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_c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_c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7601247" y="4975384"/>
            <ns1:ext cx="1542754" cy="258144"/>
          </ns1:xfrm>
          <ns1:prstGeom prst="rect">
            <ns1:avLst/>
          </ns1:prstGeom>
        </ns0:spPr>
      </ns0:pic>
      <ns0:sp>
        <ns0:nvSpPr>
          <ns0:cNvPr id="6" name="Text 1"/>
          <ns0:cNvSpPr/>
          <ns0:nvPr/>
        </ns0:nvSpPr>
        <ns0:spPr>
          <ns1:xfrm>
            <ns1:off x="603311" y="2774017"/>
            <ns1:ext cx="10274239" cy="406400"/>
          </ns1:xfrm>
          <ns1:prstGeom prst="rect">
            <ns1:avLst/>
          </ns1:prstGeom>
          <ns1:noFill/>
          <ns1:ln/>
        </ns0:spPr>
        <ns0:txBody>
          <ns1:bodyPr wrap="none" lIns="0" tIns="0" rIns="0" bIns="0" rtlCol="0" anchor="ctr">
            <ns1:noAutofit/>
          </ns1:bodyPr>
          <ns1:lstStyle/>
          <ns1:p>
            <ns1:pPr>
              <ns1:lnSpc>
                <ns1:spcPct val="100000"/>
              </ns1:lnSpc>
            </ns1:pPr>
            <ns1:r>
              <ns1:rPr lang="ko-KR" sz="3200" dirty="0" altLang="en-US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AWS 파트너 기술 세일즈 및 FDE 전문가를 위한 실행 가이드</ns1:t>
            </ns1:r>
          </ns1:p>
        </ns0:txBody>
      </ns0:sp>
      <ns0:sp>
        <ns0:nvSpPr>
          <ns0:cNvPr id="7" name="Text 2"/>
          <ns0:cNvSpPr/>
          <ns0:nvPr/>
        </ns0:nvSpPr>
        <ns0:spPr>
          <ns1:xfrm>
            <ns1:off x="7601245" y="5688832"/>
            <ns1:ext cx="3833891" cy="7446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buNone/>
            </ns1:pPr>
            <ns1:r>
              <ns1:rPr lang="ko-KR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AI, Cloud, BigData, CDN, Contact Center, 스마트 </ns1:t>
            </ns1:r>
            <ns1:r>
              <ns1:rPr lang="ko-KR" sz="1200" dirty="0" err="1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물류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,</ns1:t>
            </ns1:r>
          </ns1:p>
          <ns1:p>
            <ns1:pPr marL="0" indent="0" algn="l">
              <ns1:buNone/>
            </ns1:pPr>
            <ns1:r>
              <ns1:rPr lang="ko-KR" sz="1200" dirty="0" err="1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스마트</ns1:t>
            </ns1:r>
            <ns1:r>
              <ns1:rPr lang="en-US" sz="1200" dirty="0" smtClean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 </ns1:t>
            </ns1:r>
            <ns1:r>
              <ns1:rPr lang="ko-KR" sz="1200" dirty="0">
                <ns1:solidFill>
                  <ns1:schemeClr val="bg1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인프라 등 다양한 영역에서 고객의 Business를 선도하는 Digital Innovator입니다.</ns1:t>
            </ns1:r>
            <ns1:endParaRPr lang="en-US" sz="1200" dirty="0">
              <ns1:solidFill>
                <ns1:schemeClr val="bg1"/>
              </ns1:solidFill>
            </ns1:endParaRPr>
          </ns1:p>
        </ns0:txBody>
      </ns0:sp>
      <ns0:sp>
        <ns0:nvSpPr>
          <ns0:cNvPr id="8" name="Text 3"/>
          <ns0:cNvSpPr/>
          <ns0:nvPr/>
        </ns0:nvSpPr>
        <ns0:spPr>
          <ns1:xfrm>
            <ns1:off x="7601247" y="541866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sz="1400" b="1" dirty="0">
                <ns1:solidFill>
                  <ns1:schemeClr val="bg1"/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Drive Neo Technology</ns1:t>
            </ns1:r>
            <ns1:endParaRPr lang="en-US" sz="1400" dirty="0">
              <ns1:solidFill>
                <ns1:schemeClr val="bg1"/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10" name="직선 연결선 9"/>
          <ns0:cNvCxnSpPr/>
          <ns0:nvPr/>
        </ns0:nvCxnSpPr>
        <ns0:spPr>
          <ns1:xfrm>
            <ns1:off x="7275314" y="4944583"/>
            <ns1:ext cx="0" cy="1488913"/>
          </ns1:xfrm>
          <ns1:prstGeom prst="line">
            <ns1:avLst/>
          </ns1:prstGeom>
          <ns1:ln>
            <ns1:solidFill>
              <ns1:schemeClr val="bg1">
                <ns1:alpha val="5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2" name="TextBox 11"/>
          <ns0:cNvSpPr txBox="1"/>
          <ns0:nvPr/>
        </ns0:nvSpPr>
        <ns0:spPr>
          <ns1:xfrm>
            <ns1:off x="603311" y="1310977"/>
            <ns1:ext cx="10274239" cy="1219200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rmAutofit/>
          </ns1:bodyPr>
          <ns1:lstStyle/>
          <ns1:p>
            <ns1:pPr>
              <ns1:lnSpc>
                <ns1:spcPct val="100000"/>
              </ns1:lnSpc>
            </ns1:pPr>
            <ns1:r>
              <ns1:rPr lang="ko-KR" altLang="en-US" sz="4800" b="1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AWS AI FDE (Field Delivery Engineering)</ns1:t>
            </ns1:r>
          </ns1:p>
        </ns0:txBody>
      </ns0:sp>
      <ns0:sp>
        <ns0:nvSpPr>
          <ns0:cNvPr id="15" name="Text 1"/>
          <ns0:cNvSpPr/>
          <ns0:nvPr/>
        </ns0:nvSpPr>
        <ns0:spPr>
          <ns1:xfrm>
            <ns1:off x="603311" y="664962"/>
            <ns1:ext cx="3689289" cy="34121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/>
            <ns1:r>
              <ns1:rPr lang="ko-KR" dirty="0" smtClean="0" altLang="en-US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2026.06.06</ns1:t>
            </ns1:r>
          </ns1:p>
        </ns0:txBody>
      </ns0:sp>
    </ns0:spTree>
    <ns0:extLst>
      <ns0:ext uri="{BB962C8B-B14F-4D97-AF65-F5344CB8AC3E}">
        <ns3:creationId val="2009827017"/>
      </ns0:ext>
    </ns0:extLst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" name="Text 3"/>
          <ns0:cNvSpPr/>
          <ns0:nvPr/>
        </ns0:nvSpPr>
        <ns0:spPr>
          <ns1:xfrm>
            <ns1:off x="4541178" y="1574452"/>
            <ns1:ext cx="6790297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err="1" smtClean="0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AWS AI FDE 역할 및 가치 정의</ns1:t>
            </ns1:r>
            <ns1:endParaRPr lang="en-US" sz="3000" dirty="0" smtClean="0">
              <ns1:solidFill>
                <ns1:schemeClr val="tx1">
                  <ns1:lumMod val="95000"/>
                  <ns1:lumOff val="5000"/>
                  <ns1:alpha val="99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AWS AI/ML 핵심 서비스 포트폴리오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고객 엔게이지먼트 및 기술 세일즈 전략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AI 솔루션 아키텍처 설계 원칙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FDE 딜리버리 프로세스 및 실행 방법론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파트너 에코시스템 활성화 전략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err="1">
                <ns1:solidFill>
                  <ns1:schemeClr val="tx1">
                    <ns1:lumMod val="95000"/>
                    <ns1:lumOff val="5000"/>
                    <ns1:alpha val="99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1" name="Text 3"/>
          <ns0:cNvSpPr/>
          <ns0:nvPr/>
        </ns0:nvSpPr>
        <ns0:spPr>
          <ns1:xfrm>
            <ns1:off x="3851538" y="1574452"/>
            <ns1:ext cx="536801" cy="448323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150000"/>
              </ns1:lnSpc>
              <ns1:buNone/>
            </ns1:pPr>
            <ns1:r>
              <ns1:rPr 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</ns1:t>
            </ns1: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5.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6.</ns1:t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pPr>
              <ns1:lnSpc>
                <ns1:spcPct val="150000"/>
              </ns1:lnSpc>
            </ns1:pPr>
            <ns1:r>
              <ns1:rPr lang="ko-KR" altLang="ko-KR" sz="3000" dirty="0" smtClean="0">
                <ns1:solidFill>
                  <ns1:schemeClr val="bg2">
                    <ns1:lumMod val="7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3000" dirty="0">
              <ns1:solidFill>
                <ns1:schemeClr val="bg2">
                  <ns1:lumMod val="7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cxnSp>
        <ns0:nvCxnSpPr>
          <ns0:cNvPr id="12" name="직선 연결선 11"/>
          <ns0:cNvCxnSpPr/>
          <ns0:nvPr/>
        </ns0:nvCxnSpPr>
        <ns0:spPr>
          <ns1:xfrm>
            <ns1:off x="11180078" y="2005776"/>
            <ns1:ext cx="10119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3" name="직선 연결선 12"/>
          <ns0:cNvCxnSpPr/>
          <ns0:nvPr/>
        </ns0:nvCxnSpPr>
        <ns0:spPr>
          <ns1:xfrm>
            <ns1:off x="11180078" y="2680450"/>
            <ns1:ext cx="10119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7" name="직선 연결선 36"/>
          <ns0:cNvCxnSpPr/>
          <ns0:nvPr/>
        </ns0:nvCxnSpPr>
        <ns0:spPr>
          <ns1:xfrm>
            <ns1:off x="11180078" y="3355124"/>
            <ns1:ext cx="10119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8" name="직선 연결선 37"/>
          <ns0:cNvCxnSpPr/>
          <ns0:nvPr/>
        </ns0:nvCxnSpPr>
        <ns0:spPr>
          <ns1:xfrm>
            <ns1:off x="11180078" y="4029798"/>
            <ns1:ext cx="10119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9" name="직선 연결선 38"/>
          <ns0:cNvCxnSpPr/>
          <ns0:nvPr/>
        </ns0:nvCxnSpPr>
        <ns0:spPr>
          <ns1:xfrm>
            <ns1:off x="11180078" y="4704472"/>
            <ns1:ext cx="10119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0" name="직선 연결선 39"/>
          <ns0:cNvCxnSpPr/>
          <ns0:nvPr/>
        </ns0:nvCxnSpPr>
        <ns0:spPr>
          <ns1:xfrm>
            <ns1:off x="11180078" y="5379146"/>
            <ns1:ext cx="10119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100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41" name="직선 연결선 40"/>
          <ns0:cNvCxnSpPr/>
          <ns0:nvPr/>
        </ns0:nvCxnSpPr>
        <ns0:spPr>
          <ns1:xfrm>
            <ns1:off x="11180078" y="6053819"/>
            <ns1:ext cx="1011922" cy="0"/>
          </ns1:xfrm>
          <ns1:prstGeom prst="line">
            <ns1:avLst/>
          </ns1:prstGeom>
          <ns1:ln>
            <ns1:solidFill>
              <ns1:schemeClr val="bg2">
                <ns1:lumMod val="90000"/>
                <ns1:alpha val="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2" name="제목 41"/>
          <ns0:cNvSpPr>
            <ns1:spLocks noGrp="1"/>
          </ns0:cNvSpPr>
          <ns0:nvPr>
            <ns0:ph type="title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r>
              <ns1:rPr lang="ko-KR" altLang="ko-KR" dirty="0"/>
              <ns1:t>목차</ns1:t>
            </ns1:r>
            <ns1:endParaRPr lang="ko-KR" altLang="en-US" dirty="0"/>
          </ns1:p>
        </ns0:txBody>
      </ns0:sp>
      <ns0:sp>
        <ns0:nvSpPr>
          <ns0:cNvPr id="14" name="Text 3"/>
          <ns0:cNvSpPr/>
          <ns0:nvPr/>
        </ns0:nvSpPr>
        <ns0:spPr>
          <ns1:xfrm>
            <ns1:off x="11431475" y="974723"/>
            <ns1:ext cx="760525" cy="541156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>
              <ns1:lnSpc>
                <ns1:spcPct val="310000"/>
              </ns1:lnSpc>
              <ns1:buNone/>
            </ns1:pPr>
            <ns1:r>
              <ns1:rPr 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03</ns1:t>
            </ns1: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04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06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08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10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12</ns1:t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>
              <ns1:lnSpc>
                <ns1:spcPct val="310000"/>
              </ns1:lnSpc>
            </ns1:pPr>
            <ns1:r>
              <ns1:rPr lang="ko-KR" altLang="ko-KR" sz="1400" dirty="0" smtClean="0">
                <ns1:solidFill>
                  <ns1:schemeClr val="bg2">
                    <ns1:lumMod val="7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400" dirty="0">
              <ns1:solidFill>
                <ns1:schemeClr val="bg2">
                  <ns1:lumMod val="7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</ns0:spTree>
    <ns0:extLst>
      <ns0:ext uri="{BB962C8B-B14F-4D97-AF65-F5344CB8AC3E}">
        <ns2:creationId val="2918603763"/>
      </ns0:ext>
    </ns0:extLst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GS Neotek ML 서비스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smtClean="0"/>
              <ns1:t/>
            </ns1:r>
            <ns1:r>
              <ns1:rPr lang="ko-KR" altLang="en-US" dirty="0" err="1"/>
              <ns1:t/>
            </ns1:r>
            <ns1:r>
              <ns1:rPr lang="ko-KR" altLang="en-US" dirty="0"/>
              <ns1:t/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82161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 AI 솔루션 아키텍처 설계 원칙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FDE가 현장에서 적용하는 AWS AI 솔루션 아키텍처 설계의 핵심 원칙과 패턴을 학습합니다.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grpSp>
        <ns0:nvGrpSpPr>
          <ns0:cNvPr id="2" name="그룹 1"/>
          <ns0:cNvGrpSpPr/>
          <ns0:nvPr/>
        </ns0:nvGrpSpPr>
        <ns0:grpSpPr>
          <ns1:xfrm>
            <ns1:off x="2753532" y="5217946"/>
            <ns1:ext cx="3029540" cy="1345038"/>
            <ns1:chOff x="2844950" y="5202168"/>
            <ns1:chExt cx="2844657" cy="1345038"/>
          </ns1:xfrm>
        </ns0:grpSpPr>
        <ns0:sp>
          <ns0:nvSpPr>
            <ns0:cNvPr id="27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33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/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1" name="그룹 40"/>
          <ns0:cNvGrpSpPr/>
          <ns0:nvPr/>
        </ns0:nvGrpSpPr>
        <ns0:grpSpPr>
          <ns1:xfrm>
            <ns1:off x="5912288" y="5217946"/>
            <ns1:ext cx="3029540" cy="1345038"/>
            <ns1:chOff x="2844950" y="5202168"/>
            <ns1:chExt cx="2844657" cy="1345038"/>
          </ns1:xfrm>
        </ns0:grpSpPr>
        <ns0:sp>
          <ns0:nvSpPr>
            <ns0:cNvPr id="42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4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/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grpSp>
        <ns0:nvGrpSpPr>
          <ns0:cNvPr id="45" name="그룹 44"/>
          <ns0:cNvGrpSpPr/>
          <ns0:nvPr/>
        </ns0:nvGrpSpPr>
        <ns0:grpSpPr>
          <ns1:xfrm>
            <ns1:off x="9087724" y="5217946"/>
            <ns1:ext cx="3029540" cy="1345038"/>
            <ns1:chOff x="2844950" y="5202168"/>
            <ns1:chExt cx="2844657" cy="1345038"/>
          </ns1:xfrm>
        </ns0:grpSpPr>
        <ns0:sp>
          <ns0:nvSpPr>
            <ns0:cNvPr id="46" name="Text 1"/>
            <ns0:cNvSpPr/>
            <ns0:nvPr/>
          </ns0:nvSpPr>
          <ns0:spPr>
            <ns1:xfrm>
              <ns1:off x="2844950" y="5677890"/>
              <ns1:ext cx="2844657" cy="869316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t"/>
            <ns1:lstStyle/>
            <ns1:p>
              <ns1:pPr algn="ctr"/>
              <ns1:r>
                <ns1:rPr lang="ko-KR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</ns1:p>
            <ns1:p>
              <ns1:pPr algn="ctr"/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  <ns1:p>
              <ns1:pPr algn="ctr"/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r>
                <ns1:rPr lang="en-US" altLang="ko-KR" sz="1200" dirty="0" err="1" smtClean="0">
                  <ns1:solidFill>
                    <ns1:schemeClr val="tx1">
                      <ns1:lumMod val="75000"/>
                      <ns1:lumOff val="25000"/>
                    </ns1:schemeClr>
                  </ns1:solidFill>
                  <ns1:latin typeface="Pretendard" panose="02000503000000020004" pitchFamily="2" charset="-127"/>
                  <ns1:ea typeface="Pretendard" panose="02000503000000020004" pitchFamily="2" charset="-127"/>
                  <ns1:cs typeface="Pretendard" panose="02000503000000020004" pitchFamily="2" charset="-127"/>
                </ns1:rPr>
                <ns1:t/>
              </ns1:r>
              <ns1:endParaRPr lang="en-US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endParaRPr>
            </ns1:p>
          </ns0:txBody>
        </ns0:sp>
        <ns0:sp>
          <ns0:nvSpPr>
            <ns0:cNvPr id="47" name="Text 1"/>
            <ns0:cNvSpPr/>
            <ns0:nvPr/>
          </ns0:nvSpPr>
          <ns0:spPr>
            <ns1:xfrm>
              <ns1:off x="2844950" y="5202168"/>
              <ns1:ext cx="2844657" cy="385491"/>
            </ns1:xfrm>
            <ns1:prstGeom prst="rect">
              <ns1:avLst/>
            </ns1:prstGeom>
            <ns1:noFill/>
            <ns1:ln/>
          </ns0:spPr>
          <ns0:txBody>
            <ns1:bodyPr wrap="square" lIns="0" tIns="0" rIns="0" bIns="0" rtlCol="0" anchor="ctr"/>
            <ns1:lstStyle/>
            <ns1:p>
              <ns1:pPr algn="ctr">
                <ns1:lnSpc>
                  <ns1:spcPts val="2153"/>
                </ns1:lnSpc>
              </ns1:pPr>
              <ns1:r>
                <ns1:rPr lang="ko-KR" altLang="ko-KR" sz="1400" dirty="0" smtClean="0">
                  <ns1:solidFill>
                    <ns1:srgbClr val="3C41E6"/>
                  </ns1:solidFill>
                  <ns1:latin typeface="Pretendard SemiBold" panose="02000703000000020004" pitchFamily="2" charset="-127"/>
                  <ns1:ea typeface="Pretendard SemiBold" panose="02000703000000020004" pitchFamily="2" charset="-127"/>
                  <ns1:cs typeface="Pretendard SemiBold" panose="02000703000000020004" pitchFamily="2" charset="-127"/>
                </ns1:rPr>
                <ns1:t/>
              </ns1:r>
              <ns1:endParaRPr lang="en-US" sz="1400" dirty="0">
                <ns1:solidFill>
                  <ns1:srgbClr val="3C41E6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endParaRPr>
            </ns1:p>
          </ns0:txBody>
        </ns0:sp>
      </ns0:grpSp>
      <ns0:cxnSp>
        <ns0:nvCxnSpPr>
          <ns0:cNvPr id="4" name="직선 연결선 3"/>
          <ns0:cNvCxnSpPr/>
          <ns0:nvPr/>
        </ns0:nvCxnSpPr>
        <ns0:spPr>
          <ns1:xfrm>
            <ns1:off x="5808610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54" name="직선 연결선 53"/>
          <ns0:cNvCxnSpPr/>
          <ns0:nvPr/>
        </ns0:nvCxnSpPr>
        <ns0:spPr>
          <ns1:xfrm>
            <ns1:off x="9021779" y="6045200"/>
            <ns1:ext cx="0" cy="812800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4" name="직사각형 23"/>
          <ns0:cNvSpPr/>
          <ns0:nvPr/>
        </ns0:nvSpPr>
        <ns0:spPr>
          <ns1:xfrm>
            <ns1:off x="2662116" y="780495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chemeClr val="bg1">
                    <ns1:lumMod val="50000"/>
                  </ns1:schemeClr>
                </ns1:solidFill>
              </ns1:rPr>
              <ns1:t/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9071043" y="780482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chemeClr val="bg1">
                    <ns1:lumMod val="50000"/>
                  </ns1:schemeClr>
                </ns1:solidFill>
              </ns1:rPr>
              <ns1:t/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5866579" y="788113"/>
            <ns1:ext cx="3120956" cy="4007418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 w="6350">
            <ns1:noFill/>
            <ns1:prstDash val="sysDot"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chemeClr val="bg1">
                    <ns1:lumMod val="50000"/>
                  </ns1:schemeClr>
                </ns1:solidFill>
              </ns1:rPr>
              <ns1:t/>
            </ns1:r>
            <ns1:endParaRPr lang="ko-KR" altLang="en-US" sz="1200" dirty="0">
              <ns1:solidFill>
                <ns1:schemeClr val="bg1">
                  <ns1:lumMod val="50000"/>
                </ns1:schemeClr>
              </ns1:solidFill>
            </ns1:endParaRPr>
          </ns1:p>
        </ns0:txBody>
      </ns0:sp>
      <ns0:sp>
        <ns0:nvSpPr>
          <ns0:cNvPr id="32" name="직각 삼각형 31"/>
          <ns0:cNvSpPr/>
          <ns0:nvPr/>
        </ns0:nvSpPr>
        <ns0:spPr>
          <ns1:xfrm rot="5400000">
            <ns1:off x="2658489" y="78015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4" name="직각 삼각형 33"/>
          <ns0:cNvSpPr/>
          <ns0:nvPr/>
        </ns0:nvSpPr>
        <ns0:spPr>
          <ns1:xfrm rot="5400000">
            <ns1:off x="5850083" y="787779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35" name="직각 삼각형 34"/>
          <ns0:cNvSpPr/>
          <ns0:nvPr/>
        </ns0:nvSpPr>
        <ns0:spPr>
          <ns1:xfrm rot="5400000">
            <ns1:off x="9071378" y="787780"/>
            <ns1:ext cx="293926" cy="294595"/>
          </ns1:xfrm>
          <ns1:prstGeom prst="rt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270618248"/>
      </ns0:ext>
    </ns0:extLst>
  </ns0:cSld>
  <ns0:clrMapOvr>
    <ns1:masterClrMapping/>
  </ns0:clrMapOvr>
</ns0:sld>
</file>

<file path=ppt/slides/slide14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0" name="직사각형 19"/>
          <ns0:cNvSpPr/>
          <ns0:nvPr/>
        </ns0:nvSpPr>
        <ns0:spPr>
          <ns1:xfrm>
            <ns1:off x="2662116" y="780495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1" name="직사각형 20"/>
          <ns0:cNvSpPr/>
          <ns0:nvPr/>
        </ns0:nvSpPr>
        <ns0:spPr>
          <ns1:xfrm>
            <ns1:off x="5077194" y="780495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7488382" y="780494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895681" y="780494"/>
            <ns1:ext cx="2296320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03 FDE 가치 창출 모델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AWS AI FDE는 고객 성공, 파트너 성장, AWS 매출 확대, 기술 생태계 강화의 4대 가치를 동시에 실현합니다.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4" name="직선 연결선 3"/>
          <ns0:cNvCxnSpPr/>
          <ns0:nvPr/>
        </ns0:nvCxnSpPr>
        <ns0:spPr>
          <ns1:xfrm>
            <ns1:off x="5061373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58" name="모서리가 둥근 직사각형 57"/>
          <ns0:cNvSpPr/>
          <ns0:nvPr/>
        </ns0:nvSpPr>
        <ns0:spPr>
          <ns1:xfrm>
            <ns1:off x="2658995" y="780495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고객 성공 가속화</ns1:t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755068" y="4255054"/>
            <ns1:ext cx="2052705" cy="130391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AWS 파트너와 공동 딜리버리를 통해 FDE 1명이 다수 고객에게 동시 임팩트를 창출하는 레버리지 모델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2" name="모서리가 둥근 직사각형 21"/>
          <ns0:cNvSpPr/>
          <ns0:nvPr/>
        </ns0:nvSpPr>
        <ns0:spPr>
          <ns1:xfrm>
            <ns1:off x="5074073" y="780495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파트너 역량 레버리지</ns1:t>
            </ns1:r>
          </ns1:p>
        </ns0:txBody>
      </ns0:sp>
      <ns0:sp>
        <ns0:nvSpPr>
          <ns0:cNvPr id="26" name="모서리가 둥근 직사각형 25"/>
          <ns0:cNvSpPr/>
          <ns0:nvPr/>
        </ns0:nvSpPr>
        <ns0:spPr>
          <ns1:xfrm>
            <ns1:off x="7485261" y="780495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반복 가능 솔루션 패턴</ns1:t>
            </ns1:r>
          </ns1:p>
        </ns0:txBody>
      </ns0:sp>
      <ns0:sp>
        <ns0:nvSpPr>
          <ns0:cNvPr id="28" name="모서리가 둥근 직사각형 27"/>
          <ns0:cNvSpPr/>
          <ns0:nvPr/>
        </ns0:nvSpPr>
        <ns0:spPr>
          <ns1:xfrm>
            <ns1:off x="9892559" y="780495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AWS 매출 파이프라인</ns1:t>
            </ns1:r>
          </ns1:p>
        </ns0:txBody>
      </ns0:sp>
      <ns0:sp>
        <ns0:nvSpPr>
          <ns0:cNvPr id="25" name="Text 1"/>
          <ns0:cNvSpPr/>
          <ns0:nvPr/>
        </ns0:nvSpPr>
        <ns0:spPr>
          <ns1:xfrm>
            <ns1:off x="5170146" y="4255054"/>
            <ns1:ext cx="2052705" cy="130391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업종별·유스케이스별 검증된 아키텍처 패턴을 자산화하여 딜리버리 속도와 품질을 동시에 향상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7585224" y="4252196"/>
            <ns1:ext cx="2052705" cy="130391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기술 검증 → PoC → Pilot → 프로덕션 전환 파이프라인을 관리하여 AWS 서비스 소비 확대에 직접 기여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988632" y="4196996"/>
            <ns1:ext cx="2052705" cy="130391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고객 AI 도입 TTV(Time-to-Value)를 단축하고 실질적 ROI를 조기에 증명하여 장기 계약을 유도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1" name="직선 연결선 30"/>
          <ns0:cNvCxnSpPr/>
          <ns0:nvPr/>
        </ns0:nvCxnSpPr>
        <ns0:spPr>
          <ns1:xfrm>
            <ns1:off x="7466634" y="6012542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2" name="직선 연결선 31"/>
          <ns0:cNvCxnSpPr/>
          <ns0:nvPr/>
        </ns0:nvCxnSpPr>
        <ns0:spPr>
          <ns1:xfrm>
            <ns1:off x="9873509" y="6012541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24" name="갈매기형 수장 23"/>
          <ns0:cNvSpPr/>
          <ns0:nvPr/>
        </ns0:nvSpPr>
        <ns0:spPr>
          <ns1:xfrm rot="5400000">
            <ns1:off x="3794869" y="5671969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33" name="Text 1"/>
          <ns0:cNvSpPr/>
          <ns0:nvPr/>
        </ns0:nvSpPr>
        <ns0:spPr>
          <ns1:xfrm>
            <ns1:off x="2755068" y="6012541"/>
            <ns1:ext cx="2203369" cy="31607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4" name="갈매기형 수장 33"/>
          <ns0:cNvSpPr/>
          <ns0:nvPr/>
        </ns0:nvSpPr>
        <ns0:spPr>
          <ns1:xfrm rot="5400000">
            <ns1:off x="6252404" y="5671969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35" name="Text 1"/>
          <ns0:cNvSpPr/>
          <ns0:nvPr/>
        </ns0:nvSpPr>
        <ns0:spPr>
          <ns1:xfrm>
            <ns1:off x="5212604" y="6012541"/>
            <ns1:ext cx="2102800" cy="31607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6" name="갈매기형 수장 35"/>
          <ns0:cNvSpPr/>
          <ns0:nvPr/>
        </ns0:nvSpPr>
        <ns0:spPr>
          <ns1:xfrm rot="5400000">
            <ns1:off x="8657665" y="5671969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37" name="Text 1"/>
          <ns0:cNvSpPr/>
          <ns0:nvPr/>
        </ns0:nvSpPr>
        <ns0:spPr>
          <ns1:xfrm>
            <ns1:off x="7617865" y="6012541"/>
            <ns1:ext cx="2020064" cy="31607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8" name="갈매기형 수장 37"/>
          <ns0:cNvSpPr/>
          <ns0:nvPr/>
        </ns0:nvSpPr>
        <ns0:spPr>
          <ns1:xfrm rot="5400000">
            <ns1:off x="11020997" y="5675596"/>
            <ns1:ext cx="123766" cy="273502"/>
          </ns1:xfrm>
          <ns1:prstGeom prst="chevron">
            <ns1:avLst>
              <ns1:gd name="adj" fmla="val 59417"/>
            </ns1:avLst>
          </ns1:prstGeom>
          <ns1:solidFill>
            <ns1:schemeClr val="bg1">
              <ns1:lumMod val="65000"/>
              <ns1:alpha val="5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sp>
        <ns0:nvSpPr>
          <ns0:cNvPr id="39" name="Text 1"/>
          <ns0:cNvSpPr/>
          <ns0:nvPr/>
        </ns0:nvSpPr>
        <ns0:spPr>
          <ns1:xfrm>
            <ns1:off x="10024739" y="6012541"/>
            <ns1:ext cx="2016598" cy="31969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4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sz="14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3261194610"/>
      </ns0:ext>
    </ns0:extLst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09 기술 세일즈 포지셔닝 전환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94380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3.2 기술 세일즈 포지셔닝: As-Is vs To-Be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FDE는 기존 제품 중심 세일즈 모션에서 비즈니스 임팩트 중심의 컨설팅 세일즈로 전환하여 고객 신뢰와 장기 파트너십을 구축합니다.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cxnSp>
        <ns0:nvCxnSpPr>
          <ns0:cNvPr id="4" name="직선 연결선 3"/>
          <ns0:cNvCxnSpPr/>
          <ns0:nvPr/>
        </ns0:nvCxnSpPr>
        <ns0:spPr>
          <ns1:xfrm>
            <ns1:off x="5061373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58" name="모서리가 둥근 직사각형 57"/>
          <ns0:cNvSpPr/>
          <ns0:nvPr/>
        </ns0:nvSpPr>
        <ns0:spPr>
          <ns1:xfrm>
            <ns1:off x="2658995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/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755068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1" name="직사각형 20"/>
          <ns0:cNvSpPr/>
          <ns0:nvPr/>
        </ns0:nvSpPr>
        <ns0:spPr>
          <ns1:xfrm>
            <ns1:off x="5077194" y="1506207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2" name="모서리가 둥근 직사각형 21"/>
          <ns0:cNvSpPr/>
          <ns0:nvPr/>
        </ns0:nvSpPr>
        <ns0:spPr>
          <ns1:xfrm>
            <ns1:off x="5074073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/>
            </ns1: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7488382" y="1506206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6" name="모서리가 둥근 직사각형 25"/>
          <ns0:cNvSpPr/>
          <ns0:nvPr/>
        </ns0:nvSpPr>
        <ns0:spPr>
          <ns1:xfrm>
            <ns1:off x="7485261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/>
            </ns1: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895681" y="1506206"/>
            <ns1:ext cx="2296320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8" name="모서리가 둥근 직사각형 27"/>
          <ns0:cNvSpPr/>
          <ns0:nvPr/>
        </ns0:nvSpPr>
        <ns0:spPr>
          <ns1:xfrm>
            <ns1:off x="9892559" y="1506207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/>
            </ns1:r>
          </ns1:p>
        </ns0:txBody>
      </ns0:sp>
      <ns0:sp>
        <ns0:nvSpPr>
          <ns0:cNvPr id="25" name="Text 1"/>
          <ns0:cNvSpPr/>
          <ns0:nvPr/>
        </ns0:nvSpPr>
        <ns0:spPr>
          <ns1:xfrm>
            <ns1:off x="5170146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7585224" y="50504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988632" y="49952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1" name="직선 연결선 30"/>
          <ns0:cNvCxnSpPr/>
          <ns0:nvPr/>
        </ns0:nvCxnSpPr>
        <ns0:spPr>
          <ns1:xfrm>
            <ns1:off x="7466634" y="6012542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2" name="직선 연결선 31"/>
          <ns0:cNvCxnSpPr/>
          <ns0:nvPr/>
        </ns0:nvCxnSpPr>
        <ns0:spPr>
          <ns1:xfrm>
            <ns1:off x="9892559" y="6012541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8" name="Text 1"/>
          <ns0:cNvSpPr/>
          <ns0:nvPr/>
        </ns0:nvSpPr>
        <ns0:spPr>
          <ns1:xfrm>
            <ns1:off x="2902908" y="1023545"/>
            <ns1:ext cx="9289092" cy="33716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531123990"/>
      </ns0:ext>
    </ns0:extLst>
  </ns0:cSld>
  <ns0:clrMapOvr>
    <ns1:masterClrMapping/>
  </ns0:clrMapOvr>
</ns0:sld>
</file>

<file path=ppt/slides/slide16_c2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GS Neotek ML 서비스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/>
              <ns1:t>11 Well-Architected AI 설계 원칙</ns1:t>
            </ns1:r>
          </ns1:p>
        </ns0:txBody>
      </ns0:sp>
      <ns0:sp>
        <ns0:nvSpPr>
          <ns0:cNvPr id="14" name="Text 1"/>
          <ns0:cNvSpPr/>
          <ns0:nvPr/>
        </ns0:nvSpPr>
        <ns0:spPr>
          <ns1:xfrm>
            <ns1:off x="395032" y="780494"/>
            <ns1:ext cx="2200409" cy="94380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4.1 AWS AI Well-Architected 4대 설계 원칙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7" name="Text 1"/>
          <ns0:cNvSpPr/>
          <ns0:nvPr/>
        </ns0:nvSpPr>
        <ns0:spPr>
          <ns1:xfrm>
            <ns1:off x="395031" y="1627472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FDE가 모든 AI 솔루션 설계 시 반드시 적용해야 할 4대 원칙으로, 고객의 프로덕션 AI 시스템의 안정성·보안·효율성·비용 최적화를 보장합니다.</ns1:t>
            </ns1:r>
          </ns1:p>
          <ns1:p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altLang="ko-KR" sz="1200" dirty="0" smtClean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r>
              <ns1:rPr lang="en-US" altLang="ko-KR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err="1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2662116" y="1702751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cxnSp>
        <ns0:nvCxnSpPr>
          <ns0:cNvPr id="4" name="직선 연결선 3"/>
          <ns0:cNvCxnSpPr/>
          <ns0:nvPr/>
        </ns0:nvCxnSpPr>
        <ns0:spPr>
          <ns1:xfrm>
            <ns1:off x="5061373" y="6012543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58" name="모서리가 둥근 직사각형 57"/>
          <ns0:cNvSpPr/>
          <ns0:nvPr/>
        </ns0:nvSpPr>
        <ns0:spPr>
          <ns1:xfrm>
            <ns1:off x="2658995" y="1702751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보안 및 거버넌스</ns1:t>
            </ns1:r>
          </ns1:p>
        </ns0:txBody>
      </ns0:sp>
      <ns0:sp>
        <ns0:nvSpPr>
          <ns0:cNvPr id="62" name="Text 1"/>
          <ns0:cNvSpPr/>
          <ns0:nvPr/>
        </ns0:nvSpPr>
        <ns0:spPr>
          <ns1:xfrm>
            <ns1:off x="2755068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SageMaker 분산학습·Auto Scaling·Multi-AZ 배포로 트래픽 급증 시에도 추론 지연 SLA를 일관되게 유지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1" name="직사각형 20"/>
          <ns0:cNvSpPr/>
          <ns0:nvPr/>
        </ns0:nvSpPr>
        <ns0:spPr>
          <ns1:xfrm>
            <ns1:off x="5077194" y="1702751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2" name="모서리가 둥근 직사각형 21"/>
          <ns0:cNvSpPr/>
          <ns0:nvPr/>
        </ns0:nvSpPr>
        <ns0:spPr>
          <ns1:xfrm>
            <ns1:off x="5074073" y="1702751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확장성 및 탄력성</ns1:t>
            </ns1:r>
          </ns1:p>
        </ns0:txBody>
      </ns0:sp>
      <ns0:sp>
        <ns0:nvSpPr>
          <ns0:cNvPr id="23" name="직사각형 22"/>
          <ns0:cNvSpPr/>
          <ns0:nvPr/>
        </ns0:nvSpPr>
        <ns0:spPr>
          <ns1:xfrm>
            <ns1:off x="7488382" y="1702751"/>
            <ns1:ext cx="2296321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6" name="모서리가 둥근 직사각형 25"/>
          <ns0:cNvSpPr/>
          <ns0:nvPr/>
        </ns0:nvSpPr>
        <ns0:spPr>
          <ns1:xfrm>
            <ns1:off x="7485261" y="1702751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비용 최적화</ns1:t>
            </ns1:r>
          </ns1:p>
        </ns0:txBody>
      </ns0:sp>
      <ns0:sp>
        <ns0:nvSpPr>
          <ns0:cNvPr id="27" name="직사각형 26"/>
          <ns0:cNvSpPr/>
          <ns0:nvPr/>
        </ns0:nvSpPr>
        <ns0:spPr>
          <ns1:xfrm>
            <ns1:off x="9895681" y="1702751"/>
            <ns1:ext cx="2296320" cy="3298019"/>
          </ns1:xfrm>
          <ns1:prstGeom prst="rect">
            <ns1:avLst/>
          </ns1:prstGeom>
          <ns1:solidFill>
            <ns1:schemeClr val="bg1">
              <ns1:lumMod val="75000"/>
              <ns1:alpha val="19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rgbClr val="3C41E6"/>
                </ns1:solidFill>
              </ns1:rPr>
              <ns1:t/>
            </ns1:r>
            <ns1:endParaRPr lang="ko-KR" altLang="en-US" sz="1200" dirty="0">
              <ns1:solidFill>
                <ns1:srgbClr val="3C41E6"/>
              </ns1:solidFill>
            </ns1:endParaRPr>
          </ns1:p>
        </ns0:txBody>
      </ns0:sp>
      <ns0:sp>
        <ns0:nvSpPr>
          <ns0:cNvPr id="28" name="모서리가 둥근 직사각형 27"/>
          <ns0:cNvSpPr/>
          <ns0:nvPr/>
        </ns0:nvSpPr>
        <ns0:spPr>
          <ns1:xfrm>
            <ns1:off x="9892559" y="1702751"/>
            <ns1:ext cx="2299442" cy="368856"/>
          </ns1:xfrm>
          <ns1:prstGeom prst="roundRect">
            <ns1:avLst>
              <ns1:gd name="adj" fmla="val 5865"/>
            </ns1:avLst>
          </ns1:prstGeom>
          <ns1:solidFill>
            <ns1:srgbClr val="1419AB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400" dirty="0" smtClean="0"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MLOps 자동화</ns1:t>
            </ns1:r>
          </ns1:p>
        </ns0:txBody>
      </ns0:sp>
      <ns0:sp>
        <ns0:nvSpPr>
          <ns0:cNvPr id="25" name="Text 1"/>
          <ns0:cNvSpPr/>
          <ns0:nvPr/>
        </ns0:nvSpPr>
        <ns0:spPr>
          <ns1:xfrm>
            <ns1:off x="5170146" y="5053336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Savings Plans·Spot Training·Inferentia2 추론 최적화·S3 Intelligent Tiering으로 AI 인프라 TCO를 최대 60% 절감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29" name="Text 1"/>
          <ns0:cNvSpPr/>
          <ns0:nvPr/>
        </ns0:nvSpPr>
        <ns0:spPr>
          <ns1:xfrm>
            <ns1:off x="7585224" y="50504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SageMaker Pipelines·EventBridge·CodePipeline 연동으로 모델 재훈련·검증·배포·모니터링을 완전 자동화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0" name="Text 1"/>
          <ns0:cNvSpPr/>
          <ns0:nvPr/>
        </ns0:nvSpPr>
        <ns0:spPr>
          <ns1:xfrm>
            <ns1:off x="9988632" y="4995278"/>
            <ns1:ext cx="2052705" cy="11899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ctr"/>
            <ns1:r>
              <ns1:rPr lang="ko-KR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VPC 격리·IAM 최소권한·Bedrock Guardrails·KMS 암호화로 AI 워크로드 전주기 보안 내재화 및 규제 컴플라이언스 확보</ns1:t>
            </ns1:r>
            <ns1:endParaRPr lang="en-US" altLang="ko-KR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  <ns1:p>
            <ns1:pPr algn="ctr"/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cxnSp>
        <ns0:nvCxnSpPr>
          <ns0:cNvPr id="31" name="직선 연결선 30"/>
          <ns0:cNvCxnSpPr/>
          <ns0:nvPr/>
        </ns0:nvCxnSpPr>
        <ns0:spPr>
          <ns1:xfrm>
            <ns1:off x="7466634" y="6012542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32" name="직선 연결선 31"/>
          <ns0:cNvCxnSpPr/>
          <ns0:nvPr/>
        </ns0:nvCxnSpPr>
        <ns0:spPr>
          <ns1:xfrm>
            <ns1:off x="9892559" y="6012541"/>
            <ns1:ext cx="0" cy="845457"/>
          </ns1:xfrm>
          <ns1:prstGeom prst="line">
            <ns1:avLst/>
          </ns1:prstGeom>
          <ns1:ln>
            <ns1:solidFill>
              <ns1:schemeClr val="bg1">
                <ns1:lumMod val="7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48" name="Text 1"/>
          <ns0:cNvSpPr/>
          <ns0:nvPr/>
        </ns0:nvSpPr>
        <ns0:spPr>
          <ns1:xfrm>
            <ns1:off x="2902908" y="1023545"/>
            <ns1:ext cx="9289092" cy="62920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>
              <ns1:lnSpc>
                <ns1:spcPts val="2153"/>
              </ns1:lnSpc>
            </ns1:pPr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531123990"/>
      </ns0:ext>
    </ns0:extLst>
  </ns0:cSld>
  <ns0:clrMapOvr>
    <ns1:masterClrMapping/>
  </ns0:clrMapOvr>
</ns0:sld>
</file>

<file path=ppt/slides/slide30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3" name="직사각형 12"/>
          <ns0:cNvSpPr/>
          <ns0:nvPr/>
        </ns0:nvSpPr>
        <ns0:spPr>
          <ns1:xfrm>
            <ns1:off x="4897938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15" name="직사각형 14"/>
          <ns0:cNvSpPr/>
          <ns0:nvPr/>
        </ns0:nvSpPr>
        <ns0:spPr>
          <ns1:xfrm>
            <ns1:off x="9696217" y="838200"/>
            <ns1:ext cx="2495782" cy="6020378"/>
          </ns1:xfrm>
          <ns1:prstGeom prst="rect">
            <ns1:avLst/>
          </ns1:prstGeom>
          <ns1:solidFill>
            <ns1:schemeClr val="bg1">
              <ns1:lumMod val="85000"/>
              <ns1:alpha val="3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08 기술 세일즈 엔게이지먼트 프로세스</ns1:t>
            </ns1:r>
            <ns1:endParaRPr lang="ko-KR" altLang="en-US" dirty="0"/>
          </ns1:p>
        </ns0:txBody>
      </ns0:sp>
      <ns0:sp>
        <ns0:nvSpPr>
          <ns0:cNvPr id="17" name="Text 1"/>
          <ns0:cNvSpPr/>
          <ns0:nvPr/>
        </ns0:nvSpPr>
        <ns0:spPr>
          <ns1:xfrm>
            <ns1:off x="395032" y="780494"/>
            <ns1:ext cx="2200409" cy="1196321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3.1 FDE 기술 세일즈 4단계 엔게이지먼트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 smtClean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8" name="Text 1"/>
          <ns0:cNvSpPr/>
          <ns0:nvPr/>
        </ns0:nvSpPr>
        <ns0:spPr>
          <ns1:xfrm>
            <ns1:off x="395032" y="2311627"/>
            <ns1:ext cx="2200409" cy="92306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FDE는 Discovery부터 Value Realization까지 4단계로 고객 엔게이지먼트를 체계적으로 이끌어 딜 클로징과 장기 관계를 동시에 확보합니다.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19" name="직사각형 18"/>
          <ns0:cNvSpPr/>
          <ns0:nvPr/>
        </ns0:nvSpPr>
        <ns0:spPr>
          <ns1:xfrm>
            <ns1:off x="2657592" y="780495"/>
            <ns1:ext cx="953440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8" name="직사각형 27"/>
          <ns0:cNvSpPr/>
          <ns0:nvPr/>
        </ns0:nvSpPr>
        <ns0:spPr>
          <ns1:xfrm>
            <ns1:off x="2657592" y="895905"/>
            <ns1:ext cx="2240346" cy="629206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ctr"/>
            <ns1:r>
              <ns1:rPr lang="ko-KR" altLang="ko-KR" sz="1600" dirty="0" smtClean="0">
                <ns1:solidFill>
                  <ns1:srgbClr val="B0B2E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1단계: Discovery — 고객 비즈니스 목표·AI 성…</ns1:t>
            </ns1:r>
            <ns1:endParaRPr lang="en-US" altLang="ko-KR" sz="1600" dirty="0">
              <ns1:solidFill>
                <ns1:srgbClr val="B0B2E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9" name="직사각형 28"/>
          <ns0:cNvSpPr/>
          <ns0:nvPr/>
        </ns0:nvSpPr>
        <ns0:spPr>
          <ns1:xfrm>
            <ns1:off x="5145661" y="895905"/>
            <ns1:ext cx="2240346" cy="629206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ctr"/>
            <ns1:r>
              <ns1:rPr lang="ko-KR" altLang="ko-KR" sz="1600" dirty="0" smtClean="0">
                <ns1:solidFill>
                  <ns1:srgbClr val="7377D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2단계: PoC 설계 — 고객 데이터 기반 검증 가능…</ns1:t>
            </ns1:r>
            <ns1:endParaRPr lang="en-US" altLang="ko-KR" sz="1600" dirty="0">
              <ns1:solidFill>
                <ns1:srgbClr val="7377D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0" name="직사각형 29"/>
          <ns0:cNvSpPr/>
          <ns0:nvPr/>
        </ns0:nvSpPr>
        <ns0:spPr>
          <ns1:xfrm>
            <ns1:off x="7445690" y="895905"/>
            <ns1:ext cx="2240346" cy="629206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ctr"/>
            <ns1:r>
              <ns1:rPr lang="ko-KR" altLang="ko-KR" sz="1600" dirty="0" smtClean="0">
                <ns1:solidFill>
                  <ns1:srgbClr val="363AB9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3단계: Pilot 구현 — AWS 서비스 활용 MVP 구축…</ns1:t>
            </ns1:r>
            <ns1:endParaRPr lang="en-US" altLang="ko-KR" sz="1600" dirty="0">
              <ns1:solidFill>
                <ns1:srgbClr val="363AB9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9887657" y="895905"/>
            <ns1:ext cx="2240346" cy="629206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algn="ctr"/>
            <ns1:r>
              <ns1:rPr lang="ko-KR" altLang="ko-KR" sz="1600" dirty="0" smtClean="0">
                <ns1:solidFill>
                  <ns1:srgbClr val="1419AB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4단계: Value Realization — 프로덕션 전환·…</ns1:t>
            </ns1:r>
            <ns1:endParaRPr lang="en-US" altLang="ko-KR" sz="1600" dirty="0">
              <ns1:solidFill>
                <ns1:srgbClr val="1419AB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3958159743"/>
      </ns0:ext>
    </ns0:extLst>
  </ns0:cSld>
  <ns0:clrMapOvr>
    <ns1:masterClrMapping/>
  </ns0:clrMapOvr>
</ns0:sld>
</file>

<file path=ppt/slides/slide32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9" name="직사각형 18"/>
          <ns0:cNvSpPr/>
          <ns0:nvPr/>
        </ns0:nvSpPr>
        <ns0:spPr>
          <ns1:xfrm>
            <ns1:off x="4042044" y="1676775"/>
            <ns1:ext cx="4042044" cy="5181223"/>
          </ns1:xfrm>
          <ns1:prstGeom prst="rect">
            <ns1:avLst/>
          </ns1:prstGeom>
          <ns1:solidFill>
            <ns1:schemeClr val="bg1">
              <ns1:lumMod val="85000"/>
              <ns1:alpha val="43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8084088" y="1676777"/>
            <ns1:ext cx="4107912" cy="5181223"/>
          </ns1:xfrm>
          <ns1:prstGeom prst="rect">
            <ns1:avLst/>
          </ns1:prstGeom>
          <ns1:solidFill>
            <ns1:schemeClr val="bg1">
              <ns1:lumMod val="85000"/>
              <ns1:alpha val="92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/>
            </ns1:r>
            <ns1:r>
              <ns1:rPr lang="ko-KR" altLang="en-US" dirty="0" err="1" smtClean="0"/>
              <ns1:t/>
            </ns1:r>
            <ns1:r>
              <ns1:rPr lang="ko-KR" altLang="en-US" dirty="0" smtClean="0"/>
              <ns1:t/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69572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1. AWS AI FDE 역할 및 가치 정의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1240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en-US" altLang="ko-KR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r>
              <ns1:rPr lang="ko-KR" altLang="en-US" sz="1200" dirty="0" err="1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1" name="이등변 삼각형 20"/>
          <ns0:cNvSpPr/>
          <ns0:nvPr/>
        </ns0:nvSpPr>
        <ns0:spPr>
          <ns1:xfrm rot="5400000">
            <ns1:off x="3967348" y="1955598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7975319" y="195559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8E8E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78213630"/>
      </ns0:ext>
    </ns0:extLst>
  </ns0:cSld>
  <ns0:clrMapOvr>
    <ns1:masterClrMapping/>
  </ns0:clrMapOvr>
</ns0:sld>
</file>

<file path=ppt/slides/slide32_c2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9" name="직사각형 18"/>
          <ns0:cNvSpPr/>
          <ns0:nvPr/>
        </ns0:nvSpPr>
        <ns0:spPr>
          <ns1:xfrm>
            <ns1:off x="4042044" y="1676775"/>
            <ns1:ext cx="4042044" cy="5181223"/>
          </ns1:xfrm>
          <ns1:prstGeom prst="rect">
            <ns1:avLst/>
          </ns1:prstGeom>
          <ns1:solidFill>
            <ns1:schemeClr val="bg1">
              <ns1:lumMod val="85000"/>
              <ns1:alpha val="43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8084088" y="1676777"/>
            <ns1:ext cx="4107912" cy="5181223"/>
          </ns1:xfrm>
          <ns1:prstGeom prst="rect">
            <ns1:avLst/>
          </ns1:prstGeom>
          <ns1:solidFill>
            <ns1:schemeClr val="bg1">
              <ns1:lumMod val="85000"/>
              <ns1:alpha val="92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기술 기반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02 FDE 핵심 역할 정의</ns1:t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69572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Pre-Sales 지원: 고객 PoC 설계 및 기술 제안서 작성, 아키텍처 리뷰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1" name="이등변 삼각형 20"/>
          <ns0:cNvSpPr/>
          <ns0:nvPr/>
        </ns0:nvSpPr>
        <ns0:spPr>
          <ns1:xfrm rot="5400000">
            <ns1:off x="3967348" y="1955598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7975319" y="195559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8E8E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78213630"/>
      </ns0:ext>
    </ns0:extLst>
  </ns0:cSld>
  <ns0:clrMapOvr>
    <ns1:masterClrMapping/>
  </ns0:clrMapOvr>
</ns0:sld>
</file>

<file path=ppt/slides/slide32_c3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9" name="직사각형 18"/>
          <ns0:cNvSpPr/>
          <ns0:nvPr/>
        </ns0:nvSpPr>
        <ns0:spPr>
          <ns1:xfrm>
            <ns1:off x="4042044" y="1676775"/>
            <ns1:ext cx="4042044" cy="5181223"/>
          </ns1:xfrm>
          <ns1:prstGeom prst="rect">
            <ns1:avLst/>
          </ns1:prstGeom>
          <ns1:solidFill>
            <ns1:schemeClr val="bg1">
              <ns1:lumMod val="85000"/>
              <ns1:alpha val="43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8084088" y="1676777"/>
            <ns1:ext cx="4107912" cy="5181223"/>
          </ns1:xfrm>
          <ns1:prstGeom prst="rect">
            <ns1:avLst/>
          </ns1:prstGeom>
          <ns1:solidFill>
            <ns1:schemeClr val="bg1">
              <ns1:lumMod val="85000"/>
              <ns1:alpha val="92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/>
            </ns1:r>
            <ns1:r>
              <ns1:rPr lang="ko-KR" altLang="en-US" dirty="0" err="1" smtClean="0"/>
              <ns1:t/>
            </ns1:r>
            <ns1:r>
              <ns1:rPr lang="ko-KR" altLang="en-US" dirty="0" smtClean="0"/>
              <ns1:t/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94380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 AWS AI/ML 핵심 서비스 포트폴리오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1240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1" name="이등변 삼각형 20"/>
          <ns0:cNvSpPr/>
          <ns0:nvPr/>
        </ns0:nvSpPr>
        <ns0:spPr>
          <ns1:xfrm rot="5400000">
            <ns1:off x="3967348" y="1955598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7975319" y="195559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8E8E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78213630"/>
      </ns0:ext>
    </ns0:extLst>
  </ns0:cSld>
  <ns0:clrMapOvr>
    <ns1:masterClrMapping/>
  </ns0:clrMapOvr>
</ns0:sld>
</file>

<file path=ppt/slides/slide32_c4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9" name="직사각형 18"/>
          <ns0:cNvSpPr/>
          <ns0:nvPr/>
        </ns0:nvSpPr>
        <ns0:spPr>
          <ns1:xfrm>
            <ns1:off x="4042044" y="1676775"/>
            <ns1:ext cx="4042044" cy="5181223"/>
          </ns1:xfrm>
          <ns1:prstGeom prst="rect">
            <ns1:avLst/>
          </ns1:prstGeom>
          <ns1:solidFill>
            <ns1:schemeClr val="bg1">
              <ns1:lumMod val="85000"/>
              <ns1:alpha val="43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8084088" y="1676777"/>
            <ns1:ext cx="4107912" cy="5181223"/>
          </ns1:xfrm>
          <ns1:prstGeom prst="rect">
            <ns1:avLst/>
          </ns1:prstGeom>
          <ns1:solidFill>
            <ns1:schemeClr val="bg1">
              <ns1:lumMod val="85000"/>
              <ns1:alpha val="92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06 생성형 AI 핵심 서비스</ns1:t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69572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2.2 생성형 AI 3대 핵심 서비스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4603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Claude·Titan·Llama 등 다양한 FM을 단일 API로 제공. RAG·Agent·Fine-tuning을 완전관리형으로 지원하여 엔터프라이즈 GenAI 도입의 최적 시작점</ns1:t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1" name="이등변 삼각형 20"/>
          <ns0:cNvSpPr/>
          <ns0:nvPr/>
        </ns0:nvSpPr>
        <ns0:spPr>
          <ns1:xfrm rot="5400000">
            <ns1:off x="3967348" y="1955598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7975319" y="195559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8E8E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78213630"/>
      </ns0:ext>
    </ns0:extLst>
  </ns0:cSld>
  <ns0:clrMapOvr>
    <ns1:masterClrMapping/>
  </ns0:clrMapOvr>
</ns0:sld>
</file>

<file path=ppt/slides/slide32_c5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9" name="직사각형 18"/>
          <ns0:cNvSpPr/>
          <ns0:nvPr/>
        </ns0:nvSpPr>
        <ns0:spPr>
          <ns1:xfrm>
            <ns1:off x="4042044" y="1676775"/>
            <ns1:ext cx="4042044" cy="5181223"/>
          </ns1:xfrm>
          <ns1:prstGeom prst="rect">
            <ns1:avLst/>
          </ns1:prstGeom>
          <ns1:solidFill>
            <ns1:schemeClr val="bg1">
              <ns1:lumMod val="85000"/>
              <ns1:alpha val="43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20" name="직사각형 19"/>
          <ns0:cNvSpPr/>
          <ns0:nvPr/>
        </ns0:nvSpPr>
        <ns0:spPr>
          <ns1:xfrm>
            <ns1:off x="8084088" y="1676777"/>
            <ns1:ext cx="4107912" cy="5181223"/>
          </ns1:xfrm>
          <ns1:prstGeom prst="rect">
            <ns1:avLst/>
          </ns1:prstGeom>
          <ns1:solidFill>
            <ns1:schemeClr val="bg1">
              <ns1:lumMod val="85000"/>
              <ns1:alpha val="92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 dirty="0"/>
          </ns1:p>
        </ns0:txBody>
      </ns0:sp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엔터프라이즈 도입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/>
            </ns1:r>
            <ns1:r>
              <ns1:rPr lang="ko-KR" altLang="en-US" dirty="0" err="1" smtClean="0"/>
              <ns1:t/>
            </ns1:r>
            <ns1:r>
              <ns1:rPr lang="ko-KR" altLang="en-US" dirty="0" smtClean="0"/>
              <ns1:t/>
            </ns1:r>
            <ns1:endParaRPr lang="ko-KR" altLang="en-US" dirty="0"/>
          </ns1:p>
        </ns0:txBody>
      </ns0:sp>
      <ns0:sp>
        <ns0:nvSpPr>
          <ns0:cNvPr id="25" name="Text 1"/>
          <ns0:cNvSpPr/>
          <ns0:nvPr/>
        </ns0:nvSpPr>
        <ns0:spPr>
          <ns1:xfrm>
            <ns1:off x="395032" y="780494"/>
            <ns1:ext cx="2200409" cy="943809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3. 고객 엔게이지먼트 및 기술 세일즈 전략</ns1:t>
            </ns1:r>
          </ns1:p>
          <ns1:p>
            <ns1:r>
              <ns1:rPr lang="ko-KR" altLang="en-US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endParaRPr lang="en-US" altLang="ko-KR" dirty="0">
              <ns1:solidFill>
                <ns1:schemeClr val="tx1">
                  <ns1:lumMod val="85000"/>
                  <ns1:lumOff val="15000"/>
                </ns1:schemeClr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6" name="Text 1"/>
          <ns0:cNvSpPr/>
          <ns0:nvPr/>
        </ns0:nvSpPr>
        <ns0:spPr>
          <ns1:xfrm>
            <ns1:off x="2676575" y="1024560"/>
            <ns1:ext cx="8870845" cy="311240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sz="1200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/>
            </ns1:r>
            <ns1:endParaRPr lang="en-US" sz="1200" dirty="0">
              <ns1:solidFill>
                <ns1:schemeClr val="tx1">
                  <ns1:lumMod val="75000"/>
                  <ns1:lumOff val="25000"/>
                </ns1:schemeClr>
              </ns1:solidFill>
              <ns1:latin typeface="Pretendard" panose="02000503000000020004" pitchFamily="2" charset="-127"/>
              <ns1:ea typeface="Pretendard" panose="02000503000000020004" pitchFamily="2" charset="-127"/>
              <ns1:cs typeface="Pretendard" panose="02000503000000020004" pitchFamily="2" charset="-127"/>
            </ns1:endParaRPr>
          </ns1:p>
        </ns0:txBody>
      </ns0:sp>
      <ns0:sp>
        <ns0:nvSpPr>
          <ns0:cNvPr id="31" name="직사각형 30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E6E7FF"/>
              </ns1:gs>
              <ns1:gs pos="7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39" name="이등변 삼각형 38"/>
          <ns0:cNvSpPr/>
          <ns0:nvPr/>
        </ns0:nvSpPr>
        <ns0:spPr>
          <ns1:xfrm rot="5400000">
            <ns1:off x="3002333" y="189432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1" name="이등변 삼각형 20"/>
          <ns0:cNvSpPr/>
          <ns0:nvPr/>
        </ns0:nvSpPr>
        <ns0:spPr>
          <ns1:xfrm rot="5400000">
            <ns1:off x="3967348" y="1955598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F2F2F2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2" name="이등변 삼각형 21"/>
          <ns0:cNvSpPr/>
          <ns0:nvPr/>
        </ns0:nvSpPr>
        <ns0:spPr>
          <ns1:xfrm rot="5400000">
            <ns1:off x="7975319" y="1955599"/>
            <ns1:ext cx="334964" cy="185573"/>
          </ns1:xfrm>
          <ns1:prstGeom prst="triangle">
            <ns1:avLst>
              <ns1:gd name="adj" fmla="val 49288"/>
            </ns1:avLst>
          </ns1:prstGeom>
          <ns1:solidFill>
            <ns1:srgbClr val="E8E8E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</ns0:spTree>
    <ns0:extLst>
      <ns0:ext uri="{BB962C8B-B14F-4D97-AF65-F5344CB8AC3E}">
        <ns2:creationId val="378213630"/>
      </ns0:ext>
    </ns0:extLst>
  </ns0:cSld>
  <ns0:clrMapOvr>
    <ns1:masterClrMapping/>
  </ns0:clrMapOvr>
</ns0:sld>
</file>

<file path=ppt/slides/slide38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8" name="제목 7"/>
          <ns0:cNvSpPr>
            <ns1:spLocks noGrp="1"/>
          </ns0:cNvSpPr>
          <ns0:nvPr>
            <ns0:ph type="title"/>
          </ns0:nvPr>
        </ns0:nvSpPr>
        <ns0:spPr/>
        <ns0:txBody>
          <ns1:bodyPr>
            <ns1:normAutofit/>
          </ns1:bodyPr>
          <ns1:lstStyle/>
          <ns1:p>
            <ns1:r>
              <ns1:rPr lang="en-US" altLang="ko-KR" dirty="0" smtClean="0"/>
              <ns1:t>ML 파이프라인 &amp; 방법론</ns1:t>
            </ns1:r>
            <ns1:endParaRPr lang="ko-KR" altLang="en-US" dirty="0"/>
          </ns1:p>
        </ns0:txBody>
      </ns0:sp>
      <ns0:sp>
        <ns0:nvSpPr>
          <ns0:cNvPr id="9" name="내용 개체 틀 8"/>
          <ns0:cNvSpPr>
            <ns1:spLocks noGrp="1"/>
          </ns0:cNvSpPr>
          <ns0:nvPr>
            <ns0:ph sz="quarter" idx="10"/>
          </ns0:nvPr>
        </ns0:nvSpPr>
        <ns0:spPr/>
        <ns0:txBody>
          <ns1:bodyPr/>
          <ns1:lstStyle/>
          <ns1:p>
            <ns1:r>
              <ns1:rPr lang="en-US" altLang="ko-KR" dirty="0" smtClean="0"/>
              <ns1:t>05 AWS AI 서비스 레이어 아키텍처</ns1:t>
            </ns1:r>
            <ns1:endParaRPr lang="ko-KR" altLang="en-US" dirty="0"/>
          </ns1:p>
        </ns0:txBody>
      </ns0:sp>
      <ns0:sp>
        <ns0:nvSpPr>
          <ns0:cNvPr id="22" name="Text 1"/>
          <ns0:cNvSpPr/>
          <ns0:nvPr/>
        </ns0:nvSpPr>
        <ns0:spPr>
          <ns1:xfrm>
            <ns1:off x="395032" y="780494"/>
            <ns1:ext cx="2200409" cy="676773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r>
              <ns1:rPr lang="en-US" altLang="ko-KR" dirty="0" smtClean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2.1 AWS AI/ML 서비스 3계층 구조</ns1:t>
            </ns1:r>
          </ns1:p>
          <ns1:p>
            <ns1:r>
              <ns1:rPr lang="ko-KR" altLang="en-US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  <ns1:r>
              <ns1:rPr lang="en-US" altLang="ko-KR" dirty="0">
                <ns1:solidFill>
                  <ns1:schemeClr val="tx1">
                    <ns1:lumMod val="85000"/>
                    <ns1:lumOff val="15000"/>
                  </ns1:schemeClr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/>
            </ns1:r>
          </ns1:p>
        </ns0:txBody>
      </ns0:sp>
      <ns0:sp>
        <ns0:nvSpPr>
          <ns0:cNvPr id="12" name="Text 1"/>
          <ns0:cNvSpPr/>
          <ns0:nvPr/>
        </ns0:nvSpPr>
        <ns0:spPr>
          <ns1:xfrm>
            <ns1:off x="2676575" y="719331"/>
            <ns1:ext cx="8870845" cy="737936"/>
          </ns1:xfrm>
          <ns1:prstGeom prst="rect">
            <ns1:avLst/>
          </ns1:prstGeom>
          <ns1:noFill/>
          <ns1:ln/>
        </ns0:spPr>
        <ns0:txBody>
          <ns1:bodyPr wrap="square" lIns="0" tIns="0" rIns="0" bIns="0" numCol="1" rtlCol="0" anchor="ctr"/>
          <ns1:lstStyle/>
          <ns1:p>
            <ns1:r>
              <ns1:rPr lang="ko-KR" altLang="en-US" dirty="0" smtClean="0">
                <ns1:solidFill>
                  <ns1:schemeClr val="tx1">
                    <ns1:lumMod val="75000"/>
                    <ns1:lumOff val="25000"/>
                  </ns1:schemeClr>
                </ns1:solidFill>
                <ns1:latin typeface="Pretendard" panose="02000503000000020004" pitchFamily="2" charset="-127"/>
                <ns1:ea typeface="Pretendard" panose="02000503000000020004" pitchFamily="2" charset="-127"/>
                <ns1:cs typeface="Pretendard" panose="02000503000000020004" pitchFamily="2" charset="-127"/>
              </ns1:rPr>
              <ns1:t>AWS AI 서비스는 AI Services → ML Services → Infrastructure의 3계층으로 구성되며, 고객 요구사항에 따라 최적 계층을 선택합니다.</ns1:t>
            </ns1:r>
          </ns1:p>
        </ns0:txBody>
      </ns0:sp>
      <ns0:sp>
        <ns0:nvSpPr>
          <ns0:cNvPr id="7" name="직사각형 6"/>
          <ns0:cNvSpPr/>
          <ns0:nvPr/>
        </ns0:nvSpPr>
        <ns0:spPr>
          <ns1:xfrm>
            <ns1:off x="4238354" y="1895050"/>
            <ns1:ext cx="2750093" cy="120574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Bedrock · Rekognition · Comprehend · Transcribe · Polly · Lex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0" name="직사각형 9"/>
          <ns0:cNvSpPr/>
          <ns0:nvPr/>
        </ns0:nvSpPr>
        <ns0:spPr>
          <ns1:xfrm>
            <ns1:off x="4238354" y="3371605"/>
            <ns1:ext cx="2750093" cy="120574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SageMaker Studio · Autopilot · Pipelines · Model Registry · Clarify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1" name="직사각형 10"/>
          <ns0:cNvSpPr/>
          <ns0:nvPr/>
        </ns0:nvSpPr>
        <ns0:spPr>
          <ns1:xfrm>
            <ns1:off x="4238354" y="4848159"/>
            <ns1:ext cx="2750093" cy="1205749"/>
          </ns1:xfrm>
          <ns1:prstGeom prst="rect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Trainium · Inferentia · P4d/P5 인스턴스 · EFA · FSx for Lustre</ns1:t>
            </ns1:r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3" name="직사각형 12"/>
          <ns0:cNvSpPr/>
          <ns0:nvPr/>
        </ns0:nvSpPr>
        <ns0:spPr>
          <ns1:xfrm>
            <ns1:off x="1402851" y="1895046"/>
            <ns1:ext cx="2547448" cy="1205749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chemeClr val="tx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AI Services (완성형 API)</ns1:t>
            </ns1:r>
            <ns1:endParaRPr lang="en-US" altLang="ko-KR" sz="1200" dirty="0">
              <ns1:solidFill>
                <ns1:schemeClr val="tx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4" name="직사각형 13"/>
          <ns0:cNvSpPr/>
          <ns0:nvPr/>
        </ns0:nvSpPr>
        <ns0:spPr>
          <ns1:xfrm>
            <ns1:off x="1402851" y="3371600"/>
            <ns1:ext cx="2547448" cy="1205749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chemeClr val="tx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ML Services (SageMaker)</ns1:t>
            </ns1:r>
            <ns1:endParaRPr lang="en-US" altLang="ko-KR" sz="1200" dirty="0">
              <ns1:solidFill>
                <ns1:schemeClr val="tx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5" name="직사각형 14"/>
          <ns0:cNvSpPr/>
          <ns0:nvPr/>
        </ns0:nvSpPr>
        <ns0:spPr>
          <ns1:xfrm>
            <ns1:off x="1402851" y="4848155"/>
            <ns1:ext cx="2547448" cy="1205749"/>
          </ns1:xfrm>
          <ns1:prstGeom prst="rect">
            <ns1:avLst/>
          </ns1:prstGeom>
          <ns1:solidFill>
            <ns1:schemeClr val="bg1">
              <ns1:lumMod val="85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smtClean="0">
                <ns1:solidFill>
                  <ns1:schemeClr val="tx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Infrastructure (EC2/GPU)</ns1:t>
            </ns1:r>
            <ns1:endParaRPr lang="en-US" altLang="ko-KR" sz="1200" dirty="0">
              <ns1:solidFill>
                <ns1:schemeClr val="tx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19" name="직사각형 18"/>
          <ns0:cNvSpPr/>
          <ns0:nvPr/>
        </ns0:nvSpPr>
        <ns0:spPr>
          <ns1:xfrm>
            <ns1:off x="7425917" y="1895046"/>
            <ns1:ext cx="3578851" cy="1205749"/>
          </ns1:xfrm>
          <ns1:prstGeom prst="rect">
            <ns1:avLst/>
          </ns1:prstGeom>
          <ns1:noFill/>
          <ns1:ln>
            <ns1:solidFill>
              <ns1:srgbClr val="393EBA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err="1" smtClean="0">
                <ns1:solidFill>
                  <ns1:srgbClr val="393EBA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사전 훈련된 모델 API 호출로 즉시 AI 기능 통합 가능 — 개발 리…</ns1:t>
            </ns1:r>
            <ns1:endParaRPr lang="en-US" altLang="ko-KR" sz="1200" dirty="0">
              <ns1:solidFill>
                <ns1:srgbClr val="393EBA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0" name="이등변 삼각형 19"/>
          <ns0:cNvSpPr/>
          <ns0:nvPr/>
        </ns0:nvSpPr>
        <ns0:spPr>
          <ns1:xfrm rot="5400000">
            <ns1:off x="6811360" y="2405135"/>
            <ns1:ext cx="539747" cy="185573"/>
          </ns1:xfrm>
          <ns1:prstGeom prst="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1" name="이등변 삼각형 20"/>
          <ns0:cNvSpPr/>
          <ns0:nvPr/>
        </ns0:nvSpPr>
        <ns0:spPr>
          <ns1:xfrm rot="5400000">
            <ns1:off x="6799293" y="3881690"/>
            <ns1:ext cx="539747" cy="185573"/>
          </ns1:xfrm>
          <ns1:prstGeom prst="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3" name="이등변 삼각형 22"/>
          <ns0:cNvSpPr/>
          <ns0:nvPr/>
        </ns0:nvSpPr>
        <ns0:spPr>
          <ns1:xfrm rot="5400000">
            <ns1:off x="6799292" y="5358245"/>
            <ns1:ext cx="539747" cy="185573"/>
          </ns1:xfrm>
          <ns1:prstGeom prst="triangle">
            <ns1:avLst/>
          </ns1:prstGeom>
          <ns1:solidFill>
            <ns1:srgbClr val="3C41E6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4" name="직사각형 23"/>
          <ns0:cNvSpPr/>
          <ns0:nvPr/>
        </ns0:nvSpPr>
        <ns0:spPr>
          <ns1:xfrm>
            <ns1:off x="7425916" y="3366734"/>
            <ns1:ext cx="3578851" cy="1205749"/>
          </ns1:xfrm>
          <ns1:prstGeom prst="rect">
            <ns1:avLst/>
          </ns1:prstGeom>
          <ns1:noFill/>
          <ns1:ln>
            <ns1:solidFill>
              <ns1:srgbClr val="393EBA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err="1" smtClean="0">
                <ns1:solidFill>
                  <ns1:srgbClr val="393EBA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커스텀 모델 훈련·튜닝·배포·모니터링 통합 플랫폼 — MLOps 자…</ns1:t>
            </ns1:r>
            <ns1:endParaRPr lang="en-US" altLang="ko-KR" sz="1200" dirty="0">
              <ns1:solidFill>
                <ns1:srgbClr val="393EBA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5" name="직사각형 24"/>
          <ns0:cNvSpPr/>
          <ns0:nvPr/>
        </ns0:nvSpPr>
        <ns0:spPr>
          <ns1:xfrm>
            <ns1:off x="7425916" y="4838422"/>
            <ns1:ext cx="3578851" cy="1205749"/>
          </ns1:xfrm>
          <ns1:prstGeom prst="rect">
            <ns1:avLst/>
          </ns1:prstGeom>
          <ns1:noFill/>
          <ns1:ln>
            <ns1:solidFill>
              <ns1:srgbClr val="393EBA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r>
              <ns1:rPr lang="ko-KR" altLang="ko-KR" sz="1200" dirty="0" err="1" smtClean="0">
                <ns1:solidFill>
                  <ns1:srgbClr val="393EBA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대규모 파운데이션 모델 훈련 및 추론 특화 가속기 — 비용 대비 성…</ns1:t>
            </ns1:r>
            <ns1:endParaRPr lang="en-US" altLang="ko-KR" sz="1200" dirty="0">
              <ns1:solidFill>
                <ns1:srgbClr val="393EBA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  <ns0:sp>
        <ns0:nvSpPr>
          <ns0:cNvPr id="26" name="이등변 삼각형 25"/>
          <ns0:cNvSpPr/>
          <ns0:nvPr/>
        </ns0:nvSpPr>
        <ns0:spPr>
          <ns1:xfrm rot="5400000">
            <ns1:off x="3773211" y="2405133"/>
            <ns1:ext cx="539747" cy="185573"/>
          </ns1:xfrm>
          <ns1:prstGeom prst="triangle">
            <ns1:avLst/>
          </ns1:prstGeom>
          <ns1:solidFill>
            <ns1:srgbClr val="D9D9D9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7" name="이등변 삼각형 26"/>
          <ns0:cNvSpPr/>
          <ns0:nvPr/>
        </ns0:nvSpPr>
        <ns0:spPr>
          <ns1:xfrm rot="5400000">
            <ns1:off x="3773211" y="3881690"/>
            <ns1:ext cx="539747" cy="185573"/>
          </ns1:xfrm>
          <ns1:prstGeom prst="triangle">
            <ns1:avLst/>
          </ns1:prstGeom>
          <ns1:solidFill>
            <ns1:srgbClr val="D9D9D9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8" name="이등변 삼각형 27"/>
          <ns0:cNvSpPr/>
          <ns0:nvPr/>
        </ns0:nvSpPr>
        <ns0:spPr>
          <ns1:xfrm rot="5400000">
            <ns1:off x="3773211" y="5348509"/>
            <ns1:ext cx="539747" cy="185573"/>
          </ns1:xfrm>
          <ns1:prstGeom prst="triangle">
            <ns1:avLst/>
          </ns1:prstGeom>
          <ns1:solidFill>
            <ns1:srgbClr val="D9D9D9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29" name="직사각형 28"/>
          <ns0:cNvSpPr/>
          <ns0:nvPr/>
        </ns0:nvSpPr>
        <ns0:spPr>
          <ns1:xfrm>
            <ns1:off x="-23077" y="1619072"/>
            <ns1:ext cx="12215077" cy="57705"/>
          </ns1:xfrm>
          <ns1:prstGeom prst="rect">
            <ns1:avLst/>
          </ns1:prstGeom>
          <ns1:gradFill>
            <ns1:gsLst>
              <ns1:gs pos="0">
                <ns1:srgbClr val="7D80D5">
                  <ns1:alpha val="0"/>
                </ns1:srgbClr>
              </ns1:gs>
              <ns1:gs pos="100000">
                <ns1:srgbClr val="E6E7FF">
                  <ns1:alpha val="0"/>
                </ns1:srgbClr>
              </ns1:gs>
              <ns1:gs pos="47000">
                <ns1:srgbClr val="1419AB"/>
              </ns1:gs>
            </ns1:gsLst>
            <ns1:lin ang="2700000" scaled="0"/>
          </ns1:gra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en-US" altLang="ko-KR" sz="1200" dirty="0"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2:creationId val="1084052846"/>
      </ns0:ext>
    </ns0:extLst>
  </ns0:cSld>
  <ns0:clrMapOvr>
    <ns1:masterClrMapping/>
  </ns0:clrMapOvr>
</ns0:sld>
</file>

<file path=ppt/slides/slide46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pic>
        <ns0:nvPicPr>
          <ns0:cNvPr id="4" name="Image 1" descr="preencoded.png"/>
          <ns0:cNvPicPr>
            <ns1:picLocks noChangeAspect="1"/>
          </ns0:cNvPicPr>
          <ns0:nvPr/>
        </ns0:nvPicPr>
        <ns0:blipFill>
          <ns1:blip ns2:embed="rId2"/>
          <ns1:srcRect/>
          <ns1:stretch/>
        </ns0:blipFill>
        <ns0:spPr>
          <ns1:xfrm>
            <ns1:off x="603311" y="2311400"/>
            <ns1:ext cx="1598632" cy="267494"/>
          </ns1:xfrm>
          <ns1:prstGeom prst="rect">
            <ns1:avLst/>
          </ns1:prstGeom>
        </ns0:spPr>
      </ns0:pic>
      <ns0:sp>
        <ns0:nvSpPr>
          <ns0:cNvPr id="8" name="Text 3"/>
          <ns0:cNvSpPr/>
          <ns0:nvPr/>
        </ns0:nvSpPr>
        <ns0:spPr>
          <ns1:xfrm>
            <ns1:off x="8661461" y="3324430"/>
            <ns1:ext cx="2821971" cy="257087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marL="0" indent="0" algn="l">
              <ns1:lnSpc>
                <ns1:spcPts val="1020"/>
              </ns1:lnSpc>
              <ns1:buNone/>
            </ns1:pPr>
            <ns1:r>
              <ns1:rPr lang="en-US" dirty="0">
                <ns1:solidFill>
                  <ns1:schemeClr val="bg1"/>
                </ns1:solidFill>
                <ns1:latin typeface="Pretendard Medium" panose="02000603000000020004" pitchFamily="2" charset="-127"/>
                <ns1:ea typeface="Pretendard Medium" panose="02000603000000020004" pitchFamily="2" charset="-127"/>
                <ns1:cs typeface="Pretendard Medium" panose="02000603000000020004" pitchFamily="2" charset="-127"/>
              </ns1:rPr>
              <ns1:t>Drive Neo Technology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603311" y="2943548"/>
            <ns1:ext cx="7532191" cy="1018852"/>
          </ns1:xfrm>
          <ns1:prstGeom prst="rect">
            <ns1:avLst/>
          </ns1:prstGeom>
          <ns1:noFill/>
        </ns0:spPr>
        <ns0:txBody>
          <ns1:bodyPr wrap="square" lIns="0" tIns="0" rIns="0" bIns="0" rtlCol="0" anchor="ctr" anchorCtr="0">
            <ns1:noAutofit/>
          </ns1:bodyPr>
          <ns1:lstStyle/>
          <ns1:p>
            <ns1:pPr>
              <ns1:lnSpc>
                <ns1:spcPts val="4064"/>
              </ns1:lnSpc>
            </ns1:pPr>
            <ns1:r>
              <ns1:rPr lang="ko-KR" altLang="en-US" sz="66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감사합니다</ns1:t>
            </ns1:r>
            <ns1:r>
              <ns1:rPr lang="en-US" altLang="ko-KR" sz="6600" dirty="0" smtClean="0">
                <ns1:solidFill>
                  <ns1:schemeClr val="bg1"/>
                </ns1:solidFill>
                <ns1:latin typeface="Pretendard SemiBold" panose="02000703000000020004" pitchFamily="2" charset="-127"/>
                <ns1:ea typeface="Pretendard SemiBold" panose="02000703000000020004" pitchFamily="2" charset="-127"/>
                <ns1:cs typeface="Pretendard SemiBold" panose="02000703000000020004" pitchFamily="2" charset="-127"/>
              </ns1:rPr>
              <ns1:t>.</ns1:t>
            </ns1:r>
            <ns1:endParaRPr lang="en-US" altLang="ko-KR" sz="6600" dirty="0">
              <ns1:solidFill>
                <ns1:schemeClr val="bg1"/>
              </ns1:solidFill>
              <ns1:latin typeface="Pretendard SemiBold" panose="02000703000000020004" pitchFamily="2" charset="-127"/>
              <ns1:ea typeface="Pretendard SemiBold" panose="02000703000000020004" pitchFamily="2" charset="-127"/>
              <ns1:cs typeface="Pretendard SemiBold" panose="02000703000000020004" pitchFamily="2" charset="-127"/>
            </ns1:endParaRPr>
          </ns1:p>
        </ns0:txBody>
      </ns0:sp>
    </ns0:spTree>
    <ns0:extLst>
      <ns0:ext uri="{BB962C8B-B14F-4D97-AF65-F5344CB8AC3E}">
        <ns3:creationId val="2657807510"/>
      </ns0:ext>
    </ns0:extLst>
  </ns0:cSld>
  <ns0:clrMapOvr>
    <ns1:masterClrMapping/>
  </ns0:clrMapOvr>
</ns0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3905</Words>
  <Application>Microsoft Office PowerPoint</Application>
  <PresentationFormat>와이드스크린</PresentationFormat>
  <Paragraphs>667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46</vt:i4>
      </vt:variant>
    </vt:vector>
  </HeadingPairs>
  <TitlesOfParts>
    <vt:vector size="60" baseType="lpstr">
      <vt:lpstr>Pretendard</vt:lpstr>
      <vt:lpstr>Pretendard ExtraBold</vt:lpstr>
      <vt:lpstr>Pretendard Light</vt:lpstr>
      <vt:lpstr>Pretendard Medium</vt:lpstr>
      <vt:lpstr>Pretendard SemiBold</vt:lpstr>
      <vt:lpstr>맑은 고딕</vt:lpstr>
      <vt:lpstr>맑은 고딕</vt:lpstr>
      <vt:lpstr>프리젠테이션 4 Regular</vt:lpstr>
      <vt:lpstr>프리젠테이션 5 Medium</vt:lpstr>
      <vt:lpstr>프리젠테이션 7 Bold</vt:lpstr>
      <vt:lpstr>Arial</vt:lpstr>
      <vt:lpstr>Wingdings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발표 제목을 작성해주세요</vt:lpstr>
      <vt:lpstr>발표 제목을 작성해주세요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PPT 대제목 작성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gsin</dc:creator>
  <cp:lastModifiedBy>gsin</cp:lastModifiedBy>
  <cp:revision>112</cp:revision>
  <dcterms:created xsi:type="dcterms:W3CDTF">2026-04-14T08:20:41Z</dcterms:created>
  <dcterms:modified xsi:type="dcterms:W3CDTF">2026-05-26T07:20:56Z</dcterms:modified>
</cp:coreProperties>
</file>