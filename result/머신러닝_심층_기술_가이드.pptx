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9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0" r:id="rId2"/>
  </p:sldMasterIdLst>
  <p:sldIdLst>
    <p:sldId id="256" r:id="rId8"/>
    <p:sldId id="257" r:id="rId9"/>
    <p:sldId id="293" r:id="rId17"/>
    <p:sldId id="260" r:id="rId31"/>
    <p:sldId id="283" r:id="rId11"/>
    <p:sldId id="292" r:id="rId18"/>
    <p:sldId id="291" r:id="rId12"/>
    <p:sldId id="302" r:id="rId33"/>
    <p:sldId id="282" r:id="rId13"/>
    <p:sldId id="295" r:id="rId37"/>
    <p:sldId id="309" r:id="rId35"/>
    <p:sldId id="294" r:id="rId26"/>
    <p:sldId id="290" r:id="rId14"/>
    <p:sldId id="31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5D52F42-0661-4B41-B441-9185E535CF94}">
          <p14:sldIdLst>
            <p14:sldId id="256"/>
          </p14:sldIdLst>
        </p14:section>
        <p14:section name="목차/간지" id="{17576DB7-0DB2-4FD3-B50E-9DE209D1F52D}">
          <p14:sldIdLst>
            <p14:sldId id="257"/>
            <p14:sldId id="258"/>
          </p14:sldIdLst>
        </p14:section>
        <p14:section name="본문" id="{A213B285-4DD1-4C1D-A27B-633F1C9F1121}">
          <p14:sldIdLst>
            <p14:sldId id="283"/>
            <p14:sldId id="291"/>
            <p14:sldId id="282"/>
            <p14:sldId id="290"/>
            <p14:sldId id="281"/>
            <p14:sldId id="285"/>
            <p14:sldId id="293"/>
            <p14:sldId id="292"/>
            <p14:sldId id="289"/>
            <p14:sldId id="311"/>
            <p14:sldId id="310"/>
            <p14:sldId id="312"/>
            <p14:sldId id="267"/>
            <p14:sldId id="270"/>
            <p14:sldId id="284"/>
            <p14:sldId id="294"/>
            <p14:sldId id="261"/>
            <p14:sldId id="275"/>
            <p14:sldId id="299"/>
            <p14:sldId id="300"/>
            <p14:sldId id="295"/>
            <p14:sldId id="298"/>
            <p14:sldId id="304"/>
            <p14:sldId id="308"/>
            <p14:sldId id="297"/>
            <p14:sldId id="269"/>
            <p14:sldId id="272"/>
            <p14:sldId id="286"/>
            <p14:sldId id="287"/>
            <p14:sldId id="301"/>
            <p14:sldId id="262"/>
            <p14:sldId id="263"/>
            <p14:sldId id="307"/>
            <p14:sldId id="305"/>
            <p14:sldId id="260"/>
            <p14:sldId id="276"/>
            <p14:sldId id="302"/>
            <p14:sldId id="317"/>
            <p14:sldId id="309"/>
            <p14:sldId id="277"/>
          </p14:sldIdLst>
        </p14:section>
        <p14:section name="마무리" id="{62DC044E-9886-4F21-AC6A-E8799B9F72A4}">
          <p14:sldIdLst>
            <p14:sldId id="313"/>
            <p14:sldId id="315"/>
            <p14:sldId id="31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1419AB"/>
    <a:srgbClr val="363AB9"/>
    <a:srgbClr val="D9D9D9"/>
    <a:srgbClr val="B0B2E9"/>
    <a:srgbClr val="7B7ED4"/>
    <a:srgbClr val="0C0E68"/>
    <a:srgbClr val="7377D1"/>
    <a:srgbClr val="3C41E6"/>
    <a:srgbClr val="393E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73" autoAdjust="0"/>
    <p:restoredTop sz="94660"/>
  </p:normalViewPr>
  <p:slideViewPr>
    <p:cSldViewPr snapToGrid="0">
      <p:cViewPr>
        <p:scale>
          <a:sx n="75" d="100"/>
          <a:sy n="75" d="100"/>
        </p:scale>
        <p:origin x="19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50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1" Type="http://schemas.openxmlformats.org/officeDocument/2006/relationships/slide" Target="slides/slide9.xml"/><Relationship Id="rId37" Type="http://schemas.openxmlformats.org/officeDocument/2006/relationships/slide" Target="slides/slide35.xml"/><Relationship Id="rId49" Type="http://schemas.openxmlformats.org/officeDocument/2006/relationships/presProps" Target="presProps.xml"/><Relationship Id="rId31" Type="http://schemas.openxmlformats.org/officeDocument/2006/relationships/slide" Target="slides/slide29.xml"/><Relationship Id="rId52" Type="http://schemas.openxmlformats.org/officeDocument/2006/relationships/tableStyles" Target="tableStyles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1" Type="http://schemas.openxmlformats.org/officeDocument/2006/relationships/slideMaster" Target="slideMasters/slideMaster1.xml"/></Relationship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8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7373257" y="0"/>
            <a:ext cx="481874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9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8024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51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514412" y="570139"/>
            <a:ext cx="10515600" cy="35696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>
                    <a:lumMod val="6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lang="ko-KR" altLang="en-US" dirty="0" smtClean="0"/>
              <a:t>제안서 제목을 작성해주세요</a:t>
            </a:r>
            <a:endParaRPr lang="ko-KR" altLang="en-US" dirty="0"/>
          </a:p>
        </p:txBody>
      </p:sp>
      <p:sp>
        <p:nvSpPr>
          <p:cNvPr id="3" name="TextBox 2"/>
          <p:cNvSpPr txBox="1"/>
          <p:nvPr userDrawn="1"/>
        </p:nvSpPr>
        <p:spPr>
          <a:xfrm>
            <a:off x="603312" y="1286198"/>
            <a:ext cx="3248226" cy="71004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ts val="4064"/>
              </a:lnSpc>
            </a:pPr>
            <a:r>
              <a:rPr lang="en-US" altLang="ko-KR" sz="4800" dirty="0" smtClean="0">
                <a:solidFill>
                  <a:srgbClr val="171CAC"/>
                </a:solidFill>
                <a:latin typeface="Pretendard ExtraBold" panose="02000903000000020004" pitchFamily="2" charset="-127"/>
                <a:ea typeface="Pretendard ExtraBold" panose="02000903000000020004" pitchFamily="2" charset="-127"/>
                <a:cs typeface="Pretendard ExtraBold" panose="02000903000000020004" pitchFamily="2" charset="-127"/>
              </a:rPr>
              <a:t>Index.</a:t>
            </a:r>
            <a:endParaRPr lang="en-US" altLang="ko-KR" sz="4800" dirty="0">
              <a:solidFill>
                <a:srgbClr val="171CAC"/>
              </a:solidFill>
              <a:latin typeface="Pretendard ExtraBold" panose="02000903000000020004" pitchFamily="2" charset="-127"/>
              <a:ea typeface="Pretendard ExtraBold" panose="02000903000000020004" pitchFamily="2" charset="-127"/>
              <a:cs typeface="Pretendard ExtraBold" panose="020009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299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443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2654300" y="776865"/>
            <a:ext cx="9537700" cy="6081135"/>
          </a:xfrm>
          <a:prstGeom prst="rect">
            <a:avLst/>
          </a:prstGeom>
          <a:solidFill>
            <a:srgbClr val="0C0E68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045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1625600"/>
            <a:ext cx="12192000" cy="523239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69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2076450"/>
            <a:ext cx="12192000" cy="4781549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33" y="6386286"/>
            <a:ext cx="856325" cy="21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564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/>
          <p:cNvSpPr/>
          <p:nvPr userDrawn="1"/>
        </p:nvSpPr>
        <p:spPr>
          <a:xfrm>
            <a:off x="0" y="0"/>
            <a:ext cx="12192000" cy="5372100"/>
          </a:xfrm>
          <a:prstGeom prst="rect">
            <a:avLst/>
          </a:prstGeom>
          <a:solidFill>
            <a:srgbClr val="171CAC"/>
          </a:solidFill>
          <a:ln/>
        </p:spPr>
      </p:sp>
      <p:sp>
        <p:nvSpPr>
          <p:cNvPr id="10" name="TextBox 9"/>
          <p:cNvSpPr txBox="1"/>
          <p:nvPr userDrawn="1"/>
        </p:nvSpPr>
        <p:spPr>
          <a:xfrm>
            <a:off x="10208332" y="225458"/>
            <a:ext cx="1620993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defRPr/>
            </a:pPr>
            <a:fld id="{D4D3CB94-2040-454F-8FC0-96221EAF3B89}" type="slidenum">
              <a:rPr lang="en-US" altLang="ko-KR" sz="10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pPr algn="r">
                <a:defRPr/>
              </a:p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제목 1"/>
          <p:cNvSpPr>
            <a:spLocks noGrp="1"/>
          </p:cNvSpPr>
          <p:nvPr>
            <p:ph type="title" hasCustomPrompt="1"/>
          </p:nvPr>
        </p:nvSpPr>
        <p:spPr>
          <a:xfrm>
            <a:off x="344232" y="225866"/>
            <a:ext cx="1557593" cy="228225"/>
          </a:xfrm>
          <a:prstGeom prst="rect">
            <a:avLst/>
          </a:prstGeom>
        </p:spPr>
        <p:txBody>
          <a:bodyPr/>
          <a:lstStyle>
            <a:lvl1pPr>
              <a:defRPr sz="1050" baseline="0">
                <a:solidFill>
                  <a:schemeClr val="bg1">
                    <a:lumMod val="95000"/>
                  </a:schemeClr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 xml:space="preserve">PPT </a:t>
            </a:r>
            <a:r>
              <a:rPr lang="ko-KR" altLang="en-US" dirty="0" err="1" smtClean="0"/>
              <a:t>대제목</a:t>
            </a:r>
            <a:endParaRPr lang="ko-KR" altLang="en-US" dirty="0"/>
          </a:p>
        </p:txBody>
      </p:sp>
      <p:sp>
        <p:nvSpPr>
          <p:cNvPr id="16" name="내용 개체 틀 15"/>
          <p:cNvSpPr>
            <a:spLocks noGrp="1"/>
          </p:cNvSpPr>
          <p:nvPr>
            <p:ph sz="quarter" idx="10" hasCustomPrompt="1"/>
          </p:nvPr>
        </p:nvSpPr>
        <p:spPr>
          <a:xfrm>
            <a:off x="2595441" y="225458"/>
            <a:ext cx="3017960" cy="254000"/>
          </a:xfrm>
          <a:prstGeom prst="rect">
            <a:avLst/>
          </a:prstGeom>
        </p:spPr>
        <p:txBody>
          <a:bodyPr/>
          <a:lstStyle>
            <a:lvl1pPr>
              <a:defRPr sz="1050">
                <a:solidFill>
                  <a:schemeClr val="bg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</a:lstStyle>
          <a:p>
            <a:pPr lvl="0"/>
            <a:r>
              <a:rPr lang="en-US" altLang="ko-KR" dirty="0" smtClean="0"/>
              <a:t xml:space="preserve">01 Contents </a:t>
            </a:r>
            <a:endParaRPr lang="ko-KR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450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231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683812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_rels/slideMaster2.xml.rels><?xml version="1.0" encoding="UTF-8"?>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1842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3" r:id="rId3"/>
    <p:sldLayoutId id="2147483659" r:id="rId4"/>
    <p:sldLayoutId id="2147483655" r:id="rId5"/>
    <p:sldLayoutId id="2147483660" r:id="rId6"/>
    <p:sldLayoutId id="2147483656" r:id="rId7"/>
    <p:sldLayoutId id="2147483658" r:id="rId8"/>
    <p:sldLayoutId id="2147483661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?>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6.xml.rels><?xml version="1.0" encoding="UTF-8"?>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slide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7601247" y="4975384"/>
            <ns1:ext cx="1542754" cy="258144"/>
          </ns1:xfrm>
          <ns1:prstGeom prst="rect">
            <ns1:avLst/>
          </ns1:prstGeom>
        </ns0:spPr>
      </ns0:pic>
      <ns0:sp>
        <ns0:nvSpPr>
          <ns0:cNvPr id="6" name="Text 1"/>
          <ns0:cNvSpPr/>
          <ns0:nvPr/>
        </ns0:nvSpPr>
        <ns0:spPr>
          <ns1:xfrm>
            <ns1:off x="603311" y="2164417"/>
            <ns1:ext cx="10274239" cy="406400"/>
          </ns1:xfrm>
          <ns1:prstGeom prst="rect">
            <ns1:avLst/>
          </ns1:prstGeom>
          <ns1:noFill/>
          <ns1:ln/>
        </ns0:spPr>
        <ns0:txBody>
          <ns1:bodyPr wrap="none" lIns="0" tIns="0" rIns="0" bIns="0" rtlCol="0" anchor="ctr">
            <ns1:noAutofit/>
          </ns1:bodyPr>
          <ns1:lstStyle/>
          <ns1:p>
            <ns1:pPr>
              <ns1:lnSpc>
                <ns1:spcPct val="100000"/>
              </ns1:lnSpc>
            </ns1:pPr>
            <ns1:r>
              <ns1:rPr lang="ko-KR" sz="3200" dirty="0" altLang="en-US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아키텍처·파이프라인·엔터프라이즈 도입 전략</ns1:t>
            </ns1:r>
          </ns1:p>
        </ns0:txBody>
      </ns0:sp>
      <ns0:sp>
        <ns0:nvSpPr>
          <ns0:cNvPr id="7" name="Text 2"/>
          <ns0:cNvSpPr/>
          <ns0:nvPr/>
        </ns0:nvSpPr>
        <ns0:spPr>
          <ns1:xfrm>
            <ns1:off x="7601245" y="5688832"/>
            <ns1:ext cx="3833891" cy="744664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buNone/>
            </ns1:pPr>
            <ns1:r>
              <ns1:rPr lang="en-US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 xml:space="preserve">AI, Cloud, BigData, CDN, Contact Center, 스마트 </ns1:t>
            </ns1:r>
            <ns1:r>
              <ns1:rPr lang="en-US" sz="1200" dirty="0" err="1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물류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,</ns1:t>
            </ns1:r>
          </ns1:p>
          <ns1:p>
            <ns1:pPr marL="0" indent="0" algn="l">
              <ns1:buNone/>
            </ns1:pPr>
            <ns1:r>
              <ns1:rPr lang="en-US" sz="1200" dirty="0" err="1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스마트</ns1:t>
            </ns1:r>
            <ns1:r>
              <ns1:rPr lang="en-US" sz="1200" dirty="0" smtClean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 xml:space="preserve"> </ns1:t>
            </ns1:r>
            <ns1:r>
              <ns1:rPr lang="en-US" sz="1200" dirty="0">
                <ns1:solidFill>
                  <ns1:schemeClr val="bg1"/>
                </ns1:solidFill>
                <ns1:latin typeface="Pretendard" pitchFamily="34" charset="0"/>
                <ns1:ea typeface="Pretendard" pitchFamily="34" charset="-122"/>
                <ns1:cs typeface="Pretendard" pitchFamily="34" charset="-120"/>
              </ns1:rPr>
              <ns1:t>인프라 등 다양한 영역에서 고객의 Business를 선도하는 Digital Innovator입니다.</ns1:t>
            </ns1:r>
            <ns1:endParaRPr lang="en-US" sz="1200" dirty="0">
              <ns1:solidFill>
                <ns1:schemeClr val="bg1"/>
              </ns1:solidFill>
            </ns1:endParaRPr>
          </ns1:p>
        </ns0:txBody>
      </ns0:sp>
      <ns0:sp>
        <ns0:nvSpPr>
          <ns0:cNvPr id="8" name="Text 3"/>
          <ns0:cNvSpPr/>
          <ns0:nvPr/>
        </ns0:nvSpPr>
        <ns0:spPr>
          <ns1:xfrm>
            <ns1:off x="7601247" y="541866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sz="1400" b="1" dirty="0">
                <ns1:solidFill>
                  <ns1:schemeClr val="bg1"/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Drive Neo Technology</ns1:t>
            </ns1:r>
            <ns1:endParaRPr lang="en-US" sz="1400" dirty="0">
              <ns1:solidFill>
                <ns1:schemeClr val="bg1"/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cxnSp>
        <ns0:nvCxnSpPr>
          <ns0:cNvPr id="10" name="직선 연결선 9"/>
          <ns0:cNvCxnSpPr/>
          <ns0:nvPr/>
        </ns0:nvCxnSpPr>
        <ns0:spPr>
          <ns1:xfrm>
            <ns1:off x="7275314" y="4944583"/>
            <ns1:ext cx="0" cy="1488913"/>
          </ns1:xfrm>
          <ns1:prstGeom prst="line">
            <ns1:avLst/>
          </ns1:prstGeom>
          <ns1:ln>
            <ns1:solidFill>
              <ns1:schemeClr val="bg1">
                <ns1:alpha val="50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12" name="TextBox 11"/>
          <ns0:cNvSpPr txBox="1"/>
          <ns0:nvPr/>
        </ns0:nvSpPr>
        <ns0:spPr>
          <ns1:xfrm>
            <ns1:off x="603311" y="1310977"/>
            <ns1:ext cx="10274239" cy="609600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rmAutofit/>
          </ns1:bodyPr>
          <ns1:lstStyle/>
          <ns1:p>
            <ns1:pPr>
              <ns1:lnSpc>
                <ns1:spcPct val="100000"/>
              </ns1:lnSpc>
            </ns1:pPr>
            <ns1:r>
              <ns1:rPr lang="ko-KR" altLang="en-US" sz="4800" b="1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머신러닝 심층 기술 가이드</ns1:t>
            </ns1:r>
          </ns1:p>
        </ns0:txBody>
      </ns0:sp>
      <ns0:sp>
        <ns0:nvSpPr>
          <ns0:cNvPr id="15" name="Text 1"/>
          <ns0:cNvSpPr/>
          <ns0:nvPr/>
        </ns0:nvSpPr>
        <ns0:spPr>
          <ns1:xfrm>
            <ns1:off x="603311" y="664962"/>
            <ns1:ext cx="3689289" cy="34121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/>
            <ns1:r>
              <ns1:rPr lang="ko-KR" dirty="0" smtClean="0" altLang="en-US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2026.06</ns1:t>
            </ns1:r>
          </ns1:p>
        </ns0:txBody>
      </ns0:sp>
    </ns0:spTree>
    <ns0:extLst>
      <ns0:ext uri="{BB962C8B-B14F-4D97-AF65-F5344CB8AC3E}">
        <ns3:creationId val="2009827017"/>
      </ns0:ext>
    </ns0:extLst>
  </ns0:cSld>
  <ns0:clrMapOvr>
    <ns1:masterClrMapping/>
  </ns0:clrMapOvr>
</ns0:sld>
</file>

<file path=ppt/slides/slide7.xml><?xml version="1.0" encoding="utf-8"?>
<sld xmlns="http://schemas.openxmlformats.org/presentationml/2006/main" xmlns:ns1="http://schemas.openxmlformats.org/drawingml/2006/main" xmlns:ns2="http://schemas.microsoft.com/office/powerpoint/2010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  <sp>
        <nvSpPr>
          <cNvPr id="10" name="Text 3"/>
          <cNvSpPr/>
          <nvPr/>
        </nvSpPr>
        <spPr>
          <ns1:xfrm>
            <ns1:off x="4541178" y="1574452"/>
            <ns1:ext cx="6790297" cy="4483232"/>
          </ns1:xfrm>
          <ns1:prstGeom prst="rect">
            <ns1:avLst/>
          </ns1:prstGeom>
          <ns1:noFill/>
          <ns1:ln/>
        </spPr>
        <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err="1" smtClean="0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ML 기술 기반</ns1:t>
            </ns1:r>
            <ns1:endParaRPr lang="en-US" sz="3000" dirty="0" smtClean="0">
              <ns1:solidFill>
                <ns1:schemeClr val="tx1">
                  <ns1:lumMod val="95000"/>
                  <ns1:lumOff val="5000"/>
                  <ns1:alpha val="99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ML 파이프라인 &amp; 방법론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엔터프라이즈 도입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GS Neotek ML 서비스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err="1">
                <ns1:solidFill>
                  <ns1:schemeClr val="tx1">
                    <ns1:lumMod val="95000"/>
                    <ns1:lumOff val="5000"/>
                    <ns1:alpha val="99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</ns1:p>
        </txBody>
      </sp>
      <sp>
        <nvSpPr>
          <cNvPr id="11" name="Text 3"/>
          <cNvSpPr/>
          <nvPr/>
        </nvSpPr>
        <spPr>
          <ns1:xfrm>
            <ns1:off x="3851538" y="1574452"/>
            <ns1:ext cx="536801" cy="4483232"/>
          </ns1:xfrm>
          <ns1:prstGeom prst="rect">
            <ns1:avLst/>
          </ns1:prstGeom>
          <ns1:noFill/>
          <ns1:ln/>
        </spPr>
        <txBody>
          <ns1:bodyPr wrap="square" lIns="0" tIns="0" rIns="0" bIns="0" rtlCol="0" anchor="ctr"/>
          <ns1:lstStyle/>
          <ns1:p>
            <ns1:pPr marL="0" indent="0">
              <ns1:lnSpc>
                <ns1:spcPct val="150000"/>
              </ns1:lnSpc>
              <ns1:buNone/>
            </ns1:pPr>
            <ns1:r>
              <ns1:rPr 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1.</ns1:t>
            </ns1: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2.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3.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</ns1:t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  <ns1:p>
            <ns1:pPr>
              <ns1:lnSpc>
                <ns1:spcPct val="150000"/>
              </ns1:lnSpc>
            </ns1:pPr>
            <ns1:r>
              <ns1:rPr lang="ko-KR" altLang="ko-KR" sz="3000" dirty="0" smtClean="0">
                <ns1:solidFill>
                  <ns1:schemeClr val="bg2">
                    <ns1:lumMod val="7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sz="3000" dirty="0">
              <ns1:solidFill>
                <ns1:schemeClr val="bg2">
                  <ns1:lumMod val="7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txBody>
      </sp>
      <cxnSp>
        <nvCxnSpPr>
          <cNvPr id="12" name="직선 연결선 11"/>
          <cNvCxnSpPr/>
          <nvPr/>
        </nvCxnSpPr>
        <spPr>
          <ns1:xfrm>
            <ns1:off x="8627378" y="2005776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13" name="직선 연결선 12"/>
          <cNvCxnSpPr/>
          <nvPr/>
        </nvCxnSpPr>
        <spPr>
          <ns1:xfrm>
            <ns1:off x="8627378" y="2680450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37" name="직선 연결선 36"/>
          <cNvCxnSpPr/>
          <nvPr/>
        </nvCxnSpPr>
        <spPr>
          <ns1:xfrm>
            <ns1:off x="8627378" y="3355124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38" name="직선 연결선 37"/>
          <cNvCxnSpPr/>
          <nvPr/>
        </nvCxnSpPr>
        <spPr>
          <ns1:xfrm>
            <ns1:off x="8627378" y="4029798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10000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39" name="직선 연결선 38"/>
          <cNvCxnSpPr/>
          <nvPr/>
        </nvCxnSpPr>
        <spPr>
          <ns1:xfrm>
            <ns1:off x="8627378" y="4704472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40" name="직선 연결선 39"/>
          <cNvCxnSpPr/>
          <nvPr/>
        </nvCxnSpPr>
        <spPr>
          <ns1:xfrm>
            <ns1:off x="8627378" y="5379146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cxnSp>
        <nvCxnSpPr>
          <cNvPr id="41" name="직선 연결선 40"/>
          <cNvCxnSpPr/>
          <nvPr/>
        </nvCxnSpPr>
        <spPr>
          <ns1:xfrm>
            <ns1:off x="8627378" y="6053819"/>
            <ns1:ext cx="3564622" cy="0"/>
          </ns1:xfrm>
          <ns1:prstGeom prst="line">
            <ns1:avLst/>
          </ns1:prstGeom>
          <ns1:ln>
            <ns1:solidFill>
              <ns1:schemeClr val="bg2">
                <ns1:lumMod val="90000"/>
                <ns1:alpha val="0"/>
              </ns1:schemeClr>
            </ns1:solidFill>
          </ns1:ln>
        </spPr>
        <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style>
      </cxnSp>
      <sp>
        <nvSpPr>
          <cNvPr id="42" name="제목 41"/>
          <cNvSpPr>
            <ns1:spLocks noGrp="1"/>
          </cNvSpPr>
          <nvPr>
            <ph type="title"/>
          </nvPr>
        </nvSpPr>
        <spPr>
          <ns1:prstGeom prst="rect">
            <ns1:avLst/>
          </ns1:prstGeom>
        </spPr>
        <txBody>
          <ns1:bodyPr/>
          <ns1:lstStyle/>
          <ns1:p>
            <ns1:r>
              <ns1:rPr lang="ko-KR" altLang="ko-KR" dirty="0"/>
              <ns1:t>머신러닝 심층 기술 가이드</ns1:t>
            </ns1:r>
            <ns1:endParaRPr lang="ko-KR" altLang="en-US" dirty="0"/>
          </ns1:p>
        </txBody>
      </sp>
      <sp>
        <nvSpPr>
          <cNvPr id="14" name="Text 3"/>
          <cNvSpPr/>
          <nvPr/>
        </nvSpPr>
        <spPr>
          <ns1:xfrm>
            <ns1:off x="11431475" y="974723"/>
            <ns1:ext cx="760525" cy="5411564"/>
          </ns1:xfrm>
          <ns1:prstGeom prst="rect">
            <ns1:avLst/>
          </ns1:prstGeom>
          <ns1:noFill/>
          <ns1:ln/>
        </spPr>
        <txBody>
          <ns1:bodyPr wrap="square" lIns="0" tIns="0" rIns="0" bIns="0" rtlCol="0" anchor="ctr"/>
          <ns1:lstStyle/>
          <ns1:p>
            <ns1:pPr marL="0" indent="0">
              <ns1:lnSpc>
                <ns1:spcPct val="310000"/>
              </ns1:lnSpc>
              <ns1:buNone/>
            </ns1:pPr>
            <ns1:r>
              <ns1:rPr 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03</ns1:t>
            </ns1: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05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06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10</ns1:t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pPr>
              <ns1:lnSpc>
                <ns1:spcPct val="310000"/>
              </ns1:lnSpc>
            </ns1:pPr>
            <ns1:r>
              <ns1:rPr lang="ko-KR" altLang="ko-KR" sz="1400" dirty="0" smtClean="0">
                <ns1:solidFill>
                  <ns1:schemeClr val="bg2">
                    <ns1:lumMod val="7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400" dirty="0">
              <ns1:solidFill>
                <ns1:schemeClr val="bg2">
                  <ns1:lumMod val="7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txBody>
      </sp>
    </spTree>
    <extLst>
      <ext uri="{BB962C8B-B14F-4D97-AF65-F5344CB8AC3E}">
        <ns2:creationId val="2918603763"/>
      </ext>
    </extLst>
  </cSld>
  <clrMapOvr>
    <ns1:masterClrMapping/>
  </clrMapOvr>
</sld>
</file>

<file path=ppt/slides/slide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ML 파이프라인 &amp; 방법론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03 데이터 파이프라인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2.1. ML 데이터 파이프라인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고품질 학습 데이터 확보를 위한 3단계 처리 체계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53532" y="5217946"/>
            <a:ext cx="3029540" cy="1345038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Kafka·Spark 기반 실시간 스트림 수집. Feature Store 중앙화 관리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데이터 수집·통합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5912288" y="5217946"/>
            <a:ext cx="3029540" cy="1345038"/>
            <a:chOff x="2844950" y="5202168"/>
            <a:chExt cx="2844657" cy="1345038"/>
          </a:xfrm>
        </p:grpSpPr>
        <p:sp>
          <p:nvSpPr>
            <p:cNvPr id="42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결측치 처리·스케일링·임베딩. DVC·MLflow 버전 추적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전처리·피처 엔지니어링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9087724" y="5217946"/>
            <a:ext cx="3029540" cy="1345038"/>
            <a:chOff x="2844950" y="5202168"/>
            <a:chExt cx="2844657" cy="1345038"/>
          </a:xfrm>
        </p:grpSpPr>
        <p:sp>
          <p:nvSpPr>
            <p:cNvPr id="4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Great Expectations 검증. 데이터 품질 대시보드 운영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품질 검증·버전관리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" name="직선 연결선 3"/>
          <p:cNvCxnSpPr/>
          <p:nvPr/>
        </p:nvCxnSpPr>
        <p:spPr>
          <a:xfrm>
            <a:off x="5808610" y="6045200"/>
            <a:ext cx="0" cy="812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9021779" y="6045200"/>
            <a:ext cx="0" cy="8128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662116" y="780495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Kafka→Spark→Feature Store 데이터 수집 아키텍처]</a:t>
            </a:r>
            <a:endParaRPr lang="ko-KR" sz="1100" dirty="0"/>
          </a:p>
        </p:txBody>
      </p:sp>
      <p:sp>
        <p:nvSpPr>
          <p:cNvPr id="25" name="직사각형 24"/>
          <p:cNvSpPr/>
          <p:nvPr/>
        </p:nvSpPr>
        <p:spPr>
          <a:xfrm>
            <a:off x="9071043" y="780482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Great Expectations 데이터 품질 검증 대시보드]</a:t>
            </a:r>
            <a:endParaRPr lang="ko-KR" sz="1100" dirty="0"/>
          </a:p>
        </p:txBody>
      </p:sp>
      <p:sp>
        <p:nvSpPr>
          <p:cNvPr id="31" name="직사각형 30"/>
          <p:cNvSpPr/>
          <p:nvPr/>
        </p:nvSpPr>
        <p:spPr>
          <a:xfrm>
            <a:off x="5866579" y="788113"/>
            <a:ext cx="3120956" cy="4007418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피처 엔지니어링 파이프라인 흐름도]</a:t>
            </a:r>
            <a:endParaRPr lang="ko-KR" sz="1100" dirty="0"/>
          </a:p>
        </p:txBody>
      </p:sp>
      <p:sp>
        <p:nvSpPr>
          <p:cNvPr id="32" name="직각 삼각형 31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각 삼각형 33"/>
          <p:cNvSpPr/>
          <p:nvPr/>
        </p:nvSpPr>
        <p:spPr>
          <a:xfrm rot="5400000">
            <a:off x="5850083" y="787779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각 삼각형 34"/>
          <p:cNvSpPr/>
          <p:nvPr/>
        </p:nvSpPr>
        <p:spPr>
          <a:xfrm rot="5400000">
            <a:off x="9071378" y="787780"/>
            <a:ext cx="293926" cy="294595"/>
          </a:xfrm>
          <a:prstGeom prst="rtTriangle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ns2:creationId val="3270618248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직선 연결선 24"/>
          <p:cNvCxnSpPr/>
          <p:nvPr/>
        </p:nvCxnSpPr>
        <p:spPr>
          <a:xfrm>
            <a:off x="5808610" y="5084067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9021779" y="5084067"/>
            <a:ext cx="0" cy="116433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그룹 40"/>
          <p:cNvGrpSpPr/>
          <p:nvPr/>
        </p:nvGrpSpPr>
        <p:grpSpPr>
          <a:xfrm>
            <a:off x="5912288" y="4418753"/>
            <a:ext cx="3029540" cy="1241820"/>
            <a:chOff x="2844950" y="5202168"/>
            <a:chExt cx="2844657" cy="1345038"/>
          </a:xfrm>
        </p:grpSpPr>
        <p:sp>
          <p:nvSpPr>
            <p:cNvPr id="42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동적 그래프·디버깅 용이. 연구·실험 최적화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4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PyTorch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ML 파이프라인 &amp; 방법론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05 프레임워크 선택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2.3. 프레임워크 비교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PyTorch·TensorFlow·JAX 시나리오별 선택 기준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62116" y="780495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PyTorch Stars 트렌드]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753532" y="4418753"/>
            <a:ext cx="3029540" cy="1241820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TF Serving·TFLite 엣지·모바일 배포 강점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TensorFlow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9087724" y="4418753"/>
            <a:ext cx="3029540" cy="1241820"/>
            <a:chOff x="2844950" y="5202168"/>
            <a:chExt cx="2844657" cy="1345038"/>
          </a:xfrm>
        </p:grpSpPr>
        <p:sp>
          <p:nvSpPr>
            <p:cNvPr id="4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XLA 컴파일·TPU 최적화 대규모 분산 학습</a:t>
              </a:r>
            </a:p>
            <a:p>
              <a:pPr algn="ct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pPr algn="ctr"/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JAX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23" name="직사각형 22"/>
          <p:cNvSpPr/>
          <p:nvPr/>
        </p:nvSpPr>
        <p:spPr>
          <a:xfrm>
            <a:off x="9071043" y="780482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JAX 벤치마크 비교]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866579" y="788113"/>
            <a:ext cx="3120956" cy="3460037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TF Serving 추론 아키텍처]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8" name="직각 삼각형 27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각 삼각형 28"/>
          <p:cNvSpPr/>
          <p:nvPr/>
        </p:nvSpPr>
        <p:spPr>
          <a:xfrm rot="5400000">
            <a:off x="5850083" y="787779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각 삼각형 29"/>
          <p:cNvSpPr/>
          <p:nvPr/>
        </p:nvSpPr>
        <p:spPr>
          <a:xfrm rot="5400000">
            <a:off x="9071378" y="787780"/>
            <a:ext cx="293926" cy="294595"/>
          </a:xfrm>
          <a:prstGeom prst="rtTriangle">
            <a:avLst/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2658154" y="5825929"/>
            <a:ext cx="9533846" cy="1032072"/>
          </a:xfrm>
          <a:prstGeom prst="roundRect">
            <a:avLst>
              <a:gd name="adj" fmla="val 0"/>
            </a:avLst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연구→PyTorch / 프로덕션→TensorFlow / 대규모 분산→JAX</a:t>
            </a:r>
          </a:p>
        </p:txBody>
      </p:sp>
      <p:sp>
        <p:nvSpPr>
          <p:cNvPr id="3" name="갈매기형 수장 2"/>
          <p:cNvSpPr/>
          <p:nvPr/>
        </p:nvSpPr>
        <p:spPr>
          <a:xfrm rot="5400000">
            <a:off x="7363194" y="5890761"/>
            <a:ext cx="123766" cy="273502"/>
          </a:xfrm>
          <a:prstGeom prst="chevron">
            <a:avLst>
              <a:gd name="adj" fmla="val 59417"/>
            </a:avLst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ns2:creationId val="3287227565"/>
      </p:ext>
    </p:extLst>
  </p:cSld>
  <p:clrMapOvr>
    <a:masterClrMapping/>
  </p:clrMapOvr>
</p:sld>
</file>

<file path=ppt/slides/slide1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엔터프라이즈 도입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07 ML Ops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82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3.2. ML Ops &amp; 모니터링</a:t>
            </a:r>
          </a:p>
          <a:p>
            <a:r>
              <a:rPr lang="ko-KR" altLang="en-US" dirty="0" smtClean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 생애주기 전반 자동화 운영 플랫폼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8546784" y="1018606"/>
            <a:ext cx="3029540" cy="1345038"/>
            <a:chOff x="2844950" y="5202168"/>
            <a:chExt cx="2844657" cy="1345038"/>
          </a:xfrm>
        </p:grpSpPr>
        <p:sp>
          <p:nvSpPr>
            <p:cNvPr id="27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GitHub Actions+Kubeflow. 코드 변경 시 자동 재학습·검증·배포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3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CI/CD 파이프라인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cxnSp>
        <p:nvCxnSpPr>
          <p:cNvPr id="4" name="직선 연결선 3"/>
          <p:cNvCxnSpPr/>
          <p:nvPr/>
        </p:nvCxnSpPr>
        <p:spPr>
          <a:xfrm flipH="1">
            <a:off x="8546784" y="2786973"/>
            <a:ext cx="3645217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2658154" y="777929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ML CI/CD 자동화 파이프라인]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2658154" y="2864336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모델 성능 모니터링 대시보드]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2658154" y="4950744"/>
            <a:ext cx="5457146" cy="1942978"/>
          </a:xfrm>
          <a:prstGeom prst="rect">
            <a:avLst/>
          </a:prstGeom>
          <a:solidFill>
            <a:schemeClr val="bg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데이터 드리프트 감지 시스템]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30" name="직선 연결선 29"/>
          <p:cNvCxnSpPr/>
          <p:nvPr/>
        </p:nvCxnSpPr>
        <p:spPr>
          <a:xfrm flipH="1">
            <a:off x="8546784" y="4851671"/>
            <a:ext cx="3645216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/>
          <p:cNvGrpSpPr/>
          <p:nvPr/>
        </p:nvGrpSpPr>
        <p:grpSpPr>
          <a:xfrm>
            <a:off x="8546784" y="3083303"/>
            <a:ext cx="3029540" cy="1345038"/>
            <a:chOff x="2844950" y="5202168"/>
            <a:chExt cx="2844657" cy="1345038"/>
          </a:xfrm>
        </p:grpSpPr>
        <p:sp>
          <p:nvSpPr>
            <p:cNvPr id="36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Prometheus·Grafana 기반 레이턴시·처리량·에러율 트래킹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37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실시간 모니터링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8546784" y="5148000"/>
            <a:ext cx="3029540" cy="1345038"/>
            <a:chOff x="2844950" y="5202168"/>
            <a:chExt cx="2844657" cy="1345038"/>
          </a:xfrm>
        </p:grpSpPr>
        <p:sp>
          <p:nvSpPr>
            <p:cNvPr id="39" name="Text 1"/>
            <p:cNvSpPr/>
            <p:nvPr/>
          </p:nvSpPr>
          <p:spPr>
            <a:xfrm>
              <a:off x="2844950" y="5677890"/>
              <a:ext cx="2844657" cy="8693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ko-KR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Evidently AI 데이터 분포 변화 감지. PSI·KL-Divergence 알람</a:t>
              </a:r>
            </a:p>
            <a:p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sz="12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/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  <a:p>
              <a:endPara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endParaRPr>
            </a:p>
          </p:txBody>
        </p:sp>
        <p:sp>
          <p:nvSpPr>
            <p:cNvPr id="40" name="Text 1"/>
            <p:cNvSpPr/>
            <p:nvPr/>
          </p:nvSpPr>
          <p:spPr>
            <a:xfrm>
              <a:off x="2844950" y="5202168"/>
              <a:ext cx="2844657" cy="3854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ts val="2153"/>
                </a:lnSpc>
              </a:pPr>
              <a:r>
                <a:rPr lang="ko-KR" altLang="ko-KR" sz="1400" dirty="0" smtClean="0">
                  <a:solidFill>
                    <a:srgbClr val="3C41E6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드리프트 감지</a:t>
              </a:r>
              <a:endParaRPr lang="en-US" sz="1400" dirty="0">
                <a:solidFill>
                  <a:srgbClr val="3C41E6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</p:grpSp>
      <p:sp>
        <p:nvSpPr>
          <p:cNvPr id="6" name="직각 삼각형 5"/>
          <p:cNvSpPr/>
          <p:nvPr/>
        </p:nvSpPr>
        <p:spPr>
          <a:xfrm rot="5400000">
            <a:off x="2658489" y="780159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각 삼각형 49"/>
          <p:cNvSpPr/>
          <p:nvPr/>
        </p:nvSpPr>
        <p:spPr>
          <a:xfrm rot="5400000">
            <a:off x="2658489" y="2864002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각 삼각형 50"/>
          <p:cNvSpPr/>
          <p:nvPr/>
        </p:nvSpPr>
        <p:spPr>
          <a:xfrm rot="5400000">
            <a:off x="2658488" y="4950409"/>
            <a:ext cx="293926" cy="294595"/>
          </a:xfrm>
          <a:prstGeom prst="rtTriangl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ns2:creationId val="3551327650"/>
      </p:ext>
    </p:extLst>
  </p:cSld>
  <p:clrMapOvr>
    <a:masterClrMapping/>
  </p:clrMapOvr>
</p:sld>
</file>

<file path=ppt/slides/slide12.xml><?xml version="1.0" encoding="utf-8"?>
<ns0:sld xmlns:ns0="http://schemas.openxmlformats.org/presentationml/2006/main" xmlns:ns1="http://schemas.openxmlformats.org/drawingml/2006/main" xmlns:ns2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직사각형 20"/>
          <ns0:cNvSpPr/>
          <ns0:nvPr/>
        </ns0:nvSpPr>
        <ns0:spPr>
          <ns1:xfrm>
            <ns1:off x="2661737" y="1633848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E2E ML 자동화 파이프라인]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47" name="직사각형 46"/>
          <ns0:cNvSpPr/>
          <ns0:nvPr/>
        </ns0:nvSpPr>
        <ns0:spPr>
          <ns1:xfrm>
            <ns1:off x="2661737" y="3415476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도메인별 정확도 비교]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48" name="직사각형 47"/>
          <ns0:cNvSpPr/>
          <ns0:nvPr/>
        </ns0:nvSpPr>
        <ns0:spPr>
          <ns1:xfrm>
            <ns1:off x="2661737" y="5197104"/>
            <ns1:ext cx="5075359" cy="1660896"/>
          </ns1:xfrm>
          <ns1:prstGeom prst="rect">
            <ns1:avLst/>
          </ns1:prstGeom>
          <ns1:solidFill>
            <ns1:schemeClr val="bg1">
              <ns1:lumMod val="85000"/>
            </ns1:schemeClr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r>
              <ns1:rPr lang="ko-KR" altLang="en-US" sz="1100" dirty="0">
                <ns1:solidFill>
                  <ns1:srgbClr val="3C41E6"/>
                </ns1:solidFill>
                <ns1:latin typeface="맑은 고딕"/>
                <ns1:ea typeface="맑은 고딕"/>
              </ns1:rPr>
              <ns1:t>[이미지: 보안 아키텍처 레이어]</ns1:t>
            </ns1:r>
            <ns1:endParaRPr lang="ko-KR" altLang="en-US" sz="1200" dirty="0">
              <ns1:solidFill>
                <ns1:schemeClr val="bg1">
                  <ns1:lumMod val="50000"/>
                </ns1:schemeClr>
              </ns1:solidFill>
            </ns1:endParaRPr>
          </ns1:p>
        </ns0:txBody>
      </ns0:sp>
      <ns0:sp>
        <ns0:nvSpPr>
          <ns0:cNvPr id="8" name="제목 7"/>
          <ns0:cNvSpPr>
            <ns1:spLocks noGrp="1"/>
          </ns0:cNvSpPr>
          <ns0:nvPr>
            <ns0:ph type="title"/>
          </ns0:nvPr>
        </ns0:nvSpPr>
        <ns0:spPr/>
        <ns0:txBody>
          <ns1:bodyPr>
            <ns1:normAutofit/>
          </ns1:bodyPr>
          <ns1:lstStyle/>
          <ns1:p>
            <ns1:r>
              <ns1:rPr lang="en-US" altLang="ko-KR" dirty="0" smtClean="0"/>
              <ns1:t>GS Neotek ML 서비스</ns1:t>
            </ns1:r>
            <ns1:endParaRPr lang="ko-KR" altLang="en-US" dirty="0"/>
          </ns1:p>
        </ns0:txBody>
      </ns0:sp>
      <ns0:sp>
        <ns0:nvSpPr>
          <ns0:cNvPr id="9" name="내용 개체 틀 8"/>
          <ns0:cNvSpPr>
            <ns1:spLocks noGrp="1"/>
          </ns0:cNvSpPr>
          <ns0:nvPr>
            <ns0:ph sz="quarter" idx="10"/>
          </ns0:nvPr>
        </ns0:nvSpPr>
        <ns0:spPr/>
        <ns0:txBody>
          <ns1:bodyPr/>
          <ns1:lstStyle/>
          <ns1:p>
            <ns1:r>
              <ns1:t>11 핵심 역량</ns1:t>
            </ns1:r>
          </ns1:p>
        </ns0:txBody>
      </ns0:sp>
      <ns0:sp>
        <ns0:nvSpPr>
          <ns0:cNvPr id="14" name="Text 1"/>
          <ns0:cNvSpPr/>
          <ns0:nvPr/>
        </ns0:nvSpPr>
        <ns0:spPr>
          <ns1:xfrm>
            <ns1:off x="395032" y="780494"/>
            <ns1:ext cx="2200409" cy="457075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en-US" altLang="ko-KR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4.2. 핵심 역량 및 차별화</ns1:t>
            </ns1:r>
          </ns1:p>
          <ns1:p>
            <ns1:r>
              <ns1:rPr lang="ko-KR" altLang="en-US" dirty="0" smtClean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/>
            </ns1:r>
            <ns1:endParaRPr lang="en-US" altLang="ko-KR" dirty="0">
              <ns1:solidFill>
                <ns1:schemeClr val="tx1">
                  <ns1:lumMod val="85000"/>
                  <ns1:lumOff val="15000"/>
                </ns1:schemeClr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17" name="Text 1"/>
          <ns0:cNvSpPr/>
          <ns0:nvPr/>
        </ns0:nvSpPr>
        <ns0:spPr>
          <ns1:xfrm>
            <ns1:off x="395031" y="1627472"/>
            <ns1:ext cx="2200409" cy="923063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r>
              <ns1:rPr lang="ko-KR" altLang="en-US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>GS Neotek ML의 3대 차별화 강점</ns1:t>
            </ns1:r>
          </ns1:p>
          <ns1:p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r>
              <ns1:rPr lang="en-US" altLang="ko-KR" sz="1200" dirty="0" err="1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smtClean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 err="1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r>
              <ns1: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rPr>
              <ns1:t/>
            </ns1:r>
            <ns1:endParaRPr lang="en-US" sz="1200" dirty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  <ns1:p>
            <ns1:endParaRPr lang="en-US" altLang="ko-KR" sz="1200" dirty="0" smtClean="0">
              <ns1:solidFill>
                <ns1:schemeClr val="tx1">
                  <ns1:lumMod val="75000"/>
                  <ns1:lumOff val="25000"/>
                </ns1:schemeClr>
              </ns1:solidFill>
              <ns1:latin typeface="Pretendard" panose="02000503000000020004" pitchFamily="2" charset="-127"/>
              <ns1:ea typeface="Pretendard" panose="02000503000000020004" pitchFamily="2" charset="-127"/>
              <ns1:cs typeface="Pretendard" panose="02000503000000020004" pitchFamily="2" charset="-127"/>
            </ns1:endParaRPr>
          </ns1:p>
        </ns0:txBody>
      </ns0:sp>
      <ns0:grpSp>
        <ns0:nvGrpSpPr>
          <ns0:cNvPr id="2" name="그룹 1"/>
          <ns0:cNvGrpSpPr/>
          <ns0:nvPr/>
        </ns0:nvGrpSpPr>
        <ns0:grpSpPr>
          <ns1:xfrm>
            <ns1:off x="7937183" y="1784034"/>
            <ns1:ext cx="4254817" cy="1162366"/>
            <ns1:chOff x="2844950" y="5202168"/>
            <ns1:chExt cx="4654199" cy="1449259"/>
          </ns1:xfrm>
        </ns0:grpSpPr>
        <ns0:sp>
          <ns0:nvSpPr>
            <ns0:cNvPr id="27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데이터→배포→모니터링 완전 자동화. 수동 개입 최소화로 운영 효율 극대화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33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End-to-End 자동화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sp>
        <ns0:nvSpPr>
          <ns0:cNvPr id="6" name="직각 삼각형 5"/>
          <ns0:cNvSpPr/>
          <ns0:nvPr/>
        </ns0:nvSpPr>
        <ns0:spPr>
          <ns1:xfrm rot="5400000">
            <ns1:off x="2669025" y="1626419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28" name="Text 1"/>
          <ns0:cNvSpPr/>
          <ns0:nvPr/>
        </ns0:nvSpPr>
        <ns0:spPr>
          <ns1:xfrm>
            <ns1:off x="2902908" y="1023545"/>
            <ns1:ext cx="9289092" cy="337169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>
              <ns1:lnSpc>
                <ns1:spcPts val="2153"/>
              </ns1:lnSpc>
            </ns1:pPr>
            <ns1:r>
              <ns1:rPr lang="ko-KR" altLang="ko-KR" sz="1600" dirty="0" smtClean="0">
                <ns1:solidFill>
                  <ns1:srgbClr val="1419AB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| 4.2.1 End-to-End 자동화·도메인 전문성·엔터프라이즈 보안 — GS Neotek ML의 3대 차별화 강점</ns1:t>
            </ns1:r>
            <ns1:endParaRPr lang="en-US" sz="1600" dirty="0">
              <ns1:solidFill>
                <ns1:srgbClr val="1419AB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  <ns0:sp>
        <ns0:nvSpPr>
          <ns0:cNvPr id="44" name="직각 삼각형 43"/>
          <ns0:cNvSpPr/>
          <ns0:nvPr/>
        </ns0:nvSpPr>
        <ns0:spPr>
          <ns1:xfrm rot="5400000">
            <ns1:off x="2669025" y="3408119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sp>
        <ns0:nvSpPr>
          <ns0:cNvPr id="46" name="직각 삼각형 45"/>
          <ns0:cNvSpPr/>
          <ns0:nvPr/>
        </ns0:nvSpPr>
        <ns0:spPr>
          <ns1:xfrm rot="5400000">
            <ns1:off x="2669025" y="5189817"/>
            <ns1:ext cx="235743" cy="250318"/>
          </ns1:xfrm>
          <ns1:prstGeom prst="rtTriangle">
            <ns1:avLst/>
          </ns1:prstGeom>
          <ns1:solidFill>
            <ns1:srgbClr val="3C41E6"/>
          </ns1:solidFill>
          <ns1:ln>
            <ns1:noFill/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ko-KR" altLang="en-US"/>
          </ns1:p>
        </ns0:txBody>
      </ns0:sp>
      <ns0:grpSp>
        <ns0:nvGrpSpPr>
          <ns0:cNvPr id="52" name="그룹 51"/>
          <ns0:cNvGrpSpPr/>
          <ns0:nvPr/>
        </ns0:nvGrpSpPr>
        <ns0:grpSpPr>
          <ns1:xfrm>
            <ns1:off x="7980727" y="3651150"/>
            <ns1:ext cx="4254817" cy="1162366"/>
            <ns1:chOff x="2844950" y="5202168"/>
            <ns1:chExt cx="4654199" cy="1449259"/>
          </ns1:xfrm>
        </ns0:grpSpPr>
        <ns0:sp>
          <ns0:nvSpPr>
            <ns0:cNvPr id="53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금융·제조·헬스케어 특화 모델. 도메인 데이터 기반 파인튜닝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54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도메인 전문성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grpSp>
        <ns0:nvGrpSpPr>
          <ns0:cNvPr id="55" name="그룹 54"/>
          <ns0:cNvGrpSpPr/>
          <ns0:nvPr/>
        </ns0:nvGrpSpPr>
        <ns0:grpSpPr>
          <ns1:xfrm>
            <ns1:off x="7937182" y="5446369"/>
            <ns1:ext cx="4254817" cy="1162366"/>
            <ns1:chOff x="2844950" y="5202168"/>
            <ns1:chExt cx="4654199" cy="1449259"/>
          </ns1:xfrm>
        </ns0:grpSpPr>
        <ns0:sp>
          <ns0:nvSpPr>
            <ns0:cNvPr id="56" name="Text 1"/>
            <ns0:cNvSpPr/>
            <ns0:nvPr/>
          </ns0:nvSpPr>
          <ns0:spPr>
            <ns1:xfrm>
              <ns1:off x="2844950" y="5677890"/>
              <ns1:ext cx="4654199" cy="973537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t"/>
            <ns1:lstStyle/>
            <ns1:p>
              <ns1:r>
                <ns1:rPr lang="ko-KR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>On-Premise·Private Cloud 지원. 데이터 외부 유출 Zero 보장</ns1:t>
              </ns1:r>
            </ns1:p>
            <ns1:p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</ns1:p>
            <ns1:p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r>
                <ns1:rPr lang="en-US" altLang="ko-KR" sz="1200" dirty="0" err="1" smtClean="0">
                  <ns1:solidFill>
                    <ns1:schemeClr val="tx1">
                      <ns1:lumMod val="75000"/>
                      <ns1:lumOff val="25000"/>
                    </ns1:schemeClr>
                  </ns1:solidFill>
                  <ns1:latin typeface="Pretendard" panose="02000503000000020004" pitchFamily="2" charset="-127"/>
                  <ns1:ea typeface="Pretendard" panose="02000503000000020004" pitchFamily="2" charset="-127"/>
                  <ns1:cs typeface="Pretendard" panose="02000503000000020004" pitchFamily="2" charset="-127"/>
                </ns1:rPr>
                <ns1:t/>
              </ns1:r>
              <ns1:endParaRPr lang="en-US" altLang="ko-KR" sz="1200" dirty="0">
                <ns1:solidFill>
                  <ns1:schemeClr val="tx1">
                    <ns1:lumMod val="75000"/>
                    <ns1:lumOff val="25000"/>
                  </ns1:schemeClr>
                </ns1:solidFill>
                <ns1:latin typeface="Pretendard" panose="02000503000000020004" pitchFamily="2" charset="-127"/>
                <ns1:ea typeface="Pretendard" panose="02000503000000020004" pitchFamily="2" charset="-127"/>
                <ns1:cs typeface="Pretendard" panose="02000503000000020004" pitchFamily="2" charset="-127"/>
              </ns1:endParaRPr>
            </ns1:p>
          </ns0:txBody>
        </ns0:sp>
        <ns0:sp>
          <ns0:nvSpPr>
            <ns0:cNvPr id="57" name="Text 1"/>
            <ns0:cNvSpPr/>
            <ns0:nvPr/>
          </ns0:nvSpPr>
          <ns0:spPr>
            <ns1:xfrm>
              <ns1:off x="2844950" y="5202168"/>
              <ns1:ext cx="4118553" cy="385491"/>
            </ns1:xfrm>
            <ns1:prstGeom prst="rect">
              <ns1:avLst/>
            </ns1:prstGeom>
            <ns1:noFill/>
            <ns1:ln/>
          </ns0:spPr>
          <ns0:txBody>
            <ns1:bodyPr wrap="square" lIns="0" tIns="0" rIns="0" bIns="0" rtlCol="0" anchor="ctr"/>
            <ns1:lstStyle/>
            <ns1:p>
              <ns1:pPr>
                <ns1:lnSpc>
                  <ns1:spcPts val="2153"/>
                </ns1:lnSpc>
              </ns1:pPr>
              <ns1:r>
                <ns1:rPr lang="ko-KR" altLang="ko-KR" sz="1400" dirty="0" smtClean="0">
                  <ns1:solidFill>
                    <ns1:schemeClr val="tx1">
                      <ns1:lumMod val="85000"/>
                      <ns1:lumOff val="15000"/>
                    </ns1:schemeClr>
                  </ns1:solidFill>
                  <ns1:latin typeface="Pretendard SemiBold" panose="02000703000000020004" pitchFamily="2" charset="-127"/>
                  <ns1:ea typeface="Pretendard SemiBold" panose="02000703000000020004" pitchFamily="2" charset="-127"/>
                  <ns1:cs typeface="Pretendard SemiBold" panose="02000703000000020004" pitchFamily="2" charset="-127"/>
                </ns1:rPr>
                <ns1:t>엔터프라이즈 보안</ns1:t>
              </ns1:r>
              <ns1:endParaRPr lang="en-US" sz="1400" dirty="0">
                <ns1:solidFill>
                  <ns1:schemeClr val="tx1">
                    <ns1:lumMod val="85000"/>
                    <ns1:lumOff val="15000"/>
                  </ns1:schemeClr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endParaRPr>
            </ns1:p>
          </ns0:txBody>
        </ns0:sp>
      </ns0:grpSp>
      <ns0:cxnSp>
        <ns0:nvCxnSpPr>
          <ns0:cNvPr id="58" name="직선 연결선 57"/>
          <ns0:cNvCxnSpPr/>
          <ns0:nvPr/>
        </ns0:nvCxnSpPr>
        <ns0:spPr>
          <ns1:xfrm flipH="1">
            <ns1:off x="7937182" y="3332844"/>
            <ns1:ext cx="4254818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cxnSp>
        <ns0:nvCxnSpPr>
          <ns0:cNvPr id="59" name="직선 연결선 58"/>
          <ns0:cNvCxnSpPr/>
          <ns0:nvPr/>
        </ns0:nvCxnSpPr>
        <ns0:spPr>
          <ns1:xfrm flipH="1">
            <ns1:off x="7937181" y="5132616"/>
            <ns1:ext cx="4254818" cy="0"/>
          </ns1:xfrm>
          <ns1:prstGeom prst="line">
            <ns1:avLst/>
          </ns1:prstGeom>
          <ns1:ln>
            <ns1:solidFill>
              <ns1:schemeClr val="bg1">
                <ns1:lumMod val="75000"/>
              </ns1:schemeClr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</ns0:spTree>
    <ns0:extLst>
      <ns0:ext uri="{BB962C8B-B14F-4D97-AF65-F5344CB8AC3E}">
        <ns2:creationId val="2098120767"/>
      </ns0:ext>
    </ns0:extLst>
  </ns0:cSld>
  <ns0:clrMapOvr>
    <ns1:masterClrMapping/>
  </ns0:clrMapOvr>
</ns0:sld>
</file>

<file path=ppt/slides/slide15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/>
          <p:cNvSpPr/>
          <p:nvPr/>
        </p:nvSpPr>
        <p:spPr>
          <a:xfrm>
            <a:off x="2662116" y="1874786"/>
            <a:ext cx="3120956" cy="2948314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dirty="0" sz="1200">
                <a:solidFill>
                  <a:srgbClr val="3C41E6"/>
                </a:solidFill>
                <a:latin typeface="맑은 고딕"/>
                <a:ea typeface="맑은 고딕"/>
                <a:cs typeface="맑은 고딕"/>
              </a:rPr>
              <a:t>[이미지: Multi-Head Attention 구조 다이어그램]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866580" y="1874786"/>
            <a:ext cx="3120956" cy="2948314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dirty="0" sz="1200">
                <a:solidFill>
                  <a:srgbClr val="3C41E6"/>
                </a:solidFill>
                <a:latin typeface="맑은 고딕"/>
                <a:ea typeface="맑은 고딕"/>
                <a:cs typeface="맑은 고딕"/>
              </a:rPr>
              <a:t>[이미지: Foundation Model 사전학습→파인튜닝 흐름]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9071044" y="1874786"/>
            <a:ext cx="3120956" cy="2948314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dirty="0" sz="1200">
                <a:solidFill>
                  <a:srgbClr val="3C41E6"/>
                </a:solidFill>
                <a:latin typeface="맑은 고딕"/>
                <a:ea typeface="맑은 고딕"/>
                <a:cs typeface="맑은 고딕"/>
              </a:rPr>
              <a:t>[이미지: RLHF 보상모델 학습 프로세스]</a:t>
            </a: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57433" y="1505930"/>
            <a:ext cx="3124077" cy="620000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lang="ko-KR" dirty="0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01 Transformer</a:t>
            </a:r>
          </a:p>
          <a:p>
            <a:pPr algn="ctr"/>
            <a:r>
              <a:rPr lang="ko-KR" dirty="0"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어텐션 메커니즘</a:t>
            </a:r>
          </a:p>
        </p:txBody>
      </p:sp>
      <p:sp>
        <p:nvSpPr>
          <p:cNvPr id="19" name="모서리가 둥근 직사각형 18"/>
          <p:cNvSpPr/>
          <p:nvPr/>
        </p:nvSpPr>
        <p:spPr>
          <a:xfrm>
            <a:off x="5861898" y="1505929"/>
            <a:ext cx="3124077" cy="620000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lang="ko-KR" dirty="0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02 Foundation Model</a:t>
            </a:r>
          </a:p>
          <a:p>
            <a:pPr algn="ctr"/>
            <a:r>
              <a:rPr lang="ko-KR" dirty="0"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대규모 사전학습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9067922" y="1505929"/>
            <a:ext cx="3124077" cy="620000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</a:pPr>
            <a:r>
              <a:rPr lang="ko-KR" dirty="0" sz="1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 RLHF</a:t>
            </a:r>
          </a:p>
          <a:p>
            <a:pPr algn="ctr"/>
            <a:r>
              <a:rPr lang="ko-KR" dirty="0" sz="14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인간선호 강화학습</a:t>
            </a:r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ML 기술 기반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01 ML 패러다임</a:t>
            </a:r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62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1.1. 3대 핵심 기술 트렌드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Transformer·Foundation Model·RLHF 기반 ML 패러다임 전환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2" name="Text 1"/>
          <p:cNvSpPr/>
          <p:nvPr/>
        </p:nvSpPr>
        <p:spPr>
          <a:xfrm>
            <a:off x="2661410" y="5070470"/>
            <a:ext cx="3124079" cy="104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BERT·GPT의 핵심. 병렬 처리·장거리 의존성 모델링. RNN 한계 극복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9" name="Text 1"/>
          <p:cNvSpPr/>
          <p:nvPr/>
        </p:nvSpPr>
        <p:spPr>
          <a:xfrm>
            <a:off x="9087922" y="5070470"/>
            <a:ext cx="3124079" cy="1044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PPO·DPO 기반 인간선호 정렬. ChatGPT·Claude 핵심 학습 기법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861896" y="5070470"/>
            <a:ext cx="3124079" cy="8269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소수 샷·제로샷 전이 학습. ImageNet→LLM 패러다임 전환 선도</a:t>
            </a:r>
          </a:p>
          <a:p>
            <a:pPr algn="ctr">
              <a:lnSpc>
                <a:spcPct val="150000"/>
              </a:lnSpc>
            </a:pP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1" name="Text 1"/>
          <p:cNvSpPr/>
          <p:nvPr/>
        </p:nvSpPr>
        <p:spPr>
          <a:xfrm>
            <a:off x="2902908" y="1023545"/>
            <a:ext cx="9289092" cy="33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ts val="2153"/>
              </a:lnSpc>
            </a:pPr>
            <a:r>
              <a:rPr lang="en-US" altLang="ko-KR" sz="16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  <a:solidFill>
                  <a:srgbClr val="000000"/>
                </a:solidFill>
              </a:rPr>
              <a:t>| 1.1.1 Transformer·Foundation Model·RLHF — ML 패러다임을 이끄는 3대 핵심 기술</a:t>
            </a:r>
            <a:endParaRPr lang="en-US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cxnSp>
        <p:nvCxnSpPr>
          <p:cNvPr id="42" name="직선 연결선 41"/>
          <p:cNvCxnSpPr/>
          <p:nvPr/>
        </p:nvCxnSpPr>
        <p:spPr>
          <a:xfrm>
            <a:off x="5808610" y="6012543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/>
          <p:cNvCxnSpPr/>
          <p:nvPr/>
        </p:nvCxnSpPr>
        <p:spPr>
          <a:xfrm>
            <a:off x="9021779" y="6012543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ns2:creationId val="368167827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/>
            <a:r>
              <a:rPr lang="ko-KR" dirty="0">
                <a:latin typeface="Pretendard"/>
                <a:ea typeface="Pretendard"/>
                <a:cs typeface="Pretendard"/>
              </a:rPr>
              <a:t>ML 파이프라인 &amp; 방법론</a:t>
            </a:r>
            <a:endParaRPr 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/>
            <a:r>
              <a:rPr lang="ko-KR" dirty="0"/>
              <a:t>04 학습·배포 전략</a:t>
            </a:r>
            <a:endParaRPr lang="ko-KR" dirty="0"/>
          </a:p>
        </p:txBody>
      </p:sp>
      <p:sp>
        <p:nvSpPr>
          <p:cNvPr id="14" name="Text 1"/>
          <p:cNvSpPr/>
          <p:nvPr/>
        </p:nvSpPr>
        <p:spPr>
          <a:xfrm>
            <a:off x="395032" y="780494"/>
            <a:ext cx="2200409" cy="629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>
                <a:latin typeface="Pretendard SemiBold"/>
                <a:ea typeface="Pretendard SemiBold"/>
                <a:cs typeface="Pretendard SemiBold"/>
              </a:rPr>
              <a:t>2.2. 학습·평가·배포 사이클</a:t>
            </a:r>
          </a:p>
          <a:p>
            <a:r>
              <a:rPr lang="en-US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 sz="160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Text 1"/>
          <p:cNvSpPr/>
          <p:nvPr/>
        </p:nvSpPr>
        <p:spPr>
          <a:xfrm>
            <a:off x="395031" y="1627472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dirty="0" sz="1200">
                <a:latin typeface="Pretendard"/>
                <a:ea typeface="Pretendard"/>
                <a:cs typeface="Pretendard"/>
              </a:rPr>
              <a:t>실험 관리부터 프로덕션 배포까지 표준화된 ML 개발 절차</a:t>
            </a:r>
          </a:p>
          <a:p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/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altLang="ko-KR" sz="1200" dirty="0" smtClean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662116" y="1506207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MLflow·W&amp;B 실험 추적 UI 화면]</a:t>
            </a:r>
            <a:endParaRPr lang="ko-KR" sz="11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5061373" y="6012543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모서리가 둥근 직사각형 57"/>
          <p:cNvSpPr/>
          <p:nvPr/>
        </p:nvSpPr>
        <p:spPr>
          <a:xfrm>
            <a:off x="2658995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실험 관리</a:t>
            </a:r>
          </a:p>
        </p:txBody>
      </p:sp>
      <p:sp>
        <p:nvSpPr>
          <p:cNvPr id="62" name="Text 1"/>
          <p:cNvSpPr/>
          <p:nvPr/>
        </p:nvSpPr>
        <p:spPr>
          <a:xfrm>
            <a:off x="2755068" y="5053336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Optuna 기반 Bayesian 자동 하이퍼파라미터 탐색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5077194" y="1506207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Optuna 하이퍼파라미터 최적화 수렴 곡선]</a:t>
            </a:r>
            <a:endParaRPr lang="ko-KR" sz="1100" dirty="0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5074073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HPO 최적화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7488382" y="1506206"/>
            <a:ext cx="2296321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ROC Curve 및 Confusion Matrix]</a:t>
            </a:r>
            <a:endParaRPr lang="ko-KR" sz="1100" dirty="0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7485261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모델 평가·검증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9895681" y="1506206"/>
            <a:ext cx="2296320" cy="3298019"/>
          </a:xfrm>
          <a:prstGeom prst="rect">
            <a:avLst/>
          </a:prstGeom>
          <a:solidFill>
            <a:schemeClr val="bg1">
              <a:lumMod val="75000"/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r>
              <a:rPr lang="ko-KR" altLang="en-US" sz="1100" dirty="0">
                <a:solidFill>
                  <a:srgbClr val="3C41E6"/>
                </a:solidFill>
                <a:latin typeface="맑은 고딕"/>
                <a:ea typeface="맑은 고딕"/>
              </a:rPr>
              <a:t>[이미지: Blue-Green·Canary 배포 트래픽 분산 다이어그램]</a:t>
            </a:r>
            <a:endParaRPr lang="ko-KR" sz="11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92559" y="1506207"/>
            <a:ext cx="2299442" cy="368856"/>
          </a:xfrm>
          <a:prstGeom prst="roundRect">
            <a:avLst>
              <a:gd name="adj" fmla="val 5865"/>
            </a:avLst>
          </a:prstGeom>
          <a:solidFill>
            <a:srgbClr val="1419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400" dirty="0" smtClean="0"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rPr>
              <a:t>프로덕션 배포</a:t>
            </a:r>
          </a:p>
        </p:txBody>
      </p:sp>
      <p:sp>
        <p:nvSpPr>
          <p:cNvPr id="25" name="Text 1"/>
          <p:cNvSpPr/>
          <p:nvPr/>
        </p:nvSpPr>
        <p:spPr>
          <a:xfrm>
            <a:off x="5170146" y="5053336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K-Fold·AUC-ROC 기반 복합 지표 모델 선택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"/>
          <p:cNvSpPr/>
          <p:nvPr/>
        </p:nvSpPr>
        <p:spPr>
          <a:xfrm>
            <a:off x="7585224" y="5050478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Blue-Green·Canary A/B 테스트 트래픽 전환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Text 1"/>
          <p:cNvSpPr/>
          <p:nvPr/>
        </p:nvSpPr>
        <p:spPr>
          <a:xfrm>
            <a:off x="9988632" y="4995278"/>
            <a:ext cx="2052705" cy="118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MLflow·W&amp;B 실험 추적 및 재현성 보장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7466634" y="6012542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9892559" y="6012541"/>
            <a:ext cx="0" cy="84545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1"/>
          <p:cNvSpPr/>
          <p:nvPr/>
        </p:nvSpPr>
        <p:spPr>
          <a:xfrm>
            <a:off x="2902908" y="1023545"/>
            <a:ext cx="9289092" cy="337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/>
            <a:r>
              <a:rPr lang="ko-KR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실험부터 프로덕션까지 표준화된 ML 개발 프로세스</a:t>
            </a:r>
            <a:endParaRPr lang="ko-KR" dirty="0"/>
          </a:p>
        </p:txBody>
      </p:sp>
    </p:spTree>
    <p:extLst>
      <p:ext uri="{BB962C8B-B14F-4D97-AF65-F5344CB8AC3E}">
        <ns2:creationId val="531123990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>
          <a:xfrm>
            <a:off x="344233" y="225866"/>
            <a:ext cx="1500278" cy="228225"/>
          </a:xfrm>
        </p:spPr>
        <p:txBody>
          <a:bodyPr/>
          <a:lstStyle/>
          <a:p>
            <a:r>
              <a:rPr dirty="0"/>
              <a:t>GS Neotek ML 서비스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>
          <a:xfrm>
            <a:off x="2595441" y="225458"/>
            <a:ext cx="2906908" cy="254000"/>
          </a:xfrm>
        </p:spPr>
        <p:txBody>
          <a:bodyPr/>
          <a:lstStyle/>
          <a:p>
            <a:r>
              <a:t>10 ML 서비스</a:t>
            </a:r>
          </a:p>
        </p:txBody>
      </p:sp>
      <p:sp>
        <p:nvSpPr>
          <p:cNvPr id="2" name="이등변 삼각형 1"/>
          <p:cNvSpPr/>
          <p:nvPr/>
        </p:nvSpPr>
        <p:spPr>
          <a:xfrm rot="5400000">
            <a:off x="7216927" y="3595051"/>
            <a:ext cx="357169" cy="296574"/>
          </a:xfrm>
          <a:prstGeom prst="triangle">
            <a:avLst>
              <a:gd name="adj" fmla="val 54000"/>
            </a:avLst>
          </a:prstGeom>
          <a:solidFill>
            <a:srgbClr val="0C0E6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1"/>
          <p:cNvSpPr/>
          <p:nvPr/>
        </p:nvSpPr>
        <p:spPr>
          <a:xfrm>
            <a:off x="395032" y="780494"/>
            <a:ext cx="2119440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4.1. ML </a:t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서비스 포트폴리오</a:t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7" name="Text 1"/>
          <p:cNvSpPr/>
          <p:nvPr/>
        </p:nvSpPr>
        <p:spPr>
          <a:xfrm>
            <a:off x="395032" y="2311627"/>
            <a:ext cx="2119440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 Platform: Kubeflow 기반 학습·서빙 플랫폼 / GPU 클러스터 관리 / AutoML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 Consulting: 유즈케이스 발굴·PoC·MLOps 전략 / 도메인 특화 모델 커스터마이징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Text 1"/>
          <p:cNvSpPr/>
          <p:nvPr/>
        </p:nvSpPr>
        <p:spPr>
          <a:xfrm>
            <a:off x="395032" y="3466057"/>
            <a:ext cx="2119440" cy="153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GS Neotek은 데이터 수집→모델 배포→모니터링까지 ML 전 생애주기를 지원합니다.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ns2:creationId val="2138085299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ML 기술 기반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t>02 아키텍처 진화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657593" y="780494"/>
            <a:ext cx="2710790" cy="372959"/>
          </a:xfrm>
          <a:prstGeom prst="rect">
            <a:avLst/>
          </a:prstGeom>
          <a:solidFill>
            <a:srgbClr val="3C41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2014~16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368383" y="1155654"/>
            <a:ext cx="2314244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2017~19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1.2. 딥러닝 아키텍처 진화</a:t>
            </a: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 smtClean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r>
              <a:rPr lang="ko-KR" altLang="en-US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9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CNN에서 LLM까지 10년간의 기술 계보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700615" y="1452497"/>
            <a:ext cx="2314244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2020~22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0014859" y="1749340"/>
            <a:ext cx="2177141" cy="298835"/>
          </a:xfrm>
          <a:prstGeom prst="rect">
            <a:avLst/>
          </a:prstGeom>
          <a:solidFill>
            <a:srgbClr val="171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200" dirty="0" smtClean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2023~</a:t>
            </a:r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2657592" y="1153452"/>
            <a:ext cx="2692803" cy="5704547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700615" y="1749340"/>
            <a:ext cx="2314244" cy="5108659"/>
          </a:xfrm>
          <a:prstGeom prst="rect">
            <a:avLst/>
          </a:prstGeom>
          <a:solidFill>
            <a:schemeClr val="bg1">
              <a:lumMod val="8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0" name="D400"/>
          <p:cNvSpPr>
            <a:spLocks noGrp="1"/>
          </p:cNvSpPr>
          <p:nvPr/>
        </p:nvSpPr>
        <p:spPr>
          <a:xfrm>
            <a:off x="2737593" y="1233453"/>
            <a:ext cx="2550790" cy="2065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▷ 2014~2016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GAN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ResNet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Seq2Seq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Vision팀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✓ ImageNet 3.5%</a:t>
            </a:r>
          </a:p>
          <a:p>
            <a:r>
              <a:rPr lang="ko-KR" dirty="0" sz="110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리스크: 낮음</a:t>
            </a:r>
          </a:p>
        </p:txBody>
      </p:sp>
      <p:sp>
        <p:nvSpPr>
          <p:cNvPr id="401" name="D401"/>
          <p:cNvSpPr>
            <a:spLocks noGrp="1"/>
          </p:cNvSpPr>
          <p:nvPr/>
        </p:nvSpPr>
        <p:spPr>
          <a:xfrm>
            <a:off x="5448383" y="1534489"/>
            <a:ext cx="2154244" cy="2065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▷ 2017~2019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Transformer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BERT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GPT-1/2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NLP팀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✓ GLUE SOTA</a:t>
            </a:r>
          </a:p>
          <a:p>
            <a:r>
              <a:rPr lang="ko-KR" dirty="0" sz="110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리스크: 낮음</a:t>
            </a:r>
          </a:p>
        </p:txBody>
      </p:sp>
      <p:sp>
        <p:nvSpPr>
          <p:cNvPr id="402" name="D402"/>
          <p:cNvSpPr>
            <a:spLocks noGrp="1"/>
          </p:cNvSpPr>
          <p:nvPr/>
        </p:nvSpPr>
        <p:spPr>
          <a:xfrm>
            <a:off x="7780615" y="1831332"/>
            <a:ext cx="2154244" cy="2065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▷ 2020~2022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GPT-3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CLIP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Diffusion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멀티모달팀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✓ Few-shot 급등</a:t>
            </a:r>
          </a:p>
          <a:p>
            <a:r>
              <a:rPr lang="ko-KR" dirty="0" sz="1100">
                <a:solidFill>
                  <a:srgbClr val="F5A623"/>
                </a:solidFill>
                <a:latin typeface="Pretendard"/>
                <a:ea typeface="Pretendard"/>
                <a:cs typeface="Pretendard"/>
              </a:rPr>
              <a:t>리스크: 중간</a:t>
            </a:r>
          </a:p>
        </p:txBody>
      </p:sp>
      <p:sp>
        <p:nvSpPr>
          <p:cNvPr id="403" name="D403"/>
          <p:cNvSpPr>
            <a:spLocks noGrp="1"/>
          </p:cNvSpPr>
          <p:nvPr/>
        </p:nvSpPr>
        <p:spPr>
          <a:xfrm>
            <a:off x="10094859" y="2128175"/>
            <a:ext cx="2017141" cy="2065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▷ 2023~현재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GPT-4·Claude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MoE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RLHF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LLM팀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✓ AGI 근접</a:t>
            </a:r>
          </a:p>
          <a:p>
            <a:r>
              <a:rPr lang="ko-KR" dirty="0" sz="1100">
                <a:solidFill>
                  <a:srgbClr val="FF4B4B"/>
                </a:solidFill>
                <a:latin typeface="Pretendard"/>
                <a:ea typeface="Pretendard"/>
                <a:cs typeface="Pretendard"/>
              </a:rPr>
              <a:t>리스크: 높음</a:t>
            </a:r>
          </a:p>
        </p:txBody>
      </p:sp>
    </p:spTree>
    <p:extLst>
      <p:ext uri="{BB962C8B-B14F-4D97-AF65-F5344CB8AC3E}">
        <ns2:creationId val="554161028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4897938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9696217" y="838200"/>
            <a:ext cx="2495782" cy="6020378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dirty="0">
                <a:latin typeface="Pretendard"/>
                <a:ea typeface="Pretendard"/>
                <a:cs typeface="Pretendard"/>
              </a:rPr>
              <a:t>엔터프라이즈 도입</a:t>
            </a:r>
            <a:endParaRPr lang="ko-KR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dirty="0"/>
              <a:t>06 도입 로드맵</a:t>
            </a:r>
            <a:endParaRPr lang="ko-KR" dirty="0"/>
          </a:p>
        </p:txBody>
      </p:sp>
      <p:sp>
        <p:nvSpPr>
          <p:cNvPr id="17" name="Text 1"/>
          <p:cNvSpPr/>
          <p:nvPr/>
        </p:nvSpPr>
        <p:spPr>
          <a:xfrm>
            <a:off x="395032" y="780494"/>
            <a:ext cx="2200409" cy="1196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dirty="0">
                <a:latin typeface="Pretendard SemiBold"/>
                <a:ea typeface="Pretendard SemiBold"/>
                <a:cs typeface="Pretendard SemiBold"/>
              </a:rPr>
              <a:t>3.1. 4분기 도입 계획</a:t>
            </a: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  <a:p>
            <a:endParaRPr lang="en-US" altLang="ko-KR" dirty="0">
              <a:solidFill>
                <a:schemeClr val="tx1">
                  <a:lumMod val="85000"/>
                  <a:lumOff val="15000"/>
                </a:schemeClr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8" name="Text 1"/>
          <p:cNvSpPr/>
          <p:nvPr/>
        </p:nvSpPr>
        <p:spPr>
          <a:xfrm>
            <a:off x="395032" y="2311627"/>
            <a:ext cx="2200409" cy="9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PoC부터 전사 확산까지 4분기 점진적 도입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2657592" y="780495"/>
            <a:ext cx="953440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4" name="이등변 삼각형 13"/>
          <p:cNvSpPr/>
          <p:nvPr/>
        </p:nvSpPr>
        <p:spPr>
          <a:xfrm rot="5400000">
            <a:off x="482324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이등변 삼각형 15"/>
          <p:cNvSpPr/>
          <p:nvPr/>
        </p:nvSpPr>
        <p:spPr>
          <a:xfrm rot="5400000">
            <a:off x="7311312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이등변 삼각형 21"/>
          <p:cNvSpPr/>
          <p:nvPr/>
        </p:nvSpPr>
        <p:spPr>
          <a:xfrm rot="5400000">
            <a:off x="9621521" y="358812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/>
          <p:cNvSpPr/>
          <p:nvPr/>
        </p:nvSpPr>
        <p:spPr>
          <a:xfrm>
            <a:off x="4263276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Q1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51345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Q2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9051374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Q3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11493341" y="895905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Q4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00" name="Q300"/>
          <p:cNvSpPr>
            <a:spLocks noGrp="1"/>
          </p:cNvSpPr>
          <p:nvPr/>
        </p:nvSpPr>
        <p:spPr>
          <a:xfrm>
            <a:off x="2717592" y="4100641"/>
            <a:ext cx="9414407" cy="6000"/>
          </a:xfrm>
          <a:prstGeom prst="rect">
            <a:avLst/>
          </a:prstGeom>
          <a:solidFill>
            <a:srgbClr val="CCCCCC"/>
          </a:solidFill>
        </p:spPr>
        <p:txBody>
          <a:bodyPr/>
          <a:lstStyle/>
          <a:p>
            <a:endParaRPr lang="en-KR"/>
          </a:p>
        </p:txBody>
      </p:sp>
      <p:sp>
        <p:nvSpPr>
          <p:cNvPr id="301" name="Q301"/>
          <p:cNvSpPr>
            <a:spLocks noGrp="1"/>
          </p:cNvSpPr>
          <p:nvPr/>
        </p:nvSpPr>
        <p:spPr>
          <a:xfrm>
            <a:off x="2717592" y="4136641"/>
            <a:ext cx="9414407" cy="14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ko-KR" sz="1000" dirty="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분기별 실행 계획</a:t>
            </a:r>
          </a:p>
        </p:txBody>
      </p:sp>
      <p:sp>
        <p:nvSpPr>
          <p:cNvPr id="302" name="D302"/>
          <p:cNvSpPr>
            <a:spLocks noGrp="1"/>
          </p:cNvSpPr>
          <p:nvPr/>
        </p:nvSpPr>
        <p:spPr>
          <a:xfrm>
            <a:off x="2717592" y="1500000"/>
            <a:ext cx="2120346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sz="1100" b="1" dirty="0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▷ Jan~Mar</a:t>
            </a:r>
          </a:p>
          <a:p>
            <a:endParaRPr lang="ko-KR" sz="1100" b="1" dirty="0">
              <a:solidFill>
                <a:srgbClr val="3C41E6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ML 플랫폼 PoC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데이터 인벤토리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GPU 인프라</a:t>
            </a:r>
          </a:p>
          <a:p>
            <a:endParaRPr lang="ko-KR" sz="1100" dirty="0">
              <a:solidFill>
                <a:srgbClr val="444444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000" dirty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ML플랫폼팀</a:t>
            </a:r>
          </a:p>
        </p:txBody>
      </p:sp>
      <p:sp>
        <p:nvSpPr>
          <p:cNvPr id="303" name="Q303"/>
          <p:cNvSpPr>
            <a:spLocks noGrp="1"/>
          </p:cNvSpPr>
          <p:nvPr/>
        </p:nvSpPr>
        <p:spPr>
          <a:xfrm>
            <a:off x="2717592" y="4547790"/>
            <a:ext cx="2120346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3C41E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sz="110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PoC 성공</a:t>
            </a:r>
          </a:p>
        </p:txBody>
      </p:sp>
      <p:sp>
        <p:nvSpPr>
          <p:cNvPr id="304" name="Q304"/>
          <p:cNvSpPr>
            <a:spLocks noGrp="1"/>
          </p:cNvSpPr>
          <p:nvPr/>
        </p:nvSpPr>
        <p:spPr>
          <a:xfrm>
            <a:off x="2717592" y="5187790"/>
            <a:ext cx="1040173" cy="380000"/>
          </a:xfrm>
          <a:prstGeom prst="rect">
            <a:avLst/>
          </a:prstGeom>
          <a:solidFill>
            <a:srgbClr val="E8ECFC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sz="1100" dirty="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낮음</a:t>
            </a:r>
          </a:p>
        </p:txBody>
      </p:sp>
      <p:sp>
        <p:nvSpPr>
          <p:cNvPr id="305" name="Q305"/>
          <p:cNvSpPr>
            <a:spLocks noGrp="1"/>
          </p:cNvSpPr>
          <p:nvPr/>
        </p:nvSpPr>
        <p:spPr>
          <a:xfrm>
            <a:off x="3797765" y="5187790"/>
            <a:ext cx="1040173" cy="380000"/>
          </a:xfrm>
          <a:prstGeom prst="rect">
            <a:avLst/>
          </a:prstGeom>
          <a:solidFill>
            <a:srgbClr val="E8ECFC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sz="110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Small</a:t>
            </a:r>
          </a:p>
        </p:txBody>
      </p:sp>
      <p:sp>
        <p:nvSpPr>
          <p:cNvPr id="306" name="D306"/>
          <p:cNvSpPr>
            <a:spLocks noGrp="1"/>
          </p:cNvSpPr>
          <p:nvPr/>
        </p:nvSpPr>
        <p:spPr>
          <a:xfrm>
            <a:off x="4957938" y="1500000"/>
            <a:ext cx="237578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sz="1100" b="1" dirty="0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▷ Apr~Jun</a:t>
            </a:r>
          </a:p>
          <a:p>
            <a:endParaRPr lang="ko-KR" sz="1100" b="1" dirty="0">
              <a:solidFill>
                <a:srgbClr val="2D30B8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Feature Store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첫 모델 배포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A/B 테스트</a:t>
            </a:r>
          </a:p>
          <a:p>
            <a:endParaRPr lang="ko-KR" sz="1100" dirty="0">
              <a:solidFill>
                <a:srgbClr val="444444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000" dirty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ML엔지니어팀</a:t>
            </a:r>
          </a:p>
        </p:txBody>
      </p:sp>
      <p:sp>
        <p:nvSpPr>
          <p:cNvPr id="307" name="Q307"/>
          <p:cNvSpPr>
            <a:spLocks noGrp="1"/>
          </p:cNvSpPr>
          <p:nvPr/>
        </p:nvSpPr>
        <p:spPr>
          <a:xfrm>
            <a:off x="4957938" y="4547790"/>
            <a:ext cx="237578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2D30B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sz="110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정확도 90%+</a:t>
            </a:r>
          </a:p>
        </p:txBody>
      </p:sp>
      <p:sp>
        <p:nvSpPr>
          <p:cNvPr id="308" name="Q308"/>
          <p:cNvSpPr>
            <a:spLocks noGrp="1"/>
          </p:cNvSpPr>
          <p:nvPr/>
        </p:nvSpPr>
        <p:spPr>
          <a:xfrm>
            <a:off x="4957938" y="5187790"/>
            <a:ext cx="1167891" cy="380000"/>
          </a:xfrm>
          <a:prstGeom prst="rect">
            <a:avLst/>
          </a:prstGeom>
          <a:solidFill>
            <a:srgbClr val="D4DCFB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sz="1100" dirty="0">
                <a:solidFill>
                  <a:srgbClr val="F5A623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309" name="Q309"/>
          <p:cNvSpPr>
            <a:spLocks noGrp="1"/>
          </p:cNvSpPr>
          <p:nvPr/>
        </p:nvSpPr>
        <p:spPr>
          <a:xfrm>
            <a:off x="6165829" y="5187790"/>
            <a:ext cx="1167891" cy="380000"/>
          </a:xfrm>
          <a:prstGeom prst="rect">
            <a:avLst/>
          </a:prstGeom>
          <a:solidFill>
            <a:srgbClr val="D4DCFB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sz="110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Medium</a:t>
            </a:r>
          </a:p>
        </p:txBody>
      </p:sp>
      <p:sp>
        <p:nvSpPr>
          <p:cNvPr id="310" name="D310"/>
          <p:cNvSpPr>
            <a:spLocks noGrp="1"/>
          </p:cNvSpPr>
          <p:nvPr/>
        </p:nvSpPr>
        <p:spPr>
          <a:xfrm>
            <a:off x="7453720" y="1500000"/>
            <a:ext cx="2182497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sz="1100" b="1" dirty="0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▷ Jul~Sep</a:t>
            </a:r>
          </a:p>
          <a:p>
            <a:endParaRPr lang="ko-KR" sz="1100" b="1" dirty="0">
              <a:solidFill>
                <a:srgbClr val="1E2490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ML Ops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모니터링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2차 확장</a:t>
            </a:r>
          </a:p>
          <a:p>
            <a:endParaRPr lang="ko-KR" sz="1100" dirty="0">
              <a:solidFill>
                <a:srgbClr val="444444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000" dirty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플랫폼팀</a:t>
            </a:r>
          </a:p>
        </p:txBody>
      </p:sp>
      <p:sp>
        <p:nvSpPr>
          <p:cNvPr id="311" name="Q311"/>
          <p:cNvSpPr>
            <a:spLocks noGrp="1"/>
          </p:cNvSpPr>
          <p:nvPr/>
        </p:nvSpPr>
        <p:spPr>
          <a:xfrm>
            <a:off x="7453720" y="4547790"/>
            <a:ext cx="2182496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E249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sz="110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드리프트&lt;1일</a:t>
            </a:r>
          </a:p>
        </p:txBody>
      </p:sp>
      <p:sp>
        <p:nvSpPr>
          <p:cNvPr id="312" name="Q312"/>
          <p:cNvSpPr>
            <a:spLocks noGrp="1"/>
          </p:cNvSpPr>
          <p:nvPr/>
        </p:nvSpPr>
        <p:spPr>
          <a:xfrm>
            <a:off x="7453720" y="5187790"/>
            <a:ext cx="1071248" cy="380000"/>
          </a:xfrm>
          <a:prstGeom prst="rect">
            <a:avLst/>
          </a:prstGeom>
          <a:solidFill>
            <a:srgbClr val="C0CCFA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sz="1100" dirty="0">
                <a:solidFill>
                  <a:srgbClr val="F5A623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313" name="Q313"/>
          <p:cNvSpPr>
            <a:spLocks noGrp="1"/>
          </p:cNvSpPr>
          <p:nvPr/>
        </p:nvSpPr>
        <p:spPr>
          <a:xfrm>
            <a:off x="8564968" y="5187790"/>
            <a:ext cx="1071248" cy="380000"/>
          </a:xfrm>
          <a:prstGeom prst="rect">
            <a:avLst/>
          </a:prstGeom>
          <a:solidFill>
            <a:srgbClr val="C0CCFA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sz="110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Large</a:t>
            </a:r>
          </a:p>
        </p:txBody>
      </p:sp>
      <p:sp>
        <p:nvSpPr>
          <p:cNvPr id="314" name="D314"/>
          <p:cNvSpPr>
            <a:spLocks noGrp="1"/>
          </p:cNvSpPr>
          <p:nvPr/>
        </p:nvSpPr>
        <p:spPr>
          <a:xfrm>
            <a:off x="9756217" y="1500000"/>
            <a:ext cx="237578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sz="1100" b="1" dirty="0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▷ Oct~Dec</a:t>
            </a:r>
          </a:p>
          <a:p>
            <a:endParaRPr lang="ko-KR" sz="1100" b="1" dirty="0">
              <a:solidFill>
                <a:srgbClr val="1419AB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전사 확산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AutoML</a:t>
            </a:r>
          </a:p>
          <a:p>
            <a:r>
              <a:rPr lang="ko-KR" sz="1100" dirty="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LLM PoC</a:t>
            </a:r>
          </a:p>
          <a:p>
            <a:endParaRPr lang="ko-KR" sz="1100" dirty="0">
              <a:solidFill>
                <a:srgbClr val="444444"/>
              </a:solidFill>
              <a:latin typeface="Pretendard"/>
              <a:ea typeface="Pretendard"/>
              <a:cs typeface="Pretendard"/>
            </a:endParaRPr>
          </a:p>
          <a:p>
            <a:r>
              <a:rPr lang="ko-KR" sz="1000" dirty="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전사팀</a:t>
            </a:r>
          </a:p>
        </p:txBody>
      </p:sp>
      <p:sp>
        <p:nvSpPr>
          <p:cNvPr id="315" name="Q315"/>
          <p:cNvSpPr>
            <a:spLocks noGrp="1"/>
          </p:cNvSpPr>
          <p:nvPr/>
        </p:nvSpPr>
        <p:spPr>
          <a:xfrm>
            <a:off x="9756217" y="4547790"/>
            <a:ext cx="237578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419A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sz="1100" dirty="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ROI 300%+</a:t>
            </a:r>
          </a:p>
        </p:txBody>
      </p:sp>
      <p:sp>
        <p:nvSpPr>
          <p:cNvPr id="316" name="Q316"/>
          <p:cNvSpPr>
            <a:spLocks noGrp="1"/>
          </p:cNvSpPr>
          <p:nvPr/>
        </p:nvSpPr>
        <p:spPr>
          <a:xfrm>
            <a:off x="9756217" y="5187790"/>
            <a:ext cx="1167891" cy="380000"/>
          </a:xfrm>
          <a:prstGeom prst="rect">
            <a:avLst/>
          </a:prstGeom>
          <a:solidFill>
            <a:srgbClr val="AABBF9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sz="1100" dirty="0">
                <a:solidFill>
                  <a:srgbClr val="FF4B4B"/>
                </a:solidFill>
                <a:latin typeface="Pretendard"/>
                <a:ea typeface="Pretendard"/>
                <a:cs typeface="Pretendard"/>
              </a:rPr>
              <a:t>높음</a:t>
            </a:r>
          </a:p>
        </p:txBody>
      </p:sp>
      <p:sp>
        <p:nvSpPr>
          <p:cNvPr id="317" name="Q317"/>
          <p:cNvSpPr>
            <a:spLocks noGrp="1"/>
          </p:cNvSpPr>
          <p:nvPr/>
        </p:nvSpPr>
        <p:spPr>
          <a:xfrm>
            <a:off x="10964108" y="5187790"/>
            <a:ext cx="1167891" cy="380000"/>
          </a:xfrm>
          <a:prstGeom prst="rect">
            <a:avLst/>
          </a:prstGeom>
          <a:solidFill>
            <a:srgbClr val="AABBF9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sz="900" b="1" dirty="0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sz="1100" dirty="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Large</a:t>
            </a:r>
          </a:p>
        </p:txBody>
      </p:sp>
    </p:spTree>
    <p:extLst>
      <p:ext uri="{BB962C8B-B14F-4D97-AF65-F5344CB8AC3E}">
        <ns2:creationId val="3958239633"/>
      </p:ext>
    </p:extLst>
  </p:cSld>
  <p:clrMapOvr>
    <a:masterClrMapping/>
  </p:clrMapOvr>
</p:sld>
</file>

<file path=ppt/slides/slide33.xml><?xml version="1.0" encoding="utf-8"?>
<p:sld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엔터프라이즈 도입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09 성과 KPI</a:t>
            </a:r>
            <a:endParaRPr lang="ko-KR" altLang="en-US" dirty="0"/>
          </a:p>
        </p:txBody>
      </p:sp>
      <p:sp>
        <p:nvSpPr>
          <p:cNvPr id="25" name="Text 1"/>
          <p:cNvSpPr/>
          <p:nvPr/>
        </p:nvSpPr>
        <p:spPr>
          <a:xfrm>
            <a:off x="395032" y="780494"/>
            <a:ext cx="2200409" cy="768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3.4. 분기별 KPI 달성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</a:p>
        </p:txBody>
      </p:sp>
      <p:sp>
        <p:nvSpPr>
          <p:cNvPr id="26" name="Text 1"/>
          <p:cNvSpPr/>
          <p:nvPr/>
        </p:nvSpPr>
        <p:spPr>
          <a:xfrm>
            <a:off x="2676575" y="1024560"/>
            <a:ext cx="8870845" cy="311240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도입 이후 4분기 핵심 성과 지표 달성 현황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-23077" y="1619072"/>
            <a:ext cx="12215077" cy="57705"/>
          </a:xfrm>
          <a:prstGeom prst="rect">
            <a:avLst/>
          </a:prstGeom>
          <a:gradFill>
            <a:gsLst>
              <a:gs pos="0">
                <a:srgbClr val="E6E7FF"/>
              </a:gs>
              <a:gs pos="77000">
                <a:srgbClr val="1419AB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9184568" y="1676777"/>
            <a:ext cx="3007432" cy="5181223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3077029" y="1676777"/>
            <a:ext cx="3007432" cy="5181223"/>
          </a:xfrm>
          <a:prstGeom prst="rect">
            <a:avLst/>
          </a:prstGeom>
          <a:solidFill>
            <a:schemeClr val="bg1">
              <a:lumMod val="85000"/>
              <a:alpha val="6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1026590" y="1782671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B0B2E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Q1</a:t>
            </a:r>
            <a:endParaRPr lang="en-US" altLang="ko-KR" sz="1600" dirty="0">
              <a:solidFill>
                <a:srgbClr val="B0B2E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54807" y="1746410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7377D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Q2</a:t>
            </a:r>
            <a:endParaRPr lang="en-US" altLang="ko-KR" sz="1600" dirty="0">
              <a:solidFill>
                <a:srgbClr val="7377D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7328742" y="1743824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363AB9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Q3</a:t>
            </a:r>
            <a:endParaRPr lang="en-US" altLang="ko-KR" sz="1600" dirty="0">
              <a:solidFill>
                <a:srgbClr val="363AB9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0370953" y="1719726"/>
            <a:ext cx="63466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ko-KR" altLang="ko-KR" sz="1600" dirty="0" smtClean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Q4</a:t>
            </a:r>
            <a:endParaRPr lang="en-US" altLang="ko-KR" sz="1600" dirty="0">
              <a:solidFill>
                <a:srgbClr val="1419AB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이등변 삼각형 38"/>
          <p:cNvSpPr/>
          <p:nvPr/>
        </p:nvSpPr>
        <p:spPr>
          <a:xfrm rot="5400000">
            <a:off x="3002333" y="1894329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이등변 삼각형 39"/>
          <p:cNvSpPr/>
          <p:nvPr/>
        </p:nvSpPr>
        <p:spPr>
          <a:xfrm rot="5400000">
            <a:off x="6009765" y="1864791"/>
            <a:ext cx="334964" cy="185573"/>
          </a:xfrm>
          <a:prstGeom prst="triangle">
            <a:avLst>
              <a:gd name="adj" fmla="val 49288"/>
            </a:avLst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이등변 삼각형 40"/>
          <p:cNvSpPr/>
          <p:nvPr/>
        </p:nvSpPr>
        <p:spPr>
          <a:xfrm rot="5400000">
            <a:off x="9075094" y="1857367"/>
            <a:ext cx="334964" cy="185573"/>
          </a:xfrm>
          <a:prstGeom prst="triangle">
            <a:avLst>
              <a:gd name="adj" fmla="val 49288"/>
            </a:avLst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0" name="RQ300"/>
          <p:cNvSpPr>
            <a:spLocks noGrp="1"/>
          </p:cNvSpPr>
          <p:nvPr/>
        </p:nvSpPr>
        <p:spPr>
          <a:xfrm>
            <a:off x="60000" y="4850641"/>
            <a:ext cx="12072000" cy="6000"/>
          </a:xfrm>
          <a:prstGeom prst="rect">
            <a:avLst/>
          </a:prstGeom>
          <a:solidFill>
            <a:srgbClr val="CCCCCC"/>
          </a:solidFill>
        </p:spPr>
      </p:sp>
      <p:sp>
        <p:nvSpPr>
          <p:cNvPr id="301" name="RQ301"/>
          <p:cNvSpPr>
            <a:spLocks noGrp="1"/>
          </p:cNvSpPr>
          <p:nvPr/>
        </p:nvSpPr>
        <p:spPr>
          <a:xfrm>
            <a:off x="60000" y="4886641"/>
            <a:ext cx="12072000" cy="120000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algn="ctr"/>
            <a:r>
              <a:rPr lang="ko-KR" dirty="0" sz="1000">
                <a:solidFill>
                  <a:srgbClr val="999999"/>
                </a:solidFill>
                <a:latin typeface="Pretendard"/>
                <a:ea typeface="Pretendard"/>
                <a:cs typeface="Pretendard"/>
              </a:rPr>
              <a:t>분기별 실행 계획</a:t>
            </a:r>
          </a:p>
        </p:txBody>
      </p:sp>
      <p:sp>
        <p:nvSpPr>
          <p:cNvPr id="302" name="RD302"/>
          <p:cNvSpPr>
            <a:spLocks noGrp="1"/>
          </p:cNvSpPr>
          <p:nvPr/>
        </p:nvSpPr>
        <p:spPr>
          <a:xfrm>
            <a:off x="60000" y="2250000"/>
            <a:ext cx="2957029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▷ PoC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정확도 88%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응답 200ms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PoC 승인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0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ML팀</a:t>
            </a:r>
          </a:p>
        </p:txBody>
      </p:sp>
      <p:sp>
        <p:nvSpPr>
          <p:cNvPr id="303" name="RQ303"/>
          <p:cNvSpPr>
            <a:spLocks noGrp="1"/>
          </p:cNvSpPr>
          <p:nvPr/>
        </p:nvSpPr>
        <p:spPr>
          <a:xfrm>
            <a:off x="60000" y="5297790"/>
            <a:ext cx="2957029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3C41E6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PoC 통과</a:t>
            </a:r>
          </a:p>
        </p:txBody>
      </p:sp>
      <p:sp>
        <p:nvSpPr>
          <p:cNvPr id="304" name="RQ304"/>
          <p:cNvSpPr>
            <a:spLocks noGrp="1"/>
          </p:cNvSpPr>
          <p:nvPr/>
        </p:nvSpPr>
        <p:spPr>
          <a:xfrm>
            <a:off x="60000" y="5937790"/>
            <a:ext cx="1458514" cy="380000"/>
          </a:xfrm>
          <a:prstGeom prst="rect">
            <a:avLst/>
          </a:prstGeom>
          <a:solidFill>
            <a:srgbClr val="E8ECFC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낮음</a:t>
            </a:r>
          </a:p>
        </p:txBody>
      </p:sp>
      <p:sp>
        <p:nvSpPr>
          <p:cNvPr id="305" name="RQ305"/>
          <p:cNvSpPr>
            <a:spLocks noGrp="1"/>
          </p:cNvSpPr>
          <p:nvPr/>
        </p:nvSpPr>
        <p:spPr>
          <a:xfrm>
            <a:off x="1558514" y="5937790"/>
            <a:ext cx="1458514" cy="380000"/>
          </a:xfrm>
          <a:prstGeom prst="rect">
            <a:avLst/>
          </a:prstGeom>
          <a:solidFill>
            <a:srgbClr val="E8ECFC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3C41E6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dirty="0" sz="110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Small</a:t>
            </a:r>
          </a:p>
        </p:txBody>
      </p:sp>
      <p:sp>
        <p:nvSpPr>
          <p:cNvPr id="306" name="RD306"/>
          <p:cNvSpPr>
            <a:spLocks noGrp="1"/>
          </p:cNvSpPr>
          <p:nvPr/>
        </p:nvSpPr>
        <p:spPr>
          <a:xfrm>
            <a:off x="3137029" y="2250000"/>
            <a:ext cx="288743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▷ 프로덕션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정확도 92%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응답 80ms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10만 추론/일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0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플랫폼팀</a:t>
            </a:r>
          </a:p>
        </p:txBody>
      </p:sp>
      <p:sp>
        <p:nvSpPr>
          <p:cNvPr id="307" name="RQ307"/>
          <p:cNvSpPr>
            <a:spLocks noGrp="1"/>
          </p:cNvSpPr>
          <p:nvPr/>
        </p:nvSpPr>
        <p:spPr>
          <a:xfrm>
            <a:off x="3137029" y="5297790"/>
            <a:ext cx="288743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2D30B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SLA 99.5%</a:t>
            </a:r>
          </a:p>
        </p:txBody>
      </p:sp>
      <p:sp>
        <p:nvSpPr>
          <p:cNvPr id="308" name="RQ308"/>
          <p:cNvSpPr>
            <a:spLocks noGrp="1"/>
          </p:cNvSpPr>
          <p:nvPr/>
        </p:nvSpPr>
        <p:spPr>
          <a:xfrm>
            <a:off x="3137029" y="5937790"/>
            <a:ext cx="1423716" cy="380000"/>
          </a:xfrm>
          <a:prstGeom prst="rect">
            <a:avLst/>
          </a:prstGeom>
          <a:solidFill>
            <a:srgbClr val="D4DCFB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낮음</a:t>
            </a:r>
          </a:p>
        </p:txBody>
      </p:sp>
      <p:sp>
        <p:nvSpPr>
          <p:cNvPr id="309" name="RQ309"/>
          <p:cNvSpPr>
            <a:spLocks noGrp="1"/>
          </p:cNvSpPr>
          <p:nvPr/>
        </p:nvSpPr>
        <p:spPr>
          <a:xfrm>
            <a:off x="4600745" y="5937790"/>
            <a:ext cx="1423716" cy="380000"/>
          </a:xfrm>
          <a:prstGeom prst="rect">
            <a:avLst/>
          </a:prstGeom>
          <a:solidFill>
            <a:srgbClr val="D4DCFB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2D30B8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dirty="0" sz="110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Medium</a:t>
            </a:r>
          </a:p>
        </p:txBody>
      </p:sp>
      <p:sp>
        <p:nvSpPr>
          <p:cNvPr id="310" name="RD310"/>
          <p:cNvSpPr>
            <a:spLocks noGrp="1"/>
          </p:cNvSpPr>
          <p:nvPr/>
        </p:nvSpPr>
        <p:spPr>
          <a:xfrm>
            <a:off x="6144461" y="2250000"/>
            <a:ext cx="2980107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▷ 확장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정확도 94.5%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응답 45ms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3서비스 적용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0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전사팀</a:t>
            </a:r>
          </a:p>
        </p:txBody>
      </p:sp>
      <p:sp>
        <p:nvSpPr>
          <p:cNvPr id="311" name="RQ311"/>
          <p:cNvSpPr>
            <a:spLocks noGrp="1"/>
          </p:cNvSpPr>
          <p:nvPr/>
        </p:nvSpPr>
        <p:spPr>
          <a:xfrm>
            <a:off x="6144461" y="5297790"/>
            <a:ext cx="2980107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E249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ROI 200%</a:t>
            </a:r>
          </a:p>
        </p:txBody>
      </p:sp>
      <p:sp>
        <p:nvSpPr>
          <p:cNvPr id="312" name="RQ312"/>
          <p:cNvSpPr>
            <a:spLocks noGrp="1"/>
          </p:cNvSpPr>
          <p:nvPr/>
        </p:nvSpPr>
        <p:spPr>
          <a:xfrm>
            <a:off x="6144461" y="5937790"/>
            <a:ext cx="1470053" cy="380000"/>
          </a:xfrm>
          <a:prstGeom prst="rect">
            <a:avLst/>
          </a:prstGeom>
          <a:solidFill>
            <a:srgbClr val="C0CCFA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F5A623"/>
                </a:solidFill>
                <a:latin typeface="Pretendard"/>
                <a:ea typeface="Pretendard"/>
                <a:cs typeface="Pretendard"/>
              </a:rPr>
              <a:t>중간</a:t>
            </a:r>
          </a:p>
        </p:txBody>
      </p:sp>
      <p:sp>
        <p:nvSpPr>
          <p:cNvPr id="313" name="RQ313"/>
          <p:cNvSpPr>
            <a:spLocks noGrp="1"/>
          </p:cNvSpPr>
          <p:nvPr/>
        </p:nvSpPr>
        <p:spPr>
          <a:xfrm>
            <a:off x="7654514" y="5937790"/>
            <a:ext cx="1470053" cy="380000"/>
          </a:xfrm>
          <a:prstGeom prst="rect">
            <a:avLst/>
          </a:prstGeom>
          <a:solidFill>
            <a:srgbClr val="C0CCFA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E2490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dirty="0" sz="110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Large</a:t>
            </a:r>
          </a:p>
        </p:txBody>
      </p:sp>
      <p:sp>
        <p:nvSpPr>
          <p:cNvPr id="314" name="RD314"/>
          <p:cNvSpPr>
            <a:spLocks noGrp="1"/>
          </p:cNvSpPr>
          <p:nvPr/>
        </p:nvSpPr>
        <p:spPr>
          <a:xfrm>
            <a:off x="9244568" y="2250000"/>
            <a:ext cx="2887432" cy="4000000"/>
          </a:xfrm>
          <a:prstGeom prst="rect">
            <a:avLst/>
          </a:prstGeom>
          <a:noFill/>
        </p:spPr>
        <p:txBody>
          <a:bodyPr wrap="square" lIns="152400" tIns="114300" rIns="152400" bIns="114300" anchor="t"/>
          <a:lstStyle/>
          <a:p>
            <a:r>
              <a:rPr lang="ko-KR" dirty="0" sz="11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▷ 안정화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정확도 96%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응답 30ms</a:t>
            </a:r>
          </a:p>
          <a:p>
            <a:r>
              <a:rPr lang="ko-KR" dirty="0" sz="1100">
                <a:solidFill>
                  <a:srgbClr val="444444"/>
                </a:solidFill>
                <a:latin typeface="Pretendard"/>
                <a:ea typeface="Pretendard"/>
                <a:cs typeface="Pretendard"/>
              </a:rPr>
              <a:t>□ 드리프트 0건</a:t>
            </a:r>
          </a:p>
          <a:p>
            <a:r>
              <a:rPr lang="ko-KR" dirty="0" sz="500">
                <a:latin typeface="Pretendard"/>
                <a:ea typeface="Pretendard"/>
                <a:cs typeface="Pretendard"/>
              </a:rPr>
              <a:t/>
            </a:r>
          </a:p>
          <a:p>
            <a:r>
              <a:rPr lang="ko-KR" dirty="0" sz="1000">
                <a:solidFill>
                  <a:srgbClr val="888888"/>
                </a:solidFill>
                <a:latin typeface="Pretendard"/>
                <a:ea typeface="Pretendard"/>
                <a:cs typeface="Pretendard"/>
              </a:rPr>
              <a:t>● 전사팀</a:t>
            </a:r>
          </a:p>
        </p:txBody>
      </p:sp>
      <p:sp>
        <p:nvSpPr>
          <p:cNvPr id="315" name="RQ315"/>
          <p:cNvSpPr>
            <a:spLocks noGrp="1"/>
          </p:cNvSpPr>
          <p:nvPr/>
        </p:nvSpPr>
        <p:spPr>
          <a:xfrm>
            <a:off x="9244568" y="5297790"/>
            <a:ext cx="2887432" cy="520000"/>
          </a:xfrm>
          <a:prstGeom prst="rect">
            <a:avLst/>
          </a:prstGeom>
          <a:solidFill>
            <a:srgbClr val="F4F6FE"/>
          </a:solidFill>
          <a:ln w="19050">
            <a:solidFill>
              <a:srgbClr val="1419AB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핵심 목표</a:t>
            </a:r>
          </a:p>
          <a:p>
            <a:pPr algn="ctr"/>
            <a:r>
              <a:rPr lang="ko-KR" dirty="0" sz="1100">
                <a:solidFill>
                  <a:srgbClr val="111111"/>
                </a:solidFill>
                <a:latin typeface="Pretendard"/>
                <a:ea typeface="Pretendard"/>
                <a:cs typeface="Pretendard"/>
              </a:rPr>
              <a:t>ROI 320%</a:t>
            </a:r>
          </a:p>
        </p:txBody>
      </p:sp>
      <p:sp>
        <p:nvSpPr>
          <p:cNvPr id="316" name="RQ316"/>
          <p:cNvSpPr>
            <a:spLocks noGrp="1"/>
          </p:cNvSpPr>
          <p:nvPr/>
        </p:nvSpPr>
        <p:spPr>
          <a:xfrm>
            <a:off x="9244568" y="5937790"/>
            <a:ext cx="1423716" cy="380000"/>
          </a:xfrm>
          <a:prstGeom prst="rect">
            <a:avLst/>
          </a:prstGeom>
          <a:solidFill>
            <a:srgbClr val="AABBF9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리스크</a:t>
            </a:r>
          </a:p>
          <a:p>
            <a:pPr algn="ctr"/>
            <a:r>
              <a:rPr lang="ko-KR" dirty="0" sz="1100">
                <a:solidFill>
                  <a:srgbClr val="52C41A"/>
                </a:solidFill>
                <a:latin typeface="Pretendard"/>
                <a:ea typeface="Pretendard"/>
                <a:cs typeface="Pretendard"/>
              </a:rPr>
              <a:t>낮음</a:t>
            </a:r>
          </a:p>
        </p:txBody>
      </p:sp>
      <p:sp>
        <p:nvSpPr>
          <p:cNvPr id="317" name="RQ317"/>
          <p:cNvSpPr>
            <a:spLocks noGrp="1"/>
          </p:cNvSpPr>
          <p:nvPr/>
        </p:nvSpPr>
        <p:spPr>
          <a:xfrm>
            <a:off x="10708284" y="5937790"/>
            <a:ext cx="1423716" cy="380000"/>
          </a:xfrm>
          <a:prstGeom prst="rect">
            <a:avLst/>
          </a:prstGeom>
          <a:solidFill>
            <a:srgbClr val="AABBF9"/>
          </a:solidFill>
        </p:spPr>
        <p:txBody>
          <a:bodyPr wrap="square" lIns="91440" tIns="45720" rIns="91440" bIns="45720" anchor="ctr"/>
          <a:lstStyle/>
          <a:p>
            <a:pPr algn="ctr"/>
            <a:r>
              <a:rPr lang="ko-KR" dirty="0" sz="900" b="1">
                <a:solidFill>
                  <a:srgbClr val="1419AB"/>
                </a:solidFill>
                <a:latin typeface="Pretendard"/>
                <a:ea typeface="Pretendard"/>
                <a:cs typeface="Pretendard"/>
              </a:rPr>
              <a:t>규모</a:t>
            </a:r>
          </a:p>
          <a:p>
            <a:pPr algn="ctr"/>
            <a:r>
              <a:rPr lang="ko-KR" dirty="0" sz="1100">
                <a:solidFill>
                  <a:srgbClr val="333333"/>
                </a:solidFill>
                <a:latin typeface="Pretendard"/>
                <a:ea typeface="Pretendard"/>
                <a:cs typeface="Pretendard"/>
              </a:rPr>
              <a:t>Large</a:t>
            </a:r>
          </a:p>
        </p:txBody>
      </p:sp>
    </p:spTree>
    <p:extLst>
      <p:ext uri="{BB962C8B-B14F-4D97-AF65-F5344CB8AC3E}">
        <ns2:creationId val="863509477"/>
      </p:ext>
    </p:extLst>
  </p:cSld>
  <p:clrMapOvr>
    <a:masterClrMapping/>
  </p:clrMapOvr>
</p:sld>
</file>

<file path=ppt/slides/slide35.xml><?xml version="1.0" encoding="utf-8"?>
<p:sld xmlns:a="http://schemas.openxmlformats.org/drawingml/2006/main" xmlns:ns3="http://schemas.microsoft.com/office/drawing/2010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5943887" y="1619852"/>
            <a:ext cx="6248113" cy="5245768"/>
          </a:xfrm>
          <a:prstGeom prst="rect">
            <a:avLst/>
          </a:prstGeom>
          <a:solidFill>
            <a:srgbClr val="0C0E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엔터프라이즈 도입</a:t>
            </a:r>
            <a:endParaRPr lang="ko-KR" altLang="en-US" dirty="0"/>
          </a:p>
        </p:txBody>
      </p:sp>
      <p:sp>
        <p:nvSpPr>
          <p:cNvPr id="9" name="내용 개체 틀 8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08 도입 효과</a:t>
            </a:r>
            <a:endParaRPr lang="ko-KR" altLang="en-US" dirty="0"/>
          </a:p>
        </p:txBody>
      </p:sp>
      <p:sp>
        <p:nvSpPr>
          <p:cNvPr id="22" name="Text 1"/>
          <p:cNvSpPr/>
          <p:nvPr/>
        </p:nvSpPr>
        <p:spPr>
          <a:xfrm>
            <a:off x="395032" y="780494"/>
            <a:ext cx="2200409" cy="676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ko-KR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3.3. 도입 전후 비교</a:t>
            </a:r>
          </a:p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/>
            </a:r>
          </a:p>
        </p:txBody>
      </p:sp>
      <p:sp>
        <p:nvSpPr>
          <p:cNvPr id="12" name="Text 1"/>
          <p:cNvSpPr/>
          <p:nvPr/>
        </p:nvSpPr>
        <p:spPr>
          <a:xfrm>
            <a:off x="2676575" y="719331"/>
            <a:ext cx="8870845" cy="737936"/>
          </a:xfrm>
          <a:prstGeom prst="rect">
            <a:avLst/>
          </a:prstGeom>
          <a:noFill/>
          <a:ln/>
        </p:spPr>
        <p:txBody>
          <a:bodyPr wrap="square" lIns="0" tIns="0" rIns="0" bIns="0" numCol="1" rtlCol="0" anchor="ctr"/>
          <a:lstStyle/>
          <a:p>
            <a:r>
              <a:rPr lang="ko-KR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 플랫폼 도입으로 달성한 정량적 운영 혁신</a:t>
            </a:r>
          </a:p>
          <a:p/>
          <a:p/>
        </p:txBody>
      </p:sp>
      <p:sp>
        <p:nvSpPr>
          <p:cNvPr id="16" name="타원 15"/>
          <p:cNvSpPr/>
          <p:nvPr/>
        </p:nvSpPr>
        <p:spPr>
          <a:xfrm>
            <a:off x="2232968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룰 기반 의사결정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395032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수동 배포(주1회)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0" name="이등변 삼각형 29"/>
          <p:cNvSpPr/>
          <p:nvPr/>
        </p:nvSpPr>
        <p:spPr>
          <a:xfrm rot="5400000">
            <a:off x="5416831" y="3868601"/>
            <a:ext cx="539747" cy="18557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6733891" y="2094237"/>
            <a:ext cx="4813529" cy="4274047"/>
            <a:chOff x="6400019" y="2012761"/>
            <a:chExt cx="4813529" cy="4274047"/>
          </a:xfrm>
        </p:grpSpPr>
        <p:sp>
          <p:nvSpPr>
            <p:cNvPr id="13" name="타원 12"/>
            <p:cNvSpPr/>
            <p:nvPr/>
          </p:nvSpPr>
          <p:spPr>
            <a:xfrm>
              <a:off x="6400019" y="4384014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ko-KR" sz="12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스트림 처리(ms)</a:t>
              </a:r>
            </a:p>
          </p:txBody>
        </p:sp>
        <p:sp>
          <p:nvSpPr>
            <p:cNvPr id="18" name="타원 17"/>
            <p:cNvSpPr/>
            <p:nvPr/>
          </p:nvSpPr>
          <p:spPr>
            <a:xfrm>
              <a:off x="7822856" y="2012761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ko-KR" sz="12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자동 CI/CD(시간단위)</a:t>
              </a:r>
              <a:endParaRPr lang="en-US" altLang="ko-KR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  <a:p>
              <a:pPr algn="ctr"/>
              <a:endParaRPr lang="ko-KR" altLang="en-US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9310754" y="4384014"/>
              <a:ext cx="1902794" cy="1902794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999DFF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ko-KR" sz="1200" dirty="0" smtClean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rPr>
                <a:t>인건비-40%</a:t>
              </a:r>
              <a:endParaRPr lang="ko-KR" altLang="en-US" sz="1600" dirty="0">
                <a:solidFill>
                  <a:srgbClr val="1419AB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endParaRPr>
            </a:p>
          </p:txBody>
        </p:sp>
        <p:grpSp>
          <p:nvGrpSpPr>
            <p:cNvPr id="4" name="그룹 3"/>
            <p:cNvGrpSpPr/>
            <p:nvPr/>
          </p:nvGrpSpPr>
          <p:grpSpPr>
            <a:xfrm>
              <a:off x="7599899" y="3320870"/>
              <a:ext cx="2385246" cy="2385246"/>
              <a:chOff x="7673255" y="3218962"/>
              <a:chExt cx="2565890" cy="2565890"/>
            </a:xfrm>
          </p:grpSpPr>
          <p:sp>
            <p:nvSpPr>
              <p:cNvPr id="23" name="타원 22"/>
              <p:cNvSpPr/>
              <p:nvPr/>
            </p:nvSpPr>
            <p:spPr>
              <a:xfrm>
                <a:off x="7673255" y="3218962"/>
                <a:ext cx="2565890" cy="2565890"/>
              </a:xfrm>
              <a:prstGeom prst="ellipse">
                <a:avLst/>
              </a:prstGeom>
              <a:solidFill>
                <a:srgbClr val="999DFF">
                  <a:alpha val="50000"/>
                </a:srgb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1419AB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7932750" y="3478457"/>
                <a:ext cx="2046900" cy="2046900"/>
              </a:xfrm>
              <a:prstGeom prst="ellipse">
                <a:avLst/>
              </a:prstGeom>
              <a:solidFill>
                <a:srgbClr val="3C41E6"/>
              </a:solidFill>
              <a:ln w="19050">
                <a:solidFill>
                  <a:srgbClr val="999DFF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ko-KR" dirty="0" smtClean="0" sz="1200">
                    <a:solidFill>
                      <a:schemeClr val="bg1"/>
                    </a:solidFill>
                    <a:latin typeface="Pretendard SemiBold" panose="02000703000000020004" pitchFamily="2" charset="-127"/>
                    <a:ea typeface="Pretendard SemiBold" panose="02000703000000020004" pitchFamily="2" charset="-127"/>
                    <a:cs typeface="Pretendard SemiBold" panose="02000703000000020004" pitchFamily="2" charset="-127"/>
                  </a:rPr>
                  <a:t>ML 실시간 추론</a:t>
                </a:r>
                <a:endParaRPr lang="ko-KR" altLang="en-US" dirty="0">
                  <a:solidFill>
                    <a:schemeClr val="bg1"/>
                  </a:solidFill>
                  <a:latin typeface="Pretendard SemiBold" panose="02000703000000020004" pitchFamily="2" charset="-127"/>
                  <a:ea typeface="Pretendard SemiBold" panose="02000703000000020004" pitchFamily="2" charset="-127"/>
                  <a:cs typeface="Pretendard SemiBold" panose="02000703000000020004" pitchFamily="2" charset="-127"/>
                </a:endParaRPr>
              </a:p>
            </p:txBody>
          </p:sp>
        </p:grpSp>
        <p:pic>
          <p:nvPicPr>
            <p:cNvPr id="7" name="그림 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ns3:useLocalDpi val="0"/>
                </a:ext>
              </a:extLst>
            </a:blip>
            <a:stretch>
              <a:fillRect/>
            </a:stretch>
          </p:blipFill>
          <p:spPr>
            <a:xfrm rot="20321414">
              <a:off x="7098002" y="3571500"/>
              <a:ext cx="820397" cy="745815"/>
            </a:xfrm>
            <a:prstGeom prst="rect">
              <a:avLst/>
            </a:prstGeom>
          </p:spPr>
        </p:pic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ns3:useLocalDpi val="0"/>
                </a:ext>
              </a:extLst>
            </a:blip>
            <a:stretch>
              <a:fillRect/>
            </a:stretch>
          </p:blipFill>
          <p:spPr>
            <a:xfrm rot="6614646">
              <a:off x="9556678" y="3467740"/>
              <a:ext cx="820397" cy="745815"/>
            </a:xfrm>
            <a:prstGeom prst="rect">
              <a:avLst/>
            </a:prstGeom>
          </p:spPr>
        </p:pic>
        <p:pic>
          <p:nvPicPr>
            <p:cNvPr id="32" name="그림 3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ns3:useLocalDpi val="0"/>
                </a:ext>
              </a:extLst>
            </a:blip>
            <a:stretch>
              <a:fillRect/>
            </a:stretch>
          </p:blipFill>
          <p:spPr>
            <a:xfrm rot="13569304">
              <a:off x="8438923" y="5495793"/>
              <a:ext cx="820397" cy="745815"/>
            </a:xfrm>
            <a:prstGeom prst="rect">
              <a:avLst/>
            </a:prstGeom>
          </p:spPr>
        </p:pic>
      </p:grpSp>
      <p:sp>
        <p:nvSpPr>
          <p:cNvPr id="35" name="타원 34"/>
          <p:cNvSpPr/>
          <p:nvPr/>
        </p:nvSpPr>
        <p:spPr>
          <a:xfrm>
            <a:off x="4070904" y="3212246"/>
            <a:ext cx="1621012" cy="1621012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배치 처리(T+1)</a:t>
            </a:r>
            <a:endParaRPr lang="ko-KR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이등변 삼각형 36"/>
          <p:cNvSpPr/>
          <p:nvPr/>
        </p:nvSpPr>
        <p:spPr>
          <a:xfrm rot="5400000">
            <a:off x="5754266" y="3926764"/>
            <a:ext cx="539747" cy="18557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 1"/>
          <p:cNvSpPr/>
          <p:nvPr/>
        </p:nvSpPr>
        <p:spPr>
          <a:xfrm>
            <a:off x="6314550" y="1838583"/>
            <a:ext cx="83868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ko-KR" altLang="ko-KR" sz="1400" dirty="0" smtClean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After</a:t>
            </a:r>
            <a:endParaRPr lang="en-US" altLang="ko-KR" sz="1400" dirty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39" name="Text 1"/>
          <p:cNvSpPr/>
          <p:nvPr/>
        </p:nvSpPr>
        <p:spPr>
          <a:xfrm>
            <a:off x="4940809" y="1838583"/>
            <a:ext cx="83868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/>
            <a:r>
              <a:rPr lang="ko-KR" altLang="ko-KR" sz="1400" dirty="0" smtClean="0">
                <a:solidFill>
                  <a:srgbClr val="0C0E68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Before</a:t>
            </a:r>
            <a:endParaRPr lang="en-US" altLang="ko-KR" sz="1400" dirty="0">
              <a:solidFill>
                <a:srgbClr val="0C0E68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ns4:creationId val="525052166"/>
      </p:ext>
    </p:extLst>
  </p:cSld>
  <p:clrMapOvr>
    <a:masterClrMapping/>
  </p:clrMapOvr>
</p:sld>
</file>

<file path=ppt/slides/slide46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powerpoint/2010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pic>
        <ns0:nvPicPr>
          <ns0:cNvPr id="4" name="Image 1" descr="preencoded.png"/>
          <ns0:cNvPicPr>
            <ns1:picLocks noChangeAspect="1"/>
          </ns0:cNvPicPr>
          <ns0:nvPr/>
        </ns0:nvPicPr>
        <ns0:blipFill>
          <ns1:blip ns2:embed="rId2"/>
          <ns1:srcRect/>
          <ns1:stretch/>
        </ns0:blipFill>
        <ns0:spPr>
          <ns1:xfrm>
            <ns1:off x="603311" y="2311400"/>
            <ns1:ext cx="1598632" cy="267494"/>
          </ns1:xfrm>
          <ns1:prstGeom prst="rect">
            <ns1:avLst/>
          </ns1:prstGeom>
        </ns0:spPr>
      </ns0:pic>
      <ns0:sp>
        <ns0:nvSpPr>
          <ns0:cNvPr id="8" name="Text 3"/>
          <ns0:cNvSpPr/>
          <ns0:nvPr/>
        </ns0:nvSpPr>
        <ns0:spPr>
          <ns1:xfrm>
            <ns1:off x="8661461" y="3324430"/>
            <ns1:ext cx="2821971" cy="257087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ctr"/>
          <ns1:lstStyle/>
          <ns1:p>
            <ns1:pPr marL="0" indent="0" algn="l">
              <ns1:lnSpc>
                <ns1:spcPts val="1020"/>
              </ns1:lnSpc>
              <ns1:buNone/>
            </ns1:pPr>
            <ns1:r>
              <ns1:rPr lang="en-US" dirty="0">
                <ns1:solidFill>
                  <ns1:schemeClr val="bg1"/>
                </ns1:solidFill>
                <ns1:latin typeface="Pretendard Medium" panose="02000603000000020004" pitchFamily="2" charset="-127"/>
                <ns1:ea typeface="Pretendard Medium" panose="02000603000000020004" pitchFamily="2" charset="-127"/>
                <ns1:cs typeface="Pretendard Medium" panose="02000603000000020004" pitchFamily="2" charset="-127"/>
              </ns1:rPr>
              <ns1:t>Drive Neo Technology</ns1:t>
            </ns1:r>
          </ns1:p>
        </ns0:txBody>
      </ns0:sp>
      <ns0:sp>
        <ns0:nvSpPr>
          <ns0:cNvPr id="12" name="TextBox 11"/>
          <ns0:cNvSpPr txBox="1"/>
          <ns0:nvPr/>
        </ns0:nvSpPr>
        <ns0:spPr>
          <ns1:xfrm>
            <ns1:off x="603311" y="2943548"/>
            <ns1:ext cx="7532191" cy="1018852"/>
          </ns1:xfrm>
          <ns1:prstGeom prst="rect">
            <ns1:avLst/>
          </ns1:prstGeom>
          <ns1:noFill/>
        </ns0:spPr>
        <ns0:txBody>
          <ns1:bodyPr wrap="square" lIns="0" tIns="0" rIns="0" bIns="0" rtlCol="0" anchor="ctr" anchorCtr="0">
            <ns1:noAutofit/>
          </ns1:bodyPr>
          <ns1:lstStyle/>
          <ns1:p>
            <ns1:pPr>
              <ns1:lnSpc>
                <ns1:spcPts val="4064"/>
              </ns1:lnSpc>
            </ns1:pPr>
            <ns1:r>
              <ns1:rPr lang="ko-KR" altLang="en-US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감사합니다</ns1:t>
            </ns1:r>
            <ns1:r>
              <ns1:rPr lang="en-US" altLang="ko-KR" sz="6600" dirty="0" smtClean="0">
                <ns1:solidFill>
                  <ns1:schemeClr val="bg1"/>
                </ns1:solidFill>
                <ns1:latin typeface="Pretendard SemiBold" panose="02000703000000020004" pitchFamily="2" charset="-127"/>
                <ns1:ea typeface="Pretendard SemiBold" panose="02000703000000020004" pitchFamily="2" charset="-127"/>
                <ns1:cs typeface="Pretendard SemiBold" panose="02000703000000020004" pitchFamily="2" charset="-127"/>
              </ns1:rPr>
              <ns1:t>.</ns1:t>
            </ns1:r>
            <ns1:endParaRPr lang="en-US" altLang="ko-KR" sz="6600" dirty="0">
              <ns1:solidFill>
                <ns1:schemeClr val="bg1"/>
              </ns1:solidFill>
              <ns1:latin typeface="Pretendard SemiBold" panose="02000703000000020004" pitchFamily="2" charset="-127"/>
              <ns1:ea typeface="Pretendard SemiBold" panose="02000703000000020004" pitchFamily="2" charset="-127"/>
              <ns1:cs typeface="Pretendard SemiBold" panose="02000703000000020004" pitchFamily="2" charset="-127"/>
            </ns1:endParaRPr>
          </ns1:p>
        </ns0:txBody>
      </ns0:sp>
    </ns0:spTree>
    <ns0:extLst>
      <ns0:ext uri="{BB962C8B-B14F-4D97-AF65-F5344CB8AC3E}">
        <ns3:creationId val="2657807510"/>
      </ns0:ext>
    </ns0:extLst>
  </ns0:cSld>
  <ns0:clrMapOvr>
    <ns1:masterClrMapping/>
  </ns0:clrMapOvr>
</ns0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1760</TotalTime>
  <Words>3905</Words>
  <Application>Microsoft Office PowerPoint</Application>
  <PresentationFormat>와이드스크린</PresentationFormat>
  <Paragraphs>667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60" baseType="lpstr">
      <vt:lpstr>Pretendard</vt:lpstr>
      <vt:lpstr>Pretendard ExtraBold</vt:lpstr>
      <vt:lpstr>Pretendard Light</vt:lpstr>
      <vt:lpstr>Pretendard Medium</vt:lpstr>
      <vt:lpstr>Pretendard SemiBold</vt:lpstr>
      <vt:lpstr>맑은 고딕</vt:lpstr>
      <vt:lpstr>맑은 고딕</vt:lpstr>
      <vt:lpstr>프리젠테이션 4 Regular</vt:lpstr>
      <vt:lpstr>프리젠테이션 5 Medium</vt:lpstr>
      <vt:lpstr>프리젠테이션 7 Bold</vt:lpstr>
      <vt:lpstr>Arial</vt:lpstr>
      <vt:lpstr>Wingdings</vt:lpstr>
      <vt:lpstr>Office 테마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발표 제목을 작성해주세요</vt:lpstr>
      <vt:lpstr>발표 제목을 작성해주세요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PPT 대제목 작성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gsin</dc:creator>
  <cp:lastModifiedBy>gsin</cp:lastModifiedBy>
  <cp:revision>112</cp:revision>
  <dcterms:created xsi:type="dcterms:W3CDTF">2026-04-14T08:20:41Z</dcterms:created>
  <dcterms:modified xsi:type="dcterms:W3CDTF">2026-05-26T07:20:56Z</dcterms:modified>
</cp:coreProperties>
</file>