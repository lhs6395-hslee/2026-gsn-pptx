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0/main" xmlns:ns4="http://schemas.microsoft.com/office/powerpoint/2012/main" saveSubsetFonts="1">
  <ns0:sldMasterIdLst>
    <ns0:sldMasterId id="2147483648" ns1:id="rId1"/>
    <ns0:sldMasterId id="2147483650" ns1:id="rId2"/>
  </ns0:sldMasterIdLst>
  <ns0:sldIdLst>
    <ns0:sldId id="256" ns1:id="rId8"/>
    <ns0:sldId id="257" ns1:id="rId9"/>
    <ns0:sldId id="258" ns1:id="rId17"/>
    <ns0:sldId id="259" ns1:id="rId31"/>
    <ns0:sldId id="260" ns1:id="rId11"/>
    <ns0:sldId id="261" ns1:id="rId18"/>
    <ns0:sldId id="262" ns1:id="rId12"/>
    <ns0:sldId id="263" ns1:id="rId33"/>
    <ns0:sldId id="264" ns1:id="rId13"/>
    <ns0:sldId id="265" ns1:id="rId37"/>
    <ns0:sldId id="266" ns1:id="rId35"/>
    <ns0:sldId id="267" ns1:id="rId26"/>
    <ns0:sldId id="268" ns1:id="rId14"/>
    <ns0:sldId id="269" ns1:id="rId48"/>
  </ns0:sldIdLst>
  <ns0:sldSz cx="12192000" cy="6858000"/>
  <ns0:notesSz cx="6858000" cy="9144000"/>
  <ns0:defaultTextStyle>
    <ns2:defPPr>
      <ns2:defRPr lang="ko-KR"/>
    </ns2:defPPr>
    <ns2:lvl1pPr marL="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521415D9-36F7-43E2-AB2F-B90AF26B5E84}">
      <ns3:sectionLst>
        <ns3:section name="가이드" id="{5B676074-C3C7-4E33-82A1-B8F989B76644}">
          <ns3:sldIdLst>
            <ns3:sldId id="269"/>
            <ns3:sldId id="272"/>
            <ns3:sldId id="286"/>
            <ns3:sldId id="287"/>
            <ns3:sldId id="301"/>
          </ns3:sldIdLst>
        </ns3:section>
        <ns3:section name="표지" id="{65D52F42-0661-4B41-B441-9185E535CF94}">
          <ns3:sldIdLst>
            <ns3:sldId id="256"/>
          </ns3:sldIdLst>
        </ns3:section>
        <ns3:section name="목차/간지" id="{17576DB7-0DB2-4FD3-B50E-9DE209D1F52D}">
          <ns3:sldIdLst>
            <ns3:sldId id="257"/>
            <ns3:sldId id="258"/>
          </ns3:sldIdLst>
        </ns3:section>
        <ns3:section name="본문" id="{A213B285-4DD1-4C1D-A27B-633F1C9F1121}">
          <ns3:sldIdLst>
            <ns3:sldId id="283"/>
            <ns3:sldId id="291"/>
            <ns3:sldId id="282"/>
            <ns3:sldId id="290"/>
            <ns3:sldId id="281"/>
            <ns3:sldId id="285"/>
            <ns3:sldId id="293"/>
            <ns3:sldId id="292"/>
            <ns3:sldId id="289"/>
            <ns3:sldId id="311"/>
            <ns3:sldId id="310"/>
            <ns3:sldId id="312"/>
            <ns3:sldId id="267"/>
            <ns3:sldId id="270"/>
            <ns3:sldId id="284"/>
            <ns3:sldId id="294"/>
            <ns3:sldId id="261"/>
            <ns3:sldId id="275"/>
            <ns3:sldId id="299"/>
            <ns3:sldId id="300"/>
          </ns3:sldIdLst>
        </ns3:section>
        <ns3:section name="타임라인/흐름" id="{9D4BB107-11D1-4A44-9ACC-0B6CE7C3E5D2}">
          <ns3:sldIdLst>
            <ns3:sldId id="260"/>
            <ns3:sldId id="276"/>
            <ns3:sldId id="302"/>
            <ns3:sldId id="317"/>
            <ns3:sldId id="309"/>
            <ns3:sldId id="277"/>
          </ns3:sldIdLst>
        </ns3:section>
        <ns3:section name="변화" id="{4DCBC75A-F0A0-451D-8FC4-62F9A6C094AF}">
          <ns3:sldIdLst>
            <ns3:sldId id="295"/>
            <ns3:sldId id="298"/>
            <ns3:sldId id="304"/>
            <ns3:sldId id="308"/>
            <ns3:sldId id="297"/>
          </ns3:sldIdLst>
        </ns3:section>
        <ns3:section name="그래프/차트" id="{9658A8A5-B58E-4998-B187-951F90C296A1}">
          <ns3:sldIdLst>
            <ns3:sldId id="262"/>
            <ns3:sldId id="263"/>
            <ns3:sldId id="307"/>
            <ns3:sldId id="305"/>
          </ns3:sldIdLst>
        </ns3:section>
        <ns3:section name="마무리" id="{62DC044E-9886-4F21-AC6A-E8799B9F72A4}">
          <ns3:sldIdLst>
            <ns3:sldId id="313"/>
            <ns3:sldId id="315"/>
            <ns3:sldId id="316"/>
          </ns3:sldIdLst>
        </ns3:section>
      </ns3:sectionLst>
    </ns0:ext>
    <ns0:ext uri="{EFAFB233-063F-42B5-8137-9DF3F51BA10A}">
      <ns4:sld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?>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기반⋯3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방법론⋯5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도입⋯8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160778" y="2005776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160778" y="2680450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160778" y="3355124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160778" y="4029798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160778" y="4704472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160778" y="5379146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160778" y="6053819"/>
            <ns1:ext cx="30312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08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smtClean="0" dirty="0"/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Kafka→Spark Streaming. 실시간 수집. Parquet 저장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Expectations. 데이터 drift 감지. 이상치 제거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Feature Store. 재사용 가능한 피처 관리. Feast 활용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Kafka→Spark→Feature Store 데이터 수집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피처 엔지니어링 파이프라인 흐름도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Great Expectations 데이터 품질 검증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연구·프로토타입 최적. 동적 그래프. Pythonic API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PyTorch Stars 트렌드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프로덕션 서빙. TF Serving 안정성. 모바일·임베디드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대규모 분산 학습. XLA 컴파일. NumPy 호환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JAX 벤치마크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TF Serving 추론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 → Kubeflow. 코드 푸시 즉시 재학습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 CI/CD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모델 성능 모니터링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데이터 드리프트 감지 시스템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Prometheus·Grafana. 지연시간·처리량·정확도 실시간 추적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AI. 데이터 분포 변화 감지. 재학습 트리거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E2E ML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도메인별 정확도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보안 아키텍처 레이어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4570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 수집→학습→배포→모니터링 전 과정 자동화. 개발 기간 70% 단축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End-to-End 자동화·도메인 전문성·엔터프라이즈 보안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금융·제조·유통 도메인별 사전학습 모델. 정확도 평균 15% 향상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온프레미스·VPC 지원. ISO27001·ISMS 인증. 금융권 보안 기준 충족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Multi-Head Attention 구조 다이어그램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Foundation Model 사전학습→파인튜닝 흐름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RLHF 보상모델 학습 프로세스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Transformer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Foundation Model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RLHF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/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어텐션 메커니즘. 병렬처리 가능. Multi-Head Attention 기반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인간선호 강화학습. Reward Model 기반 정렬. InstructGPT 핵심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Transformer·Foundation Model·RLHF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04 학습·배포 전략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MLflow·W&amp;B 실험 추적 UI 화면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Optuna 하이퍼파라미터 최적화 수렴 곡선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ROC Curve 및 Confusion Matrix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Canary 배포 트래픽 분할 시나리오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배포 전략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ROC Curve, Precision-Recall. 비즈니스 KPI 연계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 배포. Canary 릴리즈. 안전한 모델 교체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추적. 재현 가능한 학습 환경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실험 관리·HPO 최적화·모델 평가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rPr lang="en-US" altLang="ko-KR" dirty="0"/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Fortune 500 기업 10곳 이상 구축 경험 보유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PD400"/>
          <ns0:cNvSpPr>
            <ns1:spLocks noGrp="1"/>
          </ns0:cNvSpPr>
          <ns0:nvPr/>
        </ns0:nvSpPr>
        <ns0:spPr>
          <ns1:xfrm>
            <ns1:off x="2760000" y="1180000"/>
            <ns1:ext cx="9412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PD401"/>
          <ns0:cNvSpPr>
            <ns1:spLocks noGrp="1"/>
          </ns0:cNvSpPr>
          <ns0:nvPr/>
        </ns0:nvSpPr>
        <ns0:spPr>
          <ns1:xfrm>
            <ns1:off x="5133000" y="1680000"/>
            <ns1:ext cx="7039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PD402"/>
          <ns0:cNvSpPr>
            <ns1:spLocks noGrp="1"/>
          </ns0:cNvSpPr>
          <ns0:nvPr/>
        </ns0:nvSpPr>
        <ns0:spPr>
          <ns1:xfrm>
            <ns1:off x="7506000" y="2180000"/>
            <ns1:ext cx="4666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3" name="PD403"/>
          <ns0:cNvSpPr>
            <ns1:spLocks noGrp="1"/>
          </ns0:cNvSpPr>
          <ns0:nvPr/>
        </ns0:nvSpPr>
        <ns0:spPr>
          <ns1:xfrm>
            <ns1:off x="9879000" y="2680000"/>
            <ns1:ext cx="2293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06 도입 로드맵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2717592" y="4100515"/>
            <ns1:ext cx="9414407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2717592" y="4136515"/>
            <ns1:ext cx="9414407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2717592" y="1499874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2717592" y="4547664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2717592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3797765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4957938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4957938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4957938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6165829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7453720" y="1499874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7453720" y="4547664"/>
            <ns1:ext cx="218249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7453720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8564968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756217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756217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756217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964108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처리(&lt;100ms)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ML 기반 예측(정확도 92%)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운영 비용 40% 절감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자동 배포(일 3회)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