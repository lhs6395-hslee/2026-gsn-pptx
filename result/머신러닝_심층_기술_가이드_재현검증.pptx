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0/main" xmlns:ns4="http://schemas.microsoft.com/office/powerpoint/2012/main" saveSubsetFonts="1">
  <ns0:sldMasterIdLst>
    <ns0:sldMasterId id="2147483648" ns1:id="rId1"/>
    <ns0:sldMasterId id="2147483650" ns1:id="rId2"/>
  </ns0:sldMasterIdLst>
  <ns0:sldIdLst>
    <ns0:sldId id="256" ns1:id="rId8"/>
    <ns0:sldId id="257" ns1:id="rId9"/>
    <ns0:sldId id="258" ns1:id="rId17"/>
    <ns0:sldId id="259" ns1:id="rId31"/>
    <ns0:sldId id="260" ns1:id="rId11"/>
    <ns0:sldId id="261" ns1:id="rId18"/>
    <ns0:sldId id="262" ns1:id="rId12"/>
    <ns0:sldId id="263" ns1:id="rId33"/>
    <ns0:sldId id="264" ns1:id="rId13"/>
    <ns0:sldId id="265" ns1:id="rId37"/>
    <ns0:sldId id="266" ns1:id="rId35"/>
    <ns0:sldId id="267" ns1:id="rId26"/>
    <ns0:sldId id="268" ns1:id="rId14"/>
    <ns0:sldId id="269" ns1:id="rId48"/>
  </ns0:sldIdLst>
  <ns0:sldSz cx="12192000" cy="6858000"/>
  <ns0:notesSz cx="6858000" cy="9144000"/>
  <ns0:defaultTextStyle>
    <ns2:defPPr>
      <ns2:defRPr lang="ko-KR"/>
    </ns2:defPPr>
    <ns2:lvl1pPr marL="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521415D9-36F7-43E2-AB2F-B90AF26B5E84}">
      <ns3:sectionLst>
        <ns3:section name="가이드" id="{5B676074-C3C7-4E33-82A1-B8F989B76644}">
          <ns3:sldIdLst>
            <ns3:sldId id="269"/>
            <ns3:sldId id="272"/>
            <ns3:sldId id="286"/>
            <ns3:sldId id="287"/>
            <ns3:sldId id="301"/>
          </ns3:sldIdLst>
        </ns3:section>
        <ns3:section name="표지" id="{65D52F42-0661-4B41-B441-9185E535CF94}">
          <ns3:sldIdLst>
            <ns3:sldId id="256"/>
          </ns3:sldIdLst>
        </ns3:section>
        <ns3:section name="목차/간지" id="{17576DB7-0DB2-4FD3-B50E-9DE209D1F52D}">
          <ns3:sldIdLst>
            <ns3:sldId id="257"/>
            <ns3:sldId id="258"/>
          </ns3:sldIdLst>
        </ns3:section>
        <ns3:section name="본문" id="{A213B285-4DD1-4C1D-A27B-633F1C9F1121}">
          <ns3:sldIdLst>
            <ns3:sldId id="283"/>
            <ns3:sldId id="291"/>
            <ns3:sldId id="282"/>
            <ns3:sldId id="290"/>
            <ns3:sldId id="281"/>
            <ns3:sldId id="285"/>
            <ns3:sldId id="293"/>
            <ns3:sldId id="292"/>
            <ns3:sldId id="289"/>
            <ns3:sldId id="311"/>
            <ns3:sldId id="310"/>
            <ns3:sldId id="312"/>
            <ns3:sldId id="267"/>
            <ns3:sldId id="270"/>
            <ns3:sldId id="284"/>
            <ns3:sldId id="294"/>
            <ns3:sldId id="261"/>
            <ns3:sldId id="275"/>
            <ns3:sldId id="299"/>
            <ns3:sldId id="300"/>
          </ns3:sldIdLst>
        </ns3:section>
        <ns3:section name="타임라인/흐름" id="{9D4BB107-11D1-4A44-9ACC-0B6CE7C3E5D2}">
          <ns3:sldIdLst>
            <ns3:sldId id="260"/>
            <ns3:sldId id="276"/>
            <ns3:sldId id="302"/>
            <ns3:sldId id="317"/>
            <ns3:sldId id="309"/>
            <ns3:sldId id="277"/>
          </ns3:sldIdLst>
        </ns3:section>
        <ns3:section name="변화" id="{4DCBC75A-F0A0-451D-8FC4-62F9A6C094AF}">
          <ns3:sldIdLst>
            <ns3:sldId id="295"/>
            <ns3:sldId id="298"/>
            <ns3:sldId id="304"/>
            <ns3:sldId id="308"/>
            <ns3:sldId id="297"/>
          </ns3:sldIdLst>
        </ns3:section>
        <ns3:section name="그래프/차트" id="{9658A8A5-B58E-4998-B187-951F90C296A1}">
          <ns3:sldIdLst>
            <ns3:sldId id="262"/>
            <ns3:sldId id="263"/>
            <ns3:sldId id="307"/>
            <ns3:sldId id="305"/>
          </ns3:sldIdLst>
        </ns3:section>
        <ns3:section name="마무리" id="{62DC044E-9886-4F21-AC6A-E8799B9F72A4}">
          <ns3:sldIdLst>
            <ns3:sldId id="313"/>
            <ns3:sldId id="315"/>
            <ns3:sldId id="316"/>
          </ns3:sldIdLst>
        </ns3:section>
      </ns3:sectionLst>
    </ns0:ext>
    <ns0:ext uri="{EFAFB233-063F-42B5-8137-9DF3F51BA10A}">
      <ns4:sld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oleObject" Target="../embeddings/oleObject1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</c:v>
                </c:pt>
              </c:strCache>
            </c:strRef>
          </c:tx>
          <c:spPr>
            <a:gradFill flip="none" rotWithShape="1">
              <a:gsLst>
                <a:gs pos="100000">
                  <a:srgbClr val="DEFEF8">
                    <a:alpha val="0"/>
                  </a:srgbClr>
                </a:gs>
                <a:gs pos="0">
                  <a:schemeClr val="bg1"/>
                </a:gs>
              </a:gsLst>
              <a:lin ang="5400000" scaled="0"/>
              <a:tileRect/>
            </a:gra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gradFill flip="none" rotWithShape="1">
                <a:gsLst>
                  <a:gs pos="100000">
                    <a:srgbClr val="DEFEF8">
                      <a:alpha val="0"/>
                    </a:srgbClr>
                  </a:gs>
                  <a:gs pos="0">
                    <a:srgbClr val="FF0000"/>
                  </a:gs>
                </a:gsLst>
                <a:lin ang="5400000" scaled="0"/>
                <a:tileRect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FA7-4781-8916-27729C19D577}"/>
              </c:ext>
            </c:extLst>
          </c:dPt>
          <c:dLbls>
            <c:dLbl>
              <c:idx val="0"/>
              <c:layout>
                <c:manualLayout>
                  <c:x val="4.1158024777779075E-3"/>
                  <c:y val="0"/>
                </c:manualLayout>
              </c:layout>
              <c:tx>
                <c:rich>
                  <a:bodyPr/>
                  <a:lstStyle/>
                  <a:p>
                    <a:fld id="{2CBF109F-1B62-4E19-B16F-5E57E1613C9D}" type="VALUE">
                      <a:rPr lang="en-US" altLang="ko-KR" sz="2000" smtClean="0">
                        <a:latin typeface="프리젠테이션 5 Medium" pitchFamily="2" charset="-127"/>
                        <a:ea typeface="프리젠테이션 5 Medium" pitchFamily="2" charset="-127"/>
                      </a:rPr>
                      <a:pPr/>
                      <a:t>[값]</a:t>
                    </a:fld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FA7-4781-8916-27729C19D57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76%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FA7-4781-8916-27729C19D57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65%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FA7-4781-8916-27729C19D57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A7-4781-8916-27729C19D57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A7-4781-8916-27729C19D5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프리젠테이션 7 Bold" pitchFamily="2" charset="-127"/>
                    <a:ea typeface="프리젠테이션 7 Bold" pitchFamily="2" charset="-127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76</c:v>
                </c:pt>
                <c:pt idx="2">
                  <c:v>65</c:v>
                </c:pt>
                <c:pt idx="3">
                  <c:v>58</c:v>
                </c:pt>
                <c:pt idx="4">
                  <c:v>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FA7-4781-8916-27729C19D5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02</c:v>
                </c:pt>
              </c:strCache>
            </c:strRef>
          </c:tx>
          <c:spPr>
            <a:gradFill flip="none" rotWithShape="1">
              <a:gsLst>
                <a:gs pos="0">
                  <a:schemeClr val="accent3"/>
                </a:gs>
                <a:gs pos="75000">
                  <a:schemeClr val="accent3">
                    <a:lumMod val="60000"/>
                    <a:lumOff val="40000"/>
                  </a:schemeClr>
                </a:gs>
                <a:gs pos="51000">
                  <a:schemeClr val="accent3">
                    <a:alpha val="75000"/>
                  </a:schemeClr>
                </a:gs>
                <a:gs pos="100000">
                  <a:schemeClr val="accent3"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7-4781-8916-27729C19D5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</c:v>
                </c:pt>
              </c:strCache>
            </c:strRef>
          </c:tx>
          <c:spPr>
            <a:gradFill flip="none" rotWithShape="1">
              <a:gsLst>
                <a:gs pos="0">
                  <a:schemeClr val="accent3">
                    <a:tint val="65000"/>
                  </a:schemeClr>
                </a:gs>
                <a:gs pos="75000">
                  <a:schemeClr val="accent3">
                    <a:tint val="65000"/>
                    <a:lumMod val="60000"/>
                    <a:lumOff val="40000"/>
                  </a:schemeClr>
                </a:gs>
                <a:gs pos="51000">
                  <a:schemeClr val="accent3">
                    <a:tint val="65000"/>
                    <a:alpha val="75000"/>
                  </a:schemeClr>
                </a:gs>
                <a:gs pos="100000">
                  <a:schemeClr val="accent3">
                    <a:tint val="65000"/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7-4781-8916-27729C19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"/>
        <c:overlap val="77"/>
        <c:axId val="924255247"/>
        <c:axId val="924243599"/>
      </c:barChart>
      <c:catAx>
        <c:axId val="9242552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924243599"/>
        <c:crosses val="autoZero"/>
        <c:auto val="1"/>
        <c:lblAlgn val="ctr"/>
        <c:lblOffset val="100"/>
        <c:noMultiLvlLbl val="0"/>
      </c:catAx>
      <c:valAx>
        <c:axId val="924243599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92425524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</c:v>
                </c:pt>
                <c:pt idx="1">
                  <c:v>-2</c:v>
                </c:pt>
                <c:pt idx="2">
                  <c:v>-3.5</c:v>
                </c:pt>
                <c:pt idx="3">
                  <c:v>-10</c:v>
                </c:pt>
                <c:pt idx="4">
                  <c:v>-8</c:v>
                </c:pt>
                <c:pt idx="5">
                  <c:v>-6.2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9-49E5-96A2-2276C87484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1419A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12</c:v>
                </c:pt>
                <c:pt idx="4">
                  <c:v>4</c:v>
                </c:pt>
                <c:pt idx="5">
                  <c:v>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39-49E5-96A2-2276C8748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398242160"/>
        <c:axId val="-1398245968"/>
      </c:barChart>
      <c:catAx>
        <c:axId val="-1398242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rgbClr val="484B5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1398245968"/>
        <c:crosses val="autoZero"/>
        <c:auto val="1"/>
        <c:lblAlgn val="ctr"/>
        <c:lblOffset val="0"/>
        <c:tickMarkSkip val="1"/>
        <c:noMultiLvlLbl val="0"/>
      </c:catAx>
      <c:valAx>
        <c:axId val="-1398245968"/>
        <c:scaling>
          <c:orientation val="minMax"/>
          <c:min val="-15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484B52"/>
            </a:solidFill>
          </a:ln>
        </c:spPr>
        <c:txPr>
          <a:bodyPr/>
          <a:lstStyle/>
          <a:p>
            <a:pPr>
              <a:defRPr sz="800">
                <a:solidFill>
                  <a:schemeClr val="bg1">
                    <a:lumMod val="85000"/>
                  </a:schemeClr>
                </a:solidFill>
              </a:defRPr>
            </a:pPr>
            <a:endParaRPr lang="ko-KR"/>
          </a:p>
        </c:txPr>
        <c:crossAx val="-13982421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85000"/>
            </a:schemeClr>
          </a:solidFill>
        </a:defRPr>
      </a:pPr>
      <a:endParaRPr lang="ko-KR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?>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?>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png"/><Relationship Id="rId21" Type="http://schemas.openxmlformats.org/officeDocument/2006/relationships/image" Target="../media/image30.png"/><Relationship Id="rId34" Type="http://schemas.openxmlformats.org/officeDocument/2006/relationships/image" Target="../media/image43.png"/><Relationship Id="rId42" Type="http://schemas.openxmlformats.org/officeDocument/2006/relationships/image" Target="../media/image51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png"/><Relationship Id="rId40" Type="http://schemas.openxmlformats.org/officeDocument/2006/relationships/image" Target="../media/image49.png"/><Relationship Id="rId45" Type="http://schemas.openxmlformats.org/officeDocument/2006/relationships/image" Target="../media/image54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31" Type="http://schemas.openxmlformats.org/officeDocument/2006/relationships/image" Target="../media/image40.png"/><Relationship Id="rId44" Type="http://schemas.openxmlformats.org/officeDocument/2006/relationships/image" Target="../media/image53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Relationship Id="rId30" Type="http://schemas.openxmlformats.org/officeDocument/2006/relationships/image" Target="../media/image39.png"/><Relationship Id="rId35" Type="http://schemas.openxmlformats.org/officeDocument/2006/relationships/image" Target="../media/image44.png"/><Relationship Id="rId43" Type="http://schemas.openxmlformats.org/officeDocument/2006/relationships/image" Target="../media/image52.png"/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33" Type="http://schemas.openxmlformats.org/officeDocument/2006/relationships/image" Target="../media/image42.png"/><Relationship Id="rId38" Type="http://schemas.openxmlformats.org/officeDocument/2006/relationships/image" Target="../media/image47.png"/><Relationship Id="rId46" Type="http://schemas.openxmlformats.org/officeDocument/2006/relationships/image" Target="../media/image55.png"/><Relationship Id="rId20" Type="http://schemas.openxmlformats.org/officeDocument/2006/relationships/image" Target="../media/image29.png"/><Relationship Id="rId41" Type="http://schemas.openxmlformats.org/officeDocument/2006/relationships/image" Target="../media/image50.png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9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44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1644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아키텍처·파이프라인·엔터프라이즈 도입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AI, Cloud, BigData, CDN, Contact Center, 스마트 </ns1:t>
            </ns1:r>
            <ns1:r>
              <ns1:rPr lang="en-US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en-US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 </ns1:t>
            </ns1: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6096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머신러닝 심층 기술 가이드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GS Neotek ML 서비스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9501278" y="200577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9501278" y="2680450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9501278" y="3355124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9501278" y="4029798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9501278" y="4704472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9501278" y="537914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9501278" y="6053819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머신러닝 심층 기술 가이드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10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smtClean="0" dirty="0"/>
              <ns1:t>03 데이터 파이프라인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521794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Kafka→Spark Streaming. 실시간 수집. Parquet 저장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데이터 수집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1" name="그룹 40"/>
          <ns0:cNvGrpSpPr/>
          <ns0:nvPr/>
        </ns0:nvGrpSpPr>
        <ns0:grpSpPr>
          <ns1:xfrm>
            <ns1:off x="5912288" y="5217946"/>
            <ns1:ext cx="3029540" cy="1345038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Great Expectations. 데이터 drift 감지. 이상치 제거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품질 검증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5217946"/>
            <ns1:ext cx="3029540" cy="1345038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Feature Store. 재사용 가능한 피처 관리. Feast 활용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피처 엔지니어링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>
            <ns1:off x="5808610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4" name="직선 연결선 53"/>
          <ns0:cNvCxnSpPr/>
          <ns0:nvPr/>
        </ns0:nvCxnSpPr>
        <ns0:spPr>
          <ns1:xfrm>
            <ns1:off x="9021779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직사각형 23"/>
          <ns0:cNvSpPr/>
          <ns0:nvPr/>
        </ns0:nvSpPr>
        <ns0:spPr>
          <ns1:xfrm>
            <ns1:off x="2662116" y="780495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Kafka→Spark→Feature Store 데이터 수집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3" y="780482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피처 엔지니어링 파이프라인 흐름도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5866579" y="788113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Great Expectations 데이터 품질 검증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2" name="직각 삼각형 31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4" name="직각 삼각형 33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5" name="직각 삼각형 34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270618248"/>
      </ns0:ext>
    </ns0:extLst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cxnSp>
        <ns0:nvCxnSpPr>
          <ns0:cNvPr id="25" name="직선 연결선 24"/>
          <ns0:cNvCxnSpPr/>
          <ns0:nvPr/>
        </ns0:nvCxnSpPr>
        <ns0:spPr>
          <ns1:xfrm>
            <ns1:off x="5808610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1" name="직선 연결선 30"/>
          <ns0:cNvCxnSpPr/>
          <ns0:nvPr/>
        </ns0:nvCxnSpPr>
        <ns0:spPr>
          <ns1:xfrm>
            <ns1:off x="9021779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41" name="그룹 40"/>
          <ns0:cNvGrpSpPr/>
          <ns0:nvPr/>
        </ns0:nvGrpSpPr>
        <ns0:grpSpPr>
          <ns1:xfrm>
            <ns1:off x="5912288" y="4418753"/>
            <ns1:ext cx="3029540" cy="1241820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연구·프로토타입 최적. 동적 그래프. Pythonic API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PyTorch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05 프레임워크 선택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780495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PyTorch Stars 트렌드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4418753"/>
            <ns1:ext cx="3029540" cy="1241820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프로덕션 서빙. TF Serving 안정성. 모바일·임베디드 강점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TensorFlow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4418753"/>
            <ns1:ext cx="3029540" cy="1241820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대규모 분산 학습. XLA 컴파일. NumPy 호환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JAX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23" name="직사각형 22"/>
          <ns0:cNvSpPr/>
          <ns0:nvPr/>
        </ns0:nvSpPr>
        <ns0:spPr>
          <ns1:xfrm>
            <ns1:off x="9071043" y="780482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JAX 벤치마크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6" name="직사각형 25"/>
          <ns0:cNvSpPr/>
          <ns0:nvPr/>
        </ns0:nvSpPr>
        <ns0:spPr>
          <ns1:xfrm>
            <ns1:off x="5866579" y="788113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TF Serving 추론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8" name="직각 삼각형 27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각 삼각형 28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" name="직각 삼각형 29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모서리가 둥근 직사각형 23"/>
          <ns0:cNvSpPr/>
          <ns0:nvPr/>
        </ns0:nvSpPr>
        <ns0:spPr>
          <ns1:xfrm>
            <ns1:off x="2658154" y="5825929"/>
            <ns1:ext cx="9533846" cy="1032072"/>
          </ns1:xfrm>
          <ns1:prstGeom prst="roundRect">
            <ns1:avLst>
              <ns1:gd name="adj" fmla="val 0"/>
            </ns1:avLst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연구→PyTorch / 프로덕션→TensorFlow / 대규모 분산→JAX</ns1:t>
            </ns1:r>
          </ns1:p>
        </ns0:txBody>
      </ns0:sp>
      <ns0:sp>
        <ns0:nvSpPr>
          <ns0:cNvPr id="3" name="갈매기형 수장 2"/>
          <ns0:cNvSpPr/>
          <ns0:nvPr/>
        </ns0:nvSpPr>
        <ns0:spPr>
          <ns1:xfrm rot="5400000">
            <ns1:off x="7363194" y="589076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</ns0:spTree>
    <ns0:extLst>
      <ns0:ext uri="{BB962C8B-B14F-4D97-AF65-F5344CB8AC3E}">
        <ns2:creationId val="3287227565"/>
      </ns0:ext>
    </ns0:extLst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07 ML Ops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8546784" y="101860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GitHub Actions → Kubeflow. 코드 푸시 즉시 재학습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CI/CD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 flipH="1">
            <ns1:off x="8546784" y="2786973"/>
            <ns1:ext cx="3645217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직사각형 20"/>
          <ns0:cNvSpPr/>
          <ns0:nvPr/>
        </ns0:nvSpPr>
        <ns0:spPr>
          <ns1:xfrm>
            <ns1:off x="2658154" y="777929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 CI/CD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2658154" y="2864336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모델 성능 모니터링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2658154" y="4950744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데이터 드리프트 감지 시스템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cxnSp>
        <ns0:nvCxnSpPr>
          <ns0:cNvPr id="30" name="직선 연결선 29"/>
          <ns0:cNvCxnSpPr/>
          <ns0:nvPr/>
        </ns0:nvCxnSpPr>
        <ns0:spPr>
          <ns1:xfrm flipH="1">
            <ns1:off x="8546784" y="4851671"/>
            <ns1:ext cx="3645216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35" name="그룹 34"/>
          <ns0:cNvGrpSpPr/>
          <ns0:nvPr/>
        </ns0:nvGrpSpPr>
        <ns0:grpSpPr>
          <ns1:xfrm>
            <ns1:off x="8546784" y="3083303"/>
            <ns1:ext cx="3029540" cy="1345038"/>
            <ns1:chOff x="2844950" y="5202168"/>
            <ns1:chExt cx="2844657" cy="1345038"/>
          </ns1:xfrm>
        </ns0:grpSpPr>
        <ns0:sp>
          <ns0:nvSpPr>
            <ns0:cNvPr id="3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Prometheus·Grafana. 지연시간·처리량·정확도 실시간 추적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모니터링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38" name="그룹 37"/>
          <ns0:cNvGrpSpPr/>
          <ns0:nvPr/>
        </ns0:nvGrpSpPr>
        <ns0:grpSpPr>
          <ns1:xfrm>
            <ns1:off x="8546784" y="5148000"/>
            <ns1:ext cx="3029540" cy="1345038"/>
            <ns1:chOff x="2844950" y="5202168"/>
            <ns1:chExt cx="2844657" cy="1345038"/>
          </ns1:xfrm>
        </ns0:grpSpPr>
        <ns0:sp>
          <ns0:nvSpPr>
            <ns0:cNvPr id="39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Evidently AI. 데이터 분포 변화 감지. 재학습 트리거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0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드리프트 감지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0" name="직각 삼각형 49"/>
          <ns0:cNvSpPr/>
          <ns0:nvPr/>
        </ns0:nvSpPr>
        <ns0:spPr>
          <ns1:xfrm rot="5400000">
            <ns1:off x="2658489" y="2864002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1" name="직각 삼각형 50"/>
          <ns0:cNvSpPr/>
          <ns0:nvPr/>
        </ns0:nvSpPr>
        <ns0:spPr>
          <ns1:xfrm rot="5400000">
            <ns1:off x="2658488" y="495040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551327650"/>
      </ns0:ext>
    </ns0:extLst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" name="직사각형 20"/>
          <ns0:cNvSpPr/>
          <ns0:nvPr/>
        </ns0:nvSpPr>
        <ns0:spPr>
          <ns1:xfrm>
            <ns1:off x="2661737" y="1633848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E2E ML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7" name="직사각형 46"/>
          <ns0:cNvSpPr/>
          <ns0:nvPr/>
        </ns0:nvSpPr>
        <ns0:spPr>
          <ns1:xfrm>
            <ns1:off x="2661737" y="3415476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도메인별 정확도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8" name="직사각형 47"/>
          <ns0:cNvSpPr/>
          <ns0:nvPr/>
        </ns0:nvSpPr>
        <ns0:spPr>
          <ns1:xfrm>
            <ns1:off x="2661737" y="5197104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보안 아키텍처 레이어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11 핵심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4570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7937183" y="1784034"/>
            <ns1:ext cx="4254817" cy="1162366"/>
            <ns1:chOff x="2844950" y="5202168"/>
            <ns1:chExt cx="4654199" cy="1449259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데이터 수집→학습→배포→모니터링 전 과정 자동화. 개발 기간 70% 단축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End-to-End 자동화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69025" y="16264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End-to-End 자동화·도메인 전문성·엔터프라이즈 보안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44" name="직각 삼각형 43"/>
          <ns0:cNvSpPr/>
          <ns0:nvPr/>
        </ns0:nvSpPr>
        <ns0:spPr>
          <ns1:xfrm rot="5400000">
            <ns1:off x="2669025" y="34081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6" name="직각 삼각형 45"/>
          <ns0:cNvSpPr/>
          <ns0:nvPr/>
        </ns0:nvSpPr>
        <ns0:spPr>
          <ns1:xfrm rot="5400000">
            <ns1:off x="2669025" y="5189817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52" name="그룹 51"/>
          <ns0:cNvGrpSpPr/>
          <ns0:nvPr/>
        </ns0:nvGrpSpPr>
        <ns0:grpSpPr>
          <ns1:xfrm>
            <ns1:off x="7980727" y="3651150"/>
            <ns1:ext cx="4254817" cy="1162366"/>
            <ns1:chOff x="2844950" y="5202168"/>
            <ns1:chExt cx="4654199" cy="1449259"/>
          </ns1:xfrm>
        </ns0:grpSpPr>
        <ns0:sp>
          <ns0:nvSpPr>
            <ns0:cNvPr id="53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금융·제조·유통 도메인별 사전학습 모델. 정확도 평균 15% 향상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4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도메인 전문성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55" name="그룹 54"/>
          <ns0:cNvGrpSpPr/>
          <ns0:nvPr/>
        </ns0:nvGrpSpPr>
        <ns0:grpSpPr>
          <ns1:xfrm>
            <ns1:off x="7937182" y="5446369"/>
            <ns1:ext cx="4254817" cy="1162366"/>
            <ns1:chOff x="2844950" y="5202168"/>
            <ns1:chExt cx="4654199" cy="1449259"/>
          </ns1:xfrm>
        </ns0:grpSpPr>
        <ns0:sp>
          <ns0:nvSpPr>
            <ns0:cNvPr id="56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온프레미스·VPC 지원. ISO27001·ISMS 인증. 금융권 보안 기준 충족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7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엔터프라이즈 보안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58" name="직선 연결선 57"/>
          <ns0:cNvCxnSpPr/>
          <ns0:nvPr/>
        </ns0:nvCxnSpPr>
        <ns0:spPr>
          <ns1:xfrm flipH="1">
            <ns1:off x="7937182" y="3332844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9" name="직선 연결선 58"/>
          <ns0:cNvCxnSpPr/>
          <ns0:nvPr/>
        </ns0:nvCxnSpPr>
        <ns0:spPr>
          <ns1:xfrm flipH="1">
            <ns1:off x="7937181" y="5132616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2098120767"/>
      </ns0:ext>
    </ns0:extLst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Multi-Head Attention 구조 다이어그램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Foundation Model 사전학습→파인튜닝 흐름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RLHF 보상모델 학습 프로세스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Transformer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Foundation Model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RLHF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/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어텐션 메커니즘. 병렬처리 가능. Multi-Head Attention 기반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87922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인간선호 강화학습. Reward Model 기반 정렬. InstructGPT 핵심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소수 샷·제로샷 전이 학습. ImageNet→LLM 패러다임 전환 선도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Transformer·Foundation Model·RLHF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04 학습·배포 전략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MLflow·W&amp;B 실험 추적 UI 화면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실험 관리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Optuna 기반 Bayesian 자동 하이퍼파라미터 탐색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Optuna 하이퍼파라미터 최적화 수렴 곡선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HPO 최적화</ns1:t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506206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ROC Curve 및 Confusion Matrix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모델 평가</ns1:t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506206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Canary 배포 트래픽 분할 시나리오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배포 전략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ROC Curve, Precision-Recall. 비즈니스 KPI 연계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Blue-Green 배포. Canary 릴리즈. 안전한 모델 교체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MLflow·W&amp;B 실험 추적. 재현 가능한 학습 환경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실험 관리·HPO 최적화·모델 평가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2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>
          <ns1:xfrm>
            <ns1:off x="344233" y="225866"/>
            <ns1:ext cx="1500278" cy="228225"/>
          </ns1:xfrm>
        </ns0:spPr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>
          <ns1:xfrm>
            <ns1:off x="2595441" y="225458"/>
            <ns1:ext cx="2906908" cy="254000"/>
          </ns1:xfrm>
        </ns0:spPr>
        <ns0:txBody>
          <ns1:bodyPr/>
          <ns1:lstStyle/>
          <ns1:p>
            <ns1:r>
              <ns1:rPr lang="en-US" altLang="ko-KR" dirty="0"/>
              <ns1:t>10 ML 서비스</ns1:t>
            </ns1:r>
          </ns1:p>
        </ns0:txBody>
      </ns0:sp>
      <ns0:sp>
        <ns0:nvSpPr>
          <ns0:cNvPr id="2" name="이등변 삼각형 1"/>
          <ns0:cNvSpPr/>
          <ns0:nvPr/>
        </ns0:nvSpPr>
        <ns0:spPr>
          <ns1:xfrm rot="5400000">
            <ns1:off x="7216927" y="3595051"/>
            <ns1:ext cx="357169" cy="296574"/>
          </ns1:xfrm>
          <ns1:prstGeom prst="triangle">
            <ns1:avLst>
              <ns1:gd name="adj" fmla="val 54000"/>
            </ns1:avLst>
          </ns1:prstGeom>
          <ns1:solidFill>
            <ns1:srgbClr val="0C0E68"/>
          </ns1:solidFill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Text 1"/>
          <ns0:cNvSpPr/>
          <ns0:nvPr/>
        </ns0:nvSpPr>
        <ns0:spPr>
          <ns1:xfrm>
            <ns1:off x="395032" y="780494"/>
            <ns1:ext cx="2119440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7" name="Text 1"/>
          <ns0:cNvSpPr/>
          <ns0:nvPr/>
        </ns0:nvSpPr>
        <ns0:spPr>
          <ns1:xfrm>
            <ns1:off x="395032" y="2311627"/>
            <ns1:ext cx="2119440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Platform: Kubeflow 기반 학습·서빙 플랫폼 / GPU 클러스터 관리 / AutoML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0" name="Text 1"/>
          <ns0:cNvSpPr/>
          <ns0:nvPr/>
        </ns0:nvSpPr>
        <ns0:spPr>
          <ns1:xfrm>
            <ns1:off x="395032" y="3466057"/>
            <ns1:ext cx="2119440" cy="153733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Fortune 500 기업 10곳 이상 구축 경험 보유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138085299"/>
      </ns0:ext>
    </ns0:extLst>
  </ns0:cSld>
  <ns0:clrMapOvr>
    <ns1:masterClrMapping/>
  </ns0:clrMapOvr>
</ns0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02 아키텍처 진화</ns1:t>
            </ns1:r>
          </ns1:p>
        </ns0:txBody>
      </ns0:sp>
      <ns0:sp>
        <ns0:nvSpPr>
          <ns0:cNvPr id="16" name="직사각형 15"/>
          <ns0:cNvSpPr/>
          <ns0:nvPr/>
        </ns0:nvSpPr>
        <ns0:spPr>
          <ns1:xfrm>
            <ns1:off x="2657593" y="780494"/>
            <ns1:ext cx="2710790" cy="37295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2014~16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직사각형 16"/>
          <ns0:cNvSpPr/>
          <ns0:nvPr/>
        </ns0:nvSpPr>
        <ns0:spPr>
          <ns1:xfrm>
            <ns1:off x="5368383" y="1155654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2017~19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7700615" y="1452497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2020~22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10014859" y="1749340"/>
            <ns1:ext cx="2177141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2023~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2657592" y="1153452"/>
            <ns1:ext cx="2692803" cy="5704547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2" name="직사각형 11"/>
          <ns0:cNvSpPr/>
          <ns0:nvPr/>
        </ns0:nvSpPr>
        <ns0:spPr>
          <ns1:xfrm>
            <ns1:off x="7700615" y="1749340"/>
            <ns1:ext cx="2314244" cy="5108659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400" name="PD400"/>
          <ns0:cNvSpPr>
            <ns1:spLocks noGrp="1"/>
          </ns0:cNvSpPr>
          <ns0:nvPr/>
        </ns0:nvSpPr>
        <ns0:spPr>
          <ns1:xfrm>
            <ns1:off x="2760000" y="1180000"/>
            <ns1:ext cx="9412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1" name="PD401"/>
          <ns0:cNvSpPr>
            <ns1:spLocks noGrp="1"/>
          </ns0:cNvSpPr>
          <ns0:nvPr/>
        </ns0:nvSpPr>
        <ns0:spPr>
          <ns1:xfrm>
            <ns1:off x="5133000" y="1680000"/>
            <ns1:ext cx="7039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2" name="PD402"/>
          <ns0:cNvSpPr>
            <ns1:spLocks noGrp="1"/>
          </ns0:cNvSpPr>
          <ns0:nvPr/>
        </ns0:nvSpPr>
        <ns0:spPr>
          <ns1:xfrm>
            <ns1:off x="7506000" y="2180000"/>
            <ns1:ext cx="4666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3" name="PD403"/>
          <ns0:cNvSpPr>
            <ns1:spLocks noGrp="1"/>
          </ns0:cNvSpPr>
          <ns0:nvPr/>
        </ns0:nvSpPr>
        <ns0:spPr>
          <ns1:xfrm>
            <ns1:off x="9879000" y="2680000"/>
            <ns1:ext cx="2293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</ns0:spTree>
    <ns0:extLst>
      <ns0:ext uri="{BB962C8B-B14F-4D97-AF65-F5344CB8AC3E}">
        <ns2:creationId val="554161028"/>
      </ns0:ext>
    </ns0:extLst>
  </ns0:cSld>
  <ns0:clrMapOvr>
    <ns1:masterClrMapping/>
  </ns0:clrMapOvr>
</ns0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06 도입 로드맵</ns1:t>
            </ns1:r>
            <ns1:endParaRPr lang="ko-KR" altLang="en-US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이등변 삼각형 13"/>
          <ns0:cNvSpPr/>
          <ns0:nvPr/>
        </ns0:nvSpPr>
        <ns0:spPr>
          <ns1:xfrm rot="5400000">
            <ns1:off x="482324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이등변 삼각형 15"/>
          <ns0:cNvSpPr/>
          <ns0:nvPr/>
        </ns0:nvSpPr>
        <ns0:spPr>
          <ns1:xfrm rot="5400000">
            <ns1:off x="731131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9621521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4263276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6751345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051374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11493341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2717592" y="4100515"/>
            <ns1:ext cx="9414407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2717592" y="4136515"/>
            <ns1:ext cx="9414407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2717592" y="1499874"/>
            <ns1:ext cx="2120346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2717592" y="4547664"/>
            <ns1:ext cx="212034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2717592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3797765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4957938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4957938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4957938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6165829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7453720" y="1499874"/>
            <ns1:ext cx="218249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7453720" y="4547664"/>
            <ns1:ext cx="218249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7453720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8564968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756217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756217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756217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964108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3958239633"/>
      </ns0:ext>
    </ns0:extLst>
  </ns0:cSld>
  <ns0:clrMapOvr>
    <ns1:masterClrMapping/>
  </ns0:clrMapOvr>
</ns0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09 성과 KPI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76894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3" name="직사각형 32"/>
          <ns0:cNvSpPr/>
          <ns0:nvPr/>
        </ns0:nvSpPr>
        <ns0:spPr>
          <ns1:xfrm>
            <ns1:off x="9184568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4" name="직사각형 33"/>
          <ns0:cNvSpPr/>
          <ns0:nvPr/>
        </ns0:nvSpPr>
        <ns0:spPr>
          <ns1:xfrm>
            <ns1:off x="3077029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5" name="직사각형 34"/>
          <ns0:cNvSpPr/>
          <ns0:nvPr/>
        </ns0:nvSpPr>
        <ns0:spPr>
          <ns1:xfrm>
            <ns1:off x="1026590" y="1782671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직사각형 35"/>
          <ns0:cNvSpPr/>
          <ns0:nvPr/>
        </ns0:nvSpPr>
        <ns0:spPr>
          <ns1:xfrm>
            <ns1:off x="4154807" y="1746410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7" name="직사각형 36"/>
          <ns0:cNvSpPr/>
          <ns0:nvPr/>
        </ns0:nvSpPr>
        <ns0:spPr>
          <ns1:xfrm>
            <ns1:off x="7328742" y="1743824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직사각형 37"/>
          <ns0:cNvSpPr/>
          <ns0:nvPr/>
        </ns0:nvSpPr>
        <ns0:spPr>
          <ns1:xfrm>
            <ns1:off x="10370953" y="1719726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0" name="이등변 삼각형 39"/>
          <ns0:cNvSpPr/>
          <ns0:nvPr/>
        </ns0:nvSpPr>
        <ns0:spPr>
          <ns1:xfrm rot="5400000">
            <ns1:off x="6009765" y="186479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1" name="이등변 삼각형 40"/>
          <ns0:cNvSpPr/>
          <ns0:nvPr/>
        </ns0:nvSpPr>
        <ns0:spPr>
          <ns1:xfrm rot="5400000">
            <ns1:off x="9075094" y="1857367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60000" y="4850641"/>
            <ns1:ext cx="12072000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60000" y="4886641"/>
            <ns1:ext cx="12072000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60000" y="2250000"/>
            <ns1:ext cx="2957029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60000" y="5297790"/>
            <ns1:ext cx="2957029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60000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1558514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3137029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3137029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3137029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4600745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6144461" y="2250000"/>
            <ns1:ext cx="298010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6144461" y="5297790"/>
            <ns1:ext cx="298010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6144461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7654514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244568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244568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244568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708284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863509477"/>
      </ns0:ext>
    </ns0:extLst>
  </ns0:cSld>
  <ns0:clrMapOvr>
    <ns1:masterClrMapping/>
  </ns0:clrMapOvr>
</ns0:sld>
</file>

<file path=ppt/slides/slide35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xmlns:ns4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6" name="직사각형 35"/>
          <ns0:cNvSpPr/>
          <ns0:nvPr/>
        </ns0:nvSpPr>
        <ns0:spPr>
          <ns1:xfrm>
            <ns1:off x="5943887" y="1619852"/>
            <ns1:ext cx="6248113" cy="5245768"/>
          </ns1:xfrm>
          <ns1:prstGeom prst="rect">
            <ns1:avLst/>
          </ns1:prstGeom>
          <ns1:solidFill>
            <ns1:srgbClr val="0C0E6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08 도입 효과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67677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</ns0:txBody>
      </ns0:sp>
      <ns0:sp>
        <ns0:nvSpPr>
          <ns0:cNvPr id="16" name="타원 15"/>
          <ns0:cNvSpPr/>
          <ns0:nvPr/>
        </ns0:nvSpPr>
        <ns0:spPr>
          <ns1:xfrm>
            <ns1:off x="2232968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수동 배포(주1회)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7" name="타원 16"/>
          <ns0:cNvSpPr/>
          <ns0:nvPr/>
        </ns0:nvSpPr>
        <ns0:spPr>
          <ns1:xfrm>
            <ns1:off x="395032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룰 기반 의사결정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이등변 삼각형 29"/>
          <ns0:cNvSpPr/>
          <ns0:nvPr/>
        </ns0:nvSpPr>
        <ns0:spPr>
          <ns1:xfrm rot="5400000">
            <ns1:off x="5416831" y="3868601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10" name="그룹 9"/>
          <ns0:cNvGrpSpPr/>
          <ns0:nvPr/>
        </ns0:nvGrpSpPr>
        <ns0:grpSpPr>
          <ns1:xfrm>
            <ns1:off x="6733891" y="2094237"/>
            <ns1:ext cx="4813529" cy="4274047"/>
            <ns1:chOff x="6400019" y="2012761"/>
            <ns1:chExt cx="4813529" cy="4274047"/>
          </ns1:xfrm>
        </ns0:grpSpPr>
        <ns0:sp>
          <ns0:nvSpPr>
            <ns0:cNvPr id="13" name="타원 12"/>
            <ns0:cNvSpPr/>
            <ns0:nvPr/>
          </ns0:nvSpPr>
          <ns0:spPr>
            <ns1:xfrm>
              <ns1:off x="6400019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실시간 처리(&lt;100ms)</ns1:t>
              </ns1:r>
            </ns1:p>
          </ns0:txBody>
        </ns0:sp>
        <ns0:sp>
          <ns0:nvSpPr>
            <ns0:cNvPr id="18" name="타원 17"/>
            <ns0:cNvSpPr/>
            <ns0:nvPr/>
          </ns0:nvSpPr>
          <ns0:spPr>
            <ns1:xfrm>
              <ns1:off x="7822856" y="2012761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ML 기반 예측(정확도 92%)</ns1:t>
              </ns1:r>
              <ns1:endParaRPr lang="en-US" altLang="ko-KR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  <ns1:p>
              <ns1:pPr algn="ctr"/>
              <ns1:endParaRPr lang="ko-KR" altLang="en-US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sp>
          <ns0:nvSpPr>
            <ns0:cNvPr id="19" name="타원 18"/>
            <ns0:cNvSpPr/>
            <ns0:nvPr/>
          </ns0:nvSpPr>
          <ns0:spPr>
            <ns1:xfrm>
              <ns1:off x="9310754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운영 비용 40% 절감</ns1:t>
              </ns1:r>
              <ns1:endParaRPr lang="ko-KR" altLang="en-US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grpSp>
          <ns0:nvGrpSpPr>
            <ns0:cNvPr id="4" name="그룹 3"/>
            <ns0:cNvGrpSpPr/>
            <ns0:nvPr/>
          </ns0:nvGrpSpPr>
          <ns0:grpSpPr>
            <ns1:xfrm>
              <ns1:off x="7599899" y="3320870"/>
              <ns1:ext cx="2385246" cy="2385246"/>
              <ns1:chOff x="7673255" y="3218962"/>
              <ns1:chExt cx="2565890" cy="2565890"/>
            </ns1:xfrm>
          </ns0:grpSpPr>
          <ns0:sp>
            <ns0:nvSpPr>
              <ns0:cNvPr id="23" name="타원 22"/>
              <ns0:cNvSpPr/>
              <ns0:nvPr/>
            </ns0:nvSpPr>
            <ns0:spPr>
              <ns1:xfrm>
                <ns1:off x="7673255" y="3218962"/>
                <ns1:ext cx="2565890" cy="2565890"/>
              </ns1:xfrm>
              <ns1:prstGeom prst="ellipse">
                <ns1:avLst/>
              </ns1:prstGeom>
              <ns1:solidFill>
                <ns1:srgbClr val="999DFF">
                  <ns1:alpha val="50000"/>
                </ns1:srgbClr>
              </ns1:solidFill>
              <ns1:ln w="19050">
                <ns1:noFill/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endParaRPr lang="ko-KR" altLang="en-US" dirty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  <ns0:sp>
            <ns0:nvSpPr>
              <ns0:cNvPr id="21" name="타원 20"/>
              <ns0:cNvSpPr/>
              <ns0:nvPr/>
            </ns0:nvSpPr>
            <ns0:spPr>
              <ns1:xfrm>
                <ns1:off x="7932750" y="3478457"/>
                <ns1:ext cx="2046900" cy="2046900"/>
              </ns1:xfrm>
              <ns1:prstGeom prst="ellipse">
                <ns1:avLst/>
              </ns1:prstGeom>
              <ns1:solidFill>
                <ns1:srgbClr val="3C41E6"/>
              </ns1:solidFill>
              <ns1:ln w="19050">
                <ns1:solidFill>
                  <ns1:srgbClr val="999DFF"/>
                </ns1:solidFill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r>
                  <ns1:rPr lang="ko-KR" altLang="ko-KR" dirty="0" smtClean="0">
                    <ns1:solidFill>
                      <ns1:schemeClr val="bg1"/>
                    </ns1:solidFill>
                    <ns1:latin typeface="Pretendard SemiBold" panose="02000703000000020004" pitchFamily="2" charset="-127"/>
                    <ns1:ea typeface="Pretendard SemiBold" panose="02000703000000020004" pitchFamily="2" charset="-127"/>
                    <ns1:cs typeface="Pretendard SemiBold" panose="02000703000000020004" pitchFamily="2" charset="-127"/>
                  </ns1:rPr>
                  <ns1:t>자동 배포(일 3회)</ns1:t>
                </ns1:r>
                <ns1:endParaRPr lang="ko-KR" altLang="en-US" dirty="0">
                  <ns1:solidFill>
                    <ns1:schemeClr val="bg1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</ns0:grpSp>
        <ns0:pic>
          <ns0:nvPicPr>
            <ns0:cNvPr id="7" name="그림 6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20321414">
              <ns1:off x="7098002" y="357150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1" name="그림 30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6614646">
              <ns1:off x="9556678" y="346774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2" name="그림 31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13569304">
              <ns1:off x="8438923" y="5495793"/>
              <ns1:ext cx="820397" cy="745815"/>
            </ns1:xfrm>
            <ns1:prstGeom prst="rect">
              <ns1:avLst/>
            </ns1:prstGeom>
          </ns0:spPr>
        </ns0:pic>
      </ns0:grpSp>
      <ns0:sp>
        <ns0:nvSpPr>
          <ns0:cNvPr id="35" name="타원 34"/>
          <ns0:cNvSpPr/>
          <ns0:nvPr/>
        </ns0:nvSpPr>
        <ns0:spPr>
          <ns1:xfrm>
            <ns1:off x="4070904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배치 처리(T+1)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7" name="이등변 삼각형 36"/>
          <ns0:cNvSpPr/>
          <ns0:nvPr/>
        </ns0:nvSpPr>
        <ns0:spPr>
          <ns1:xfrm rot="5400000">
            <ns1:off x="5754266" y="3926764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8" name="Text 1"/>
          <ns0:cNvSpPr/>
          <ns0:nvPr/>
        </ns0:nvSpPr>
        <ns0:spPr>
          <ns1:xfrm>
            <ns1:off x="6314550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4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After</ns1:t>
            </ns1:r>
            <ns1:endParaRPr lang="en-US" altLang="ko-KR" sz="14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4940809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/>
            <ns1:r>
              <ns1:rPr lang="ko-KR" altLang="ko-KR" sz="1400" dirty="0" smtClean="0">
                <ns1:solidFill>
                  <ns1:srgbClr val="0C0E68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Before</ns1:t>
            </ns1:r>
            <ns1:endParaRPr lang="en-US" altLang="ko-KR" sz="1400" dirty="0">
              <ns1:solidFill>
                <ns1:srgbClr val="0C0E68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4:creationId val="525052166"/>
      </ns0:ext>
    </ns0:extLst>
  </ns0:cSld>
  <ns0:clrMapOvr>
    <ns1:masterClrMapping/>
  </ns0:clrMapOvr>
</ns0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61461" y="332443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Drive Neo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311" y="294354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감사합니다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7807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