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0/main" xmlns:ns4="http://schemas.microsoft.com/office/powerpoint/2012/main" saveSubsetFonts="1">
  <ns0:sldMasterIdLst>
    <ns0:sldMasterId id="2147483648" ns1:id="rId1"/>
    <ns0:sldMasterId id="2147483650" ns1:id="rId2"/>
  </ns0:sldMasterIdLst>
  <ns0:sldIdLst>
    <ns0:sldId id="256" ns1:id="rId8"/>
    <ns0:sldId id="257" ns1:id="rId9"/>
    <ns0:sldId id="258" ns1:id="rId17"/>
    <ns0:sldId id="259" ns1:id="rId31"/>
    <ns0:sldId id="260" ns1:id="rId11"/>
    <ns0:sldId id="261" ns1:id="rId18"/>
    <ns0:sldId id="262" ns1:id="rId12"/>
    <ns0:sldId id="263" ns1:id="rId33"/>
    <ns0:sldId id="264" ns1:id="rId13"/>
    <ns0:sldId id="265" ns1:id="rId37"/>
    <ns0:sldId id="266" ns1:id="rId35"/>
    <ns0:sldId id="267" ns1:id="rId26"/>
    <ns0:sldId id="268" ns1:id="rId14"/>
    <ns0:sldId id="269" ns1:id="rId48"/>
  </ns0:sldIdLst>
  <ns0:sldSz cx="12192000" cy="6858000"/>
  <ns0:notesSz cx="6858000" cy="9144000"/>
  <ns0:defaultTextStyle>
    <ns2:defPPr>
      <ns2:defRPr lang="ko-KR"/>
    </ns2:defPPr>
    <ns2:lvl1pPr marL="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521415D9-36F7-43E2-AB2F-B90AF26B5E84}">
      <ns3:sectionLst>
        <ns3:section name="가이드" id="{5B676074-C3C7-4E33-82A1-B8F989B76644}">
          <ns3:sldIdLst>
            <ns3:sldId id="269"/>
            <ns3:sldId id="272"/>
            <ns3:sldId id="286"/>
            <ns3:sldId id="287"/>
            <ns3:sldId id="301"/>
          </ns3:sldIdLst>
        </ns3:section>
        <ns3:section name="표지" id="{65D52F42-0661-4B41-B441-9185E535CF94}">
          <ns3:sldIdLst>
            <ns3:sldId id="256"/>
          </ns3:sldIdLst>
        </ns3:section>
        <ns3:section name="목차/간지" id="{17576DB7-0DB2-4FD3-B50E-9DE209D1F52D}">
          <ns3:sldIdLst>
            <ns3:sldId id="257"/>
            <ns3:sldId id="258"/>
          </ns3:sldIdLst>
        </ns3:section>
        <ns3:section name="본문" id="{A213B285-4DD1-4C1D-A27B-633F1C9F1121}">
          <ns3:sldIdLst>
            <ns3:sldId id="283"/>
            <ns3:sldId id="291"/>
            <ns3:sldId id="282"/>
            <ns3:sldId id="290"/>
            <ns3:sldId id="281"/>
            <ns3:sldId id="285"/>
            <ns3:sldId id="293"/>
            <ns3:sldId id="292"/>
            <ns3:sldId id="289"/>
            <ns3:sldId id="311"/>
            <ns3:sldId id="310"/>
            <ns3:sldId id="312"/>
            <ns3:sldId id="267"/>
            <ns3:sldId id="270"/>
            <ns3:sldId id="284"/>
            <ns3:sldId id="294"/>
            <ns3:sldId id="261"/>
            <ns3:sldId id="275"/>
            <ns3:sldId id="299"/>
            <ns3:sldId id="300"/>
          </ns3:sldIdLst>
        </ns3:section>
        <ns3:section name="타임라인/흐름" id="{9D4BB107-11D1-4A44-9ACC-0B6CE7C3E5D2}">
          <ns3:sldIdLst>
            <ns3:sldId id="260"/>
            <ns3:sldId id="276"/>
            <ns3:sldId id="302"/>
            <ns3:sldId id="317"/>
            <ns3:sldId id="309"/>
            <ns3:sldId id="277"/>
          </ns3:sldIdLst>
        </ns3:section>
        <ns3:section name="변화" id="{4DCBC75A-F0A0-451D-8FC4-62F9A6C094AF}">
          <ns3:sldIdLst>
            <ns3:sldId id="295"/>
            <ns3:sldId id="298"/>
            <ns3:sldId id="304"/>
            <ns3:sldId id="308"/>
            <ns3:sldId id="297"/>
          </ns3:sldIdLst>
        </ns3:section>
        <ns3:section name="그래프/차트" id="{9658A8A5-B58E-4998-B187-951F90C296A1}">
          <ns3:sldIdLst>
            <ns3:sldId id="262"/>
            <ns3:sldId id="263"/>
            <ns3:sldId id="307"/>
            <ns3:sldId id="305"/>
          </ns3:sldIdLst>
        </ns3:section>
        <ns3:section name="마무리" id="{62DC044E-9886-4F21-AC6A-E8799B9F72A4}">
          <ns3:sldIdLst>
            <ns3:sldId id="313"/>
            <ns3:sldId id="315"/>
            <ns3:sldId id="316"/>
          </ns3:sldIdLst>
        </ns3:section>
      </ns3:sectionLst>
    </ns0:ext>
    <ns0:ext uri="{EFAFB233-063F-42B5-8137-9DF3F51BA10A}">
      <ns4:sld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8E8"/>
    <a:srgbClr val="1419AB"/>
    <a:srgbClr val="363AB9"/>
    <a:srgbClr val="D9D9D9"/>
    <a:srgbClr val="B0B2E9"/>
    <a:srgbClr val="7B7ED4"/>
    <a:srgbClr val="0C0E68"/>
    <a:srgbClr val="7377D1"/>
    <a:srgbClr val="3C41E6"/>
    <a:srgbClr val="393E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273" autoAdjust="0"/>
    <p:restoredTop sz="94660"/>
  </p:normalViewPr>
  <p:slideViewPr>
    <p:cSldViewPr snapToGrid="0">
      <p:cViewPr>
        <p:scale>
          <a:sx n="75" d="100"/>
          <a:sy n="75" d="100"/>
        </p:scale>
        <p:origin x="192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rts/_rels/chart1.xml.rels><?xml version="1.0" encoding="UTF-8"?><Relationships xmlns="http://schemas.openxmlformats.org/package/2006/relationships"><Relationship Id="rId3" Type="http://schemas.openxmlformats.org/officeDocument/2006/relationships/package" Target="../embeddings/Microsoft_Excel_____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?><Relationships xmlns="http://schemas.openxmlformats.org/package/2006/relationships"><Relationship Id="rId3" Type="http://schemas.openxmlformats.org/officeDocument/2006/relationships/package" Target="../embeddings/Microsoft_Excel_____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?><Relationships xmlns="http://schemas.openxmlformats.org/package/2006/relationships"><Relationship Id="rId3" Type="http://schemas.openxmlformats.org/officeDocument/2006/relationships/package" Target="../embeddings/Microsoft_Excel_____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?><Relationships xmlns="http://schemas.openxmlformats.org/package/2006/relationships"><Relationship Id="rId3" Type="http://schemas.openxmlformats.org/officeDocument/2006/relationships/package" Target="../embeddings/Microsoft_Excel_____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?><Relationships xmlns="http://schemas.openxmlformats.org/package/2006/relationships"><Relationship Id="rId1" Type="http://schemas.openxmlformats.org/officeDocument/2006/relationships/oleObject" Target="../embeddings/oleObject1.bin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</c:v>
                </c:pt>
              </c:strCache>
            </c:strRef>
          </c:tx>
          <c:spPr>
            <a:gradFill flip="none" rotWithShape="1">
              <a:gsLst>
                <a:gs pos="100000">
                  <a:srgbClr val="DEFEF8">
                    <a:alpha val="0"/>
                  </a:srgbClr>
                </a:gs>
                <a:gs pos="0">
                  <a:schemeClr val="bg1"/>
                </a:gs>
              </a:gsLst>
              <a:lin ang="5400000" scaled="0"/>
              <a:tileRect/>
            </a:gra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gradFill flip="none" rotWithShape="1">
                <a:gsLst>
                  <a:gs pos="100000">
                    <a:srgbClr val="DEFEF8">
                      <a:alpha val="0"/>
                    </a:srgbClr>
                  </a:gs>
                  <a:gs pos="0">
                    <a:srgbClr val="FF0000"/>
                  </a:gs>
                </a:gsLst>
                <a:lin ang="5400000" scaled="0"/>
                <a:tileRect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FA7-4781-8916-27729C19D577}"/>
              </c:ext>
            </c:extLst>
          </c:dPt>
          <c:dLbls>
            <c:dLbl>
              <c:idx val="0"/>
              <c:layout>
                <c:manualLayout>
                  <c:x val="4.1158024777779075E-3"/>
                  <c:y val="0"/>
                </c:manualLayout>
              </c:layout>
              <c:tx>
                <c:rich>
                  <a:bodyPr/>
                  <a:lstStyle/>
                  <a:p>
                    <a:fld id="{2CBF109F-1B62-4E19-B16F-5E57E1613C9D}" type="VALUE">
                      <a:rPr lang="en-US" altLang="ko-KR" sz="2000" smtClean="0">
                        <a:latin typeface="프리젠테이션 5 Medium" pitchFamily="2" charset="-127"/>
                        <a:ea typeface="프리젠테이션 5 Medium" pitchFamily="2" charset="-127"/>
                      </a:rPr>
                      <a:pPr/>
                      <a:t>[값]</a:t>
                    </a:fld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FA7-4781-8916-27729C19D57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76%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FA7-4781-8916-27729C19D57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65%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FA7-4781-8916-27729C19D577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58%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FA7-4781-8916-27729C19D57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57%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FA7-4781-8916-27729C19D57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프리젠테이션 7 Bold" pitchFamily="2" charset="-127"/>
                    <a:ea typeface="프리젠테이션 7 Bold" pitchFamily="2" charset="-127"/>
                    <a:cs typeface="+mn-cs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</c:v>
                </c:pt>
                <c:pt idx="1">
                  <c:v>76</c:v>
                </c:pt>
                <c:pt idx="2">
                  <c:v>65</c:v>
                </c:pt>
                <c:pt idx="3">
                  <c:v>58</c:v>
                </c:pt>
                <c:pt idx="4">
                  <c:v>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3FA7-4781-8916-27729C19D5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02</c:v>
                </c:pt>
              </c:strCache>
            </c:strRef>
          </c:tx>
          <c:spPr>
            <a:gradFill flip="none" rotWithShape="1">
              <a:gsLst>
                <a:gs pos="0">
                  <a:schemeClr val="accent3"/>
                </a:gs>
                <a:gs pos="75000">
                  <a:schemeClr val="accent3">
                    <a:lumMod val="60000"/>
                    <a:lumOff val="40000"/>
                  </a:schemeClr>
                </a:gs>
                <a:gs pos="51000">
                  <a:schemeClr val="accent3">
                    <a:alpha val="75000"/>
                  </a:schemeClr>
                </a:gs>
                <a:gs pos="100000">
                  <a:schemeClr val="accent3">
                    <a:lumMod val="20000"/>
                    <a:lumOff val="80000"/>
                    <a:alpha val="15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7-4781-8916-27729C19D5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03</c:v>
                </c:pt>
              </c:strCache>
            </c:strRef>
          </c:tx>
          <c:spPr>
            <a:gradFill flip="none" rotWithShape="1">
              <a:gsLst>
                <a:gs pos="0">
                  <a:schemeClr val="accent3">
                    <a:tint val="65000"/>
                  </a:schemeClr>
                </a:gs>
                <a:gs pos="75000">
                  <a:schemeClr val="accent3">
                    <a:tint val="65000"/>
                    <a:lumMod val="60000"/>
                    <a:lumOff val="40000"/>
                  </a:schemeClr>
                </a:gs>
                <a:gs pos="51000">
                  <a:schemeClr val="accent3">
                    <a:tint val="65000"/>
                    <a:alpha val="75000"/>
                  </a:schemeClr>
                </a:gs>
                <a:gs pos="100000">
                  <a:schemeClr val="accent3">
                    <a:tint val="65000"/>
                    <a:lumMod val="20000"/>
                    <a:lumOff val="80000"/>
                    <a:alpha val="15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7-4781-8916-27729C19D5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4"/>
        <c:overlap val="77"/>
        <c:axId val="924255247"/>
        <c:axId val="924243599"/>
      </c:barChart>
      <c:catAx>
        <c:axId val="92425524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924243599"/>
        <c:crosses val="autoZero"/>
        <c:auto val="1"/>
        <c:lblAlgn val="ctr"/>
        <c:lblOffset val="100"/>
        <c:noMultiLvlLbl val="0"/>
      </c:catAx>
      <c:valAx>
        <c:axId val="924243599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924255247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bg2">
                <a:lumMod val="90000"/>
              </a:schemeClr>
            </a:solidFill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</c:v>
                </c:pt>
                <c:pt idx="1">
                  <c:v>-2</c:v>
                </c:pt>
                <c:pt idx="2">
                  <c:v>-3.5</c:v>
                </c:pt>
                <c:pt idx="3">
                  <c:v>-10</c:v>
                </c:pt>
                <c:pt idx="4">
                  <c:v>-8</c:v>
                </c:pt>
                <c:pt idx="5">
                  <c:v>-6.2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339-49E5-96A2-2276C874841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rgbClr val="1419AB"/>
            </a:solidFill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12</c:v>
                </c:pt>
                <c:pt idx="4">
                  <c:v>4</c:v>
                </c:pt>
                <c:pt idx="5">
                  <c:v>5.3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339-49E5-96A2-2276C87484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1398242160"/>
        <c:axId val="-1398245968"/>
      </c:barChart>
      <c:catAx>
        <c:axId val="-13982421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rgbClr val="484B5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-1398245968"/>
        <c:crosses val="autoZero"/>
        <c:auto val="1"/>
        <c:lblAlgn val="ctr"/>
        <c:lblOffset val="0"/>
        <c:tickMarkSkip val="1"/>
        <c:noMultiLvlLbl val="0"/>
      </c:catAx>
      <c:valAx>
        <c:axId val="-1398245968"/>
        <c:scaling>
          <c:orientation val="minMax"/>
          <c:min val="-15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>
            <a:solidFill>
              <a:srgbClr val="484B52"/>
            </a:solidFill>
          </a:ln>
        </c:spPr>
        <c:txPr>
          <a:bodyPr/>
          <a:lstStyle/>
          <a:p>
            <a:pPr>
              <a:defRPr sz="800">
                <a:solidFill>
                  <a:schemeClr val="bg1">
                    <a:lumMod val="85000"/>
                  </a:schemeClr>
                </a:solidFill>
              </a:defRPr>
            </a:pPr>
            <a:endParaRPr lang="ko-KR"/>
          </a:p>
        </c:txPr>
        <c:crossAx val="-13982421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>
              <a:lumMod val="85000"/>
            </a:schemeClr>
          </a:solidFill>
        </a:defRPr>
      </a:pPr>
      <a:endParaRPr lang="ko-KR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5000"/>
                <a:lumOff val="95000"/>
              </a:schemeClr>
            </a:gs>
            <a:gs pos="0">
              <a:schemeClr val="tx1">
                <a:lumMod val="25000"/>
                <a:lumOff val="7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5000"/>
                <a:lumOff val="95000"/>
              </a:schemeClr>
            </a:gs>
            <a:gs pos="0">
              <a:schemeClr val="tx1">
                <a:lumMod val="25000"/>
                <a:lumOff val="7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682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7373257" y="0"/>
            <a:ext cx="4818743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8024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5514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603312" y="1286198"/>
            <a:ext cx="3248226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en-US" altLang="ko-KR" sz="4800" dirty="0" smtClean="0">
                <a:solidFill>
                  <a:srgbClr val="171CAC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Index.</a:t>
            </a:r>
            <a:endParaRPr lang="en-US" altLang="ko-KR" sz="4800" dirty="0">
              <a:solidFill>
                <a:srgbClr val="171CAC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299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443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rgbClr val="0C0E68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045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1625600"/>
            <a:ext cx="12192000" cy="523239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93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2076450"/>
            <a:ext cx="12192000" cy="478154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564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0"/>
            <a:ext cx="12192000" cy="5372100"/>
          </a:xfrm>
          <a:prstGeom prst="rect">
            <a:avLst/>
          </a:prstGeom>
          <a:solidFill>
            <a:srgbClr val="171CAC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bg1">
                    <a:lumMod val="9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327450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231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683812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07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1842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7" r:id="rId2"/>
    <p:sldLayoutId id="2147483653" r:id="rId3"/>
    <p:sldLayoutId id="2147483659" r:id="rId4"/>
    <p:sldLayoutId id="2147483655" r:id="rId5"/>
    <p:sldLayoutId id="2147483660" r:id="rId6"/>
    <p:sldLayoutId id="2147483656" r:id="rId7"/>
    <p:sldLayoutId id="2147483658" r:id="rId8"/>
    <p:sldLayoutId id="2147483661" r:id="rId9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?>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?><Relationships xmlns="http://schemas.openxmlformats.org/package/2006/relationships"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26" Type="http://schemas.openxmlformats.org/officeDocument/2006/relationships/image" Target="../media/image35.png"/><Relationship Id="rId39" Type="http://schemas.openxmlformats.org/officeDocument/2006/relationships/image" Target="../media/image48.png"/><Relationship Id="rId21" Type="http://schemas.openxmlformats.org/officeDocument/2006/relationships/image" Target="../media/image30.png"/><Relationship Id="rId34" Type="http://schemas.openxmlformats.org/officeDocument/2006/relationships/image" Target="../media/image43.png"/><Relationship Id="rId42" Type="http://schemas.openxmlformats.org/officeDocument/2006/relationships/image" Target="../media/image51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6" Type="http://schemas.openxmlformats.org/officeDocument/2006/relationships/image" Target="../media/image25.png"/><Relationship Id="rId29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24" Type="http://schemas.openxmlformats.org/officeDocument/2006/relationships/image" Target="../media/image33.png"/><Relationship Id="rId32" Type="http://schemas.openxmlformats.org/officeDocument/2006/relationships/image" Target="../media/image41.png"/><Relationship Id="rId37" Type="http://schemas.openxmlformats.org/officeDocument/2006/relationships/image" Target="../media/image46.png"/><Relationship Id="rId40" Type="http://schemas.openxmlformats.org/officeDocument/2006/relationships/image" Target="../media/image49.png"/><Relationship Id="rId45" Type="http://schemas.openxmlformats.org/officeDocument/2006/relationships/image" Target="../media/image54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23" Type="http://schemas.openxmlformats.org/officeDocument/2006/relationships/image" Target="../media/image32.png"/><Relationship Id="rId28" Type="http://schemas.openxmlformats.org/officeDocument/2006/relationships/image" Target="../media/image37.png"/><Relationship Id="rId36" Type="http://schemas.openxmlformats.org/officeDocument/2006/relationships/image" Target="../media/image45.png"/><Relationship Id="rId10" Type="http://schemas.openxmlformats.org/officeDocument/2006/relationships/image" Target="../media/image19.png"/><Relationship Id="rId19" Type="http://schemas.openxmlformats.org/officeDocument/2006/relationships/image" Target="../media/image28.png"/><Relationship Id="rId31" Type="http://schemas.openxmlformats.org/officeDocument/2006/relationships/image" Target="../media/image40.png"/><Relationship Id="rId44" Type="http://schemas.openxmlformats.org/officeDocument/2006/relationships/image" Target="../media/image53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Relationship Id="rId22" Type="http://schemas.openxmlformats.org/officeDocument/2006/relationships/image" Target="../media/image31.png"/><Relationship Id="rId27" Type="http://schemas.openxmlformats.org/officeDocument/2006/relationships/image" Target="../media/image36.png"/><Relationship Id="rId30" Type="http://schemas.openxmlformats.org/officeDocument/2006/relationships/image" Target="../media/image39.png"/><Relationship Id="rId35" Type="http://schemas.openxmlformats.org/officeDocument/2006/relationships/image" Target="../media/image44.png"/><Relationship Id="rId43" Type="http://schemas.openxmlformats.org/officeDocument/2006/relationships/image" Target="../media/image52.png"/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5" Type="http://schemas.openxmlformats.org/officeDocument/2006/relationships/image" Target="../media/image34.png"/><Relationship Id="rId33" Type="http://schemas.openxmlformats.org/officeDocument/2006/relationships/image" Target="../media/image42.png"/><Relationship Id="rId38" Type="http://schemas.openxmlformats.org/officeDocument/2006/relationships/image" Target="../media/image47.png"/><Relationship Id="rId46" Type="http://schemas.openxmlformats.org/officeDocument/2006/relationships/image" Target="../media/image55.png"/><Relationship Id="rId20" Type="http://schemas.openxmlformats.org/officeDocument/2006/relationships/image" Target="../media/image29.png"/><Relationship Id="rId41" Type="http://schemas.openxmlformats.org/officeDocument/2006/relationships/image" Target="../media/image50.png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?>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35.xml.rels><?xml version="1.0" encoding="UTF-8"?>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?>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9.xml"/><Relationship Id="rId4" Type="http://schemas.openxmlformats.org/officeDocument/2006/relationships/chart" Target="../charts/chart3.xml"/></Relationships>
</file>

<file path=ppt/slides/_rels/slide41.xml.rels><?xml version="1.0" encoding="UTF-8"?>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9.xml"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?>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44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45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4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slide6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pic>
        <ns0:nvPicPr>
          <ns0:cNvPr id="4" name="Image 1" descr="preencoded.png"/>
          <ns0:cNvPicPr>
            <ns1:picLocks noChangeAspect="1"/>
          </ns0:cNvPicPr>
          <ns0:nvPr/>
        </ns0:nvPicPr>
        <ns0:blipFill>
          <ns1:blip ns2:embed="rId2"/>
          <ns1:srcRect/>
          <ns1:stretch/>
        </ns0:blipFill>
        <ns0:spPr>
          <ns1:xfrm>
            <ns1:off x="7601247" y="4975384"/>
            <ns1:ext cx="1542754" cy="258144"/>
          </ns1:xfrm>
          <ns1:prstGeom prst="rect">
            <ns1:avLst/>
          </ns1:prstGeom>
        </ns0:spPr>
      </ns0:pic>
      <ns0:sp>
        <ns0:nvSpPr>
          <ns0:cNvPr id="6" name="Text 1"/>
          <ns0:cNvSpPr/>
          <ns0:nvPr/>
        </ns0:nvSpPr>
        <ns0:spPr>
          <ns1:xfrm>
            <ns1:off x="603311" y="2164417"/>
            <ns1:ext cx="10274239" cy="406400"/>
          </ns1:xfrm>
          <ns1:prstGeom prst="rect">
            <ns1:avLst/>
          </ns1:prstGeom>
          <ns1:noFill/>
          <ns1:ln/>
        </ns0:spPr>
        <ns0:txBody>
          <ns1:bodyPr wrap="none" lIns="0" tIns="0" rIns="0" bIns="0" rtlCol="0" anchor="ctr">
            <ns1:noAutofit/>
          </ns1:bodyPr>
          <ns1:lstStyle/>
          <ns1:p>
            <ns1:pPr>
              <ns1:lnSpc>
                <ns1:spcPct val="100000"/>
              </ns1:lnSpc>
            </ns1:pPr>
            <ns1:r>
              <ns1:rPr lang="ko-KR" sz="3200" dirty="0" altLang="en-US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아키텍처·파이프라인·엔터프라이즈 도입 전략</ns1:t>
            </ns1:r>
          </ns1:p>
        </ns0:txBody>
      </ns0:sp>
      <ns0:sp>
        <ns0:nvSpPr>
          <ns0:cNvPr id="7" name="Text 2"/>
          <ns0:cNvSpPr/>
          <ns0:nvPr/>
        </ns0:nvSpPr>
        <ns0:spPr>
          <ns1:xfrm>
            <ns1:off x="7601245" y="5688832"/>
            <ns1:ext cx="3833891" cy="74466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buNone/>
            </ns1:pPr>
            <ns1:r>
              <ns1:rPr lang="en-US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AI, Cloud, BigData, CDN, Contact Center, 스마트 </ns1:t>
            </ns1:r>
            <ns1:r>
              <ns1:rPr lang="en-US" sz="1200" dirty="0" err="1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물류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,</ns1:t>
            </ns1:r>
          </ns1:p>
          <ns1:p>
            <ns1:pPr marL="0" indent="0" algn="l">
              <ns1:buNone/>
            </ns1:pPr>
            <ns1:r>
              <ns1:rPr lang="en-US" sz="1200" dirty="0" err="1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스마트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 </ns1:t>
            </ns1:r>
            <ns1:r>
              <ns1:rPr lang="en-US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인프라 등 다양한 영역에서 고객의 Business를 선도하는 Digital Innovator입니다.</ns1:t>
            </ns1:r>
            <ns1:endParaRPr lang="en-US" sz="1200" dirty="0">
              <ns1:solidFill>
                <ns1:schemeClr val="bg1"/>
              </ns1:solidFill>
            </ns1:endParaRPr>
          </ns1:p>
        </ns0:txBody>
      </ns0:sp>
      <ns0:sp>
        <ns0:nvSpPr>
          <ns0:cNvPr id="8" name="Text 3"/>
          <ns0:cNvSpPr/>
          <ns0:nvPr/>
        </ns0:nvSpPr>
        <ns0:spPr>
          <ns1:xfrm>
            <ns1:off x="7601247" y="5418660"/>
            <ns1:ext cx="2821971" cy="25708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lnSpc>
                <ns1:spcPts val="1020"/>
              </ns1:lnSpc>
              <ns1:buNone/>
            </ns1:pPr>
            <ns1:r>
              <ns1:rPr lang="en-US" sz="1400" b="1" dirty="0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Drive Neo Technology</ns1:t>
            </ns1:r>
            <ns1:endParaRPr lang="en-US" sz="1400" dirty="0">
              <ns1:solidFill>
                <ns1:schemeClr val="bg1"/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10" name="직선 연결선 9"/>
          <ns0:cNvCxnSpPr/>
          <ns0:nvPr/>
        </ns0:nvCxnSpPr>
        <ns0:spPr>
          <ns1:xfrm>
            <ns1:off x="7275314" y="4944583"/>
            <ns1:ext cx="0" cy="1488913"/>
          </ns1:xfrm>
          <ns1:prstGeom prst="line">
            <ns1:avLst/>
          </ns1:prstGeom>
          <ns1:ln>
            <ns1:solidFill>
              <ns1:schemeClr val="bg1">
                <ns1:alpha val="5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12" name="TextBox 11"/>
          <ns0:cNvSpPr txBox="1"/>
          <ns0:nvPr/>
        </ns0:nvSpPr>
        <ns0:spPr>
          <ns1:xfrm>
            <ns1:off x="603311" y="1310977"/>
            <ns1:ext cx="10274239" cy="609600"/>
          </ns1:xfrm>
          <ns1:prstGeom prst="rect">
            <ns1:avLst/>
          </ns1:prstGeom>
          <ns1:noFill/>
        </ns0:spPr>
        <ns0:txBody>
          <ns1:bodyPr wrap="square" lIns="0" tIns="0" rIns="0" bIns="0" rtlCol="0" anchor="ctr" anchorCtr="0">
            <ns1:normAutofit/>
          </ns1:bodyPr>
          <ns1:lstStyle/>
          <ns1:p>
            <ns1:pPr>
              <ns1:lnSpc>
                <ns1:spcPct val="100000"/>
              </ns1:lnSpc>
            </ns1:pPr>
            <ns1:r>
              <ns1:rPr lang="ko-KR" altLang="en-US" sz="4800" b="1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머신러닝 심층 기술 가이드</ns1:t>
            </ns1:r>
          </ns1:p>
        </ns0:txBody>
      </ns0:sp>
      <ns0:sp>
        <ns0:nvSpPr>
          <ns0:cNvPr id="15" name="Text 1"/>
          <ns0:cNvSpPr/>
          <ns0:nvPr/>
        </ns0:nvSpPr>
        <ns0:spPr>
          <ns1:xfrm>
            <ns1:off x="603311" y="664962"/>
            <ns1:ext cx="3689289" cy="34121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/>
            <ns1:r>
              <ns1:rPr lang="ko-KR" dirty="0" smtClean="0" altLang="en-US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2026.06</ns1:t>
            </ns1:r>
          </ns1:p>
        </ns0:txBody>
      </ns0:sp>
    </ns0:spTree>
    <ns0:extLst>
      <ns0:ext uri="{BB962C8B-B14F-4D97-AF65-F5344CB8AC3E}">
        <ns3:creationId val="2009827017"/>
      </ns0:ext>
    </ns0:extLst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0" name="Text 3"/>
          <ns0:cNvSpPr/>
          <ns0:nvPr/>
        </ns0:nvSpPr>
        <ns0:spPr>
          <ns1:xfrm>
            <ns1:off x="4541178" y="1574452"/>
            <ns1:ext cx="6790297" cy="44832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err="1" smtClean="0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기술 기반</ns1:t>
            </ns1:r>
            <ns1:endParaRPr lang="en-US" sz="3000" dirty="0" smtClean="0">
              <ns1:solidFill>
                <ns1:schemeClr val="tx1">
                  <ns1:lumMod val="95000"/>
                  <ns1:lumOff val="5000"/>
                  <ns1:alpha val="99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GS Neotek ML 서비스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11" name="Text 3"/>
          <ns0:cNvSpPr/>
          <ns0:nvPr/>
        </ns0:nvSpPr>
        <ns0:spPr>
          <ns1:xfrm>
            <ns1:off x="3851538" y="1574452"/>
            <ns1:ext cx="536801" cy="44832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cxnSp>
        <ns0:nvCxnSpPr>
          <ns0:cNvPr id="12" name="직선 연결선 11"/>
          <ns0:cNvCxnSpPr/>
          <ns0:nvPr/>
        </ns0:nvCxnSpPr>
        <ns0:spPr>
          <ns1:xfrm>
            <ns1:off x="9501278" y="2005776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13" name="직선 연결선 12"/>
          <ns0:cNvCxnSpPr/>
          <ns0:nvPr/>
        </ns0:nvCxnSpPr>
        <ns0:spPr>
          <ns1:xfrm>
            <ns1:off x="9501278" y="2680450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7" name="직선 연결선 36"/>
          <ns0:cNvCxnSpPr/>
          <ns0:nvPr/>
        </ns0:nvCxnSpPr>
        <ns0:spPr>
          <ns1:xfrm>
            <ns1:off x="9501278" y="3355124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8" name="직선 연결선 37"/>
          <ns0:cNvCxnSpPr/>
          <ns0:nvPr/>
        </ns0:nvCxnSpPr>
        <ns0:spPr>
          <ns1:xfrm>
            <ns1:off x="9501278" y="4029798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9" name="직선 연결선 38"/>
          <ns0:cNvCxnSpPr/>
          <ns0:nvPr/>
        </ns0:nvCxnSpPr>
        <ns0:spPr>
          <ns1:xfrm>
            <ns1:off x="9501278" y="4704472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0" name="직선 연결선 39"/>
          <ns0:cNvCxnSpPr/>
          <ns0:nvPr/>
        </ns0:nvCxnSpPr>
        <ns0:spPr>
          <ns1:xfrm>
            <ns1:off x="9501278" y="5379146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1" name="직선 연결선 40"/>
          <ns0:cNvCxnSpPr/>
          <ns0:nvPr/>
        </ns0:nvCxnSpPr>
        <ns0:spPr>
          <ns1:xfrm>
            <ns1:off x="9501278" y="6053819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42" name="제목 41"/>
          <ns0:cNvSpPr>
            <ns1:spLocks noGrp="1"/>
          </ns0:cNvSpPr>
          <ns0:nvPr>
            <ns0:ph type="title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r>
              <ns1:rPr lang="ko-KR" altLang="ko-KR" dirty="0"/>
              <ns1:t>머신러닝 심층 기술 가이드</ns1:t>
            </ns1:r>
            <ns1:endParaRPr lang="ko-KR" altLang="en-US" dirty="0"/>
          </ns1:p>
        </ns0:txBody>
      </ns0:sp>
      <ns0:sp>
        <ns0:nvSpPr>
          <ns0:cNvPr id="14" name="Text 3"/>
          <ns0:cNvSpPr/>
          <ns0:nvPr/>
        </ns0:nvSpPr>
        <ns0:spPr>
          <ns1:xfrm>
            <ns1:off x="11431475" y="974723"/>
            <ns1:ext cx="760525" cy="541156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310000"/>
              </ns1:lnSpc>
              <ns1:buNone/>
            </ns1:pPr>
            <ns1:r>
              <ns1:rPr 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03</ns1:t>
            </ns1: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05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06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10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</ns0:spTree>
    <ns0:extLst>
      <ns0:ext uri="{BB962C8B-B14F-4D97-AF65-F5344CB8AC3E}">
        <ns2:creationId val="2918603763"/>
      </ns0:ext>
    </ns0:extLst>
  </ns0:cSld>
  <ns0:clrMapOvr>
    <ns1:masterClrMapping/>
  </ns0:clrMapOvr>
</ns0:sld>
</file>

<file path=ppt/slides/slide9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smtClean="0" dirty="0"/>
              <ns1:t>03 데이터 파이프라인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2753532" y="5217946"/>
            <ns1:ext cx="3029540" cy="1345038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Kafka→Spark Streaming. 실시간 수집. Parquet 저장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데이터 수집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1" name="그룹 40"/>
          <ns0:cNvGrpSpPr/>
          <ns0:nvPr/>
        </ns0:nvGrpSpPr>
        <ns0:grpSpPr>
          <ns1:xfrm>
            <ns1:off x="5912288" y="5217946"/>
            <ns1:ext cx="3029540" cy="1345038"/>
            <ns1:chOff x="2844950" y="5202168"/>
            <ns1:chExt cx="2844657" cy="1345038"/>
          </ns1:xfrm>
        </ns0:grpSpPr>
        <ns0:sp>
          <ns0:nvSpPr>
            <ns0:cNvPr id="42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Great Expectations. 데이터 drift 감지. 이상치 제거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4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품질 검증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5" name="그룹 44"/>
          <ns0:cNvGrpSpPr/>
          <ns0:nvPr/>
        </ns0:nvGrpSpPr>
        <ns0:grpSpPr>
          <ns1:xfrm>
            <ns1:off x="9087724" y="5217946"/>
            <ns1:ext cx="3029540" cy="1345038"/>
            <ns1:chOff x="2844950" y="5202168"/>
            <ns1:chExt cx="2844657" cy="1345038"/>
          </ns1:xfrm>
        </ns0:grpSpPr>
        <ns0:sp>
          <ns0:nvSpPr>
            <ns0:cNvPr id="4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Feature Store. 재사용 가능한 피처 관리. Feast 활용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피처 엔지니어링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4" name="직선 연결선 3"/>
          <ns0:cNvCxnSpPr/>
          <ns0:nvPr/>
        </ns0:nvCxnSpPr>
        <ns0:spPr>
          <ns1:xfrm>
            <ns1:off x="5808610" y="6045200"/>
            <ns1:ext cx="0" cy="81280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54" name="직선 연결선 53"/>
          <ns0:cNvCxnSpPr/>
          <ns0:nvPr/>
        </ns0:nvCxnSpPr>
        <ns0:spPr>
          <ns1:xfrm>
            <ns1:off x="9021779" y="6045200"/>
            <ns1:ext cx="0" cy="81280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24" name="직사각형 23"/>
          <ns0:cNvSpPr/>
          <ns0:nvPr/>
        </ns0:nvSpPr>
        <ns0:spPr>
          <ns1:xfrm>
            <ns1:off x="2662116" y="780495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Kafka→Spark→Feature Store 데이터 수집 아키텍처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9071043" y="780482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피처 엔지니어링 파이프라인 흐름도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5866579" y="788113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Great Expectations 데이터 품질 검증 대시보드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32" name="직각 삼각형 31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4" name="직각 삼각형 33"/>
          <ns0:cNvSpPr/>
          <ns0:nvPr/>
        </ns0:nvSpPr>
        <ns0:spPr>
          <ns1:xfrm rot="5400000">
            <ns1:off x="5850083" y="787779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5" name="직각 삼각형 34"/>
          <ns0:cNvSpPr/>
          <ns0:nvPr/>
        </ns0:nvSpPr>
        <ns0:spPr>
          <ns1:xfrm rot="5400000">
            <ns1:off x="9071378" y="787780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270618248"/>
      </ns0:ext>
    </ns0:extLst>
  </ns0:cSld>
  <ns0:clrMapOvr>
    <ns1:masterClrMapping/>
  </ns0:clrMapOvr>
</ns0:sld>
</file>

<file path=ppt/slides/slide10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cxnSp>
        <ns0:nvCxnSpPr>
          <ns0:cNvPr id="25" name="직선 연결선 24"/>
          <ns0:cNvCxnSpPr/>
          <ns0:nvPr/>
        </ns0:nvCxnSpPr>
        <ns0:spPr>
          <ns1:xfrm>
            <ns1:off x="5808610" y="5084067"/>
            <ns1:ext cx="0" cy="1164332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1" name="직선 연결선 30"/>
          <ns0:cNvCxnSpPr/>
          <ns0:nvPr/>
        </ns0:nvCxnSpPr>
        <ns0:spPr>
          <ns1:xfrm>
            <ns1:off x="9021779" y="5084067"/>
            <ns1:ext cx="0" cy="1164332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grpSp>
        <ns0:nvGrpSpPr>
          <ns0:cNvPr id="41" name="그룹 40"/>
          <ns0:cNvGrpSpPr/>
          <ns0:nvPr/>
        </ns0:nvGrpSpPr>
        <ns0:grpSpPr>
          <ns1:xfrm>
            <ns1:off x="5912288" y="4418753"/>
            <ns1:ext cx="3029540" cy="1241820"/>
            <ns1:chOff x="2844950" y="5202168"/>
            <ns1:chExt cx="2844657" cy="1345038"/>
          </ns1:xfrm>
        </ns0:grpSpPr>
        <ns0:sp>
          <ns0:nvSpPr>
            <ns0:cNvPr id="42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연구·프로토타입 최적. 동적 그래프. Pythonic API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4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PyTorch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05 프레임워크 선택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2662116" y="780495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PyTorch Stars 트렌드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2753532" y="4418753"/>
            <ns1:ext cx="3029540" cy="1241820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프로덕션 서빙. TF Serving 안정성. 모바일·임베디드 강점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TensorFlow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5" name="그룹 44"/>
          <ns0:cNvGrpSpPr/>
          <ns0:nvPr/>
        </ns0:nvGrpSpPr>
        <ns0:grpSpPr>
          <ns1:xfrm>
            <ns1:off x="9087724" y="4418753"/>
            <ns1:ext cx="3029540" cy="1241820"/>
            <ns1:chOff x="2844950" y="5202168"/>
            <ns1:chExt cx="2844657" cy="1345038"/>
          </ns1:xfrm>
        </ns0:grpSpPr>
        <ns0:sp>
          <ns0:nvSpPr>
            <ns0:cNvPr id="4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대규모 분산 학습. XLA 컴파일. NumPy 호환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JAX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23" name="직사각형 22"/>
          <ns0:cNvSpPr/>
          <ns0:nvPr/>
        </ns0:nvSpPr>
        <ns0:spPr>
          <ns1:xfrm>
            <ns1:off x="9071043" y="780482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JAX 벤치마크 비교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6" name="직사각형 25"/>
          <ns0:cNvSpPr/>
          <ns0:nvPr/>
        </ns0:nvSpPr>
        <ns0:spPr>
          <ns1:xfrm>
            <ns1:off x="5866579" y="788113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TF Serving 추론 아키텍처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8" name="직각 삼각형 27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9" name="직각 삼각형 28"/>
          <ns0:cNvSpPr/>
          <ns0:nvPr/>
        </ns0:nvSpPr>
        <ns0:spPr>
          <ns1:xfrm rot="5400000">
            <ns1:off x="5850083" y="787779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0" name="직각 삼각형 29"/>
          <ns0:cNvSpPr/>
          <ns0:nvPr/>
        </ns0:nvSpPr>
        <ns0:spPr>
          <ns1:xfrm rot="5400000">
            <ns1:off x="9071378" y="787780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4" name="모서리가 둥근 직사각형 23"/>
          <ns0:cNvSpPr/>
          <ns0:nvPr/>
        </ns0:nvSpPr>
        <ns0:spPr>
          <ns1:xfrm>
            <ns1:off x="2658154" y="5825929"/>
            <ns1:ext cx="9533846" cy="1032072"/>
          </ns1:xfrm>
          <ns1:prstGeom prst="roundRect">
            <ns1:avLst>
              <ns1:gd name="adj" fmla="val 0"/>
            </ns1:avLst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연구→PyTorch / 프로덕션→TensorFlow / 대규모 분산→JAX</ns1:t>
            </ns1:r>
          </ns1:p>
        </ns0:txBody>
      </ns0:sp>
      <ns0:sp>
        <ns0:nvSpPr>
          <ns0:cNvPr id="3" name="갈매기형 수장 2"/>
          <ns0:cNvSpPr/>
          <ns0:nvPr/>
        </ns0:nvSpPr>
        <ns0:spPr>
          <ns1:xfrm rot="5400000">
            <ns1:off x="7363194" y="5890761"/>
            <ns1:ext cx="123766" cy="273502"/>
          </ns1:xfrm>
          <ns1:prstGeom prst="chevron">
            <ns1:avLst>
              <ns1:gd name="adj" fmla="val 59417"/>
            </ns1:avLst>
          </ns1:prstGeom>
          <ns1:solidFill>
            <ns1:schemeClr val="bg1"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</ns0:spTree>
    <ns0:extLst>
      <ns0:ext uri="{BB962C8B-B14F-4D97-AF65-F5344CB8AC3E}">
        <ns2:creationId val="3287227565"/>
      </ns0:ext>
    </ns0:extLst>
  </ns0:cSld>
  <ns0:clrMapOvr>
    <ns1:masterClrMapping/>
  </ns0:clrMapOvr>
</ns0:sld>
</file>

<file path=ppt/slides/slide11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07 ML Ops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 smtClean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8546784" y="1018606"/>
            <ns1:ext cx="3029540" cy="1345038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GitHub Actions → Kubeflow. 코드 푸시 즉시 재학습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CI/CD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4" name="직선 연결선 3"/>
          <ns0:cNvCxnSpPr/>
          <ns0:nvPr/>
        </ns0:nvCxnSpPr>
        <ns0:spPr>
          <ns1:xfrm flipH="1">
            <ns1:off x="8546784" y="2786973"/>
            <ns1:ext cx="3645217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21" name="직사각형 20"/>
          <ns0:cNvSpPr/>
          <ns0:nvPr/>
        </ns0:nvSpPr>
        <ns0:spPr>
          <ns1:xfrm>
            <ns1:off x="2658154" y="777929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ML CI/CD 자동화 파이프라인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2" name="직사각형 21"/>
          <ns0:cNvSpPr/>
          <ns0:nvPr/>
        </ns0:nvSpPr>
        <ns0:spPr>
          <ns1:xfrm>
            <ns1:off x="2658154" y="2864336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모델 성능 모니터링 대시보드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2658154" y="4950744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데이터 드리프트 감지 시스템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cxnSp>
        <ns0:nvCxnSpPr>
          <ns0:cNvPr id="30" name="직선 연결선 29"/>
          <ns0:cNvCxnSpPr/>
          <ns0:nvPr/>
        </ns0:nvCxnSpPr>
        <ns0:spPr>
          <ns1:xfrm flipH="1">
            <ns1:off x="8546784" y="4851671"/>
            <ns1:ext cx="3645216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grpSp>
        <ns0:nvGrpSpPr>
          <ns0:cNvPr id="35" name="그룹 34"/>
          <ns0:cNvGrpSpPr/>
          <ns0:nvPr/>
        </ns0:nvGrpSpPr>
        <ns0:grpSpPr>
          <ns1:xfrm>
            <ns1:off x="8546784" y="3083303"/>
            <ns1:ext cx="3029540" cy="1345038"/>
            <ns1:chOff x="2844950" y="5202168"/>
            <ns1:chExt cx="2844657" cy="1345038"/>
          </ns1:xfrm>
        </ns0:grpSpPr>
        <ns0:sp>
          <ns0:nvSpPr>
            <ns0:cNvPr id="3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Prometheus·Grafana. 지연시간·처리량·정확도 실시간 추적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모니터링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38" name="그룹 37"/>
          <ns0:cNvGrpSpPr/>
          <ns0:nvPr/>
        </ns0:nvGrpSpPr>
        <ns0:grpSpPr>
          <ns1:xfrm>
            <ns1:off x="8546784" y="5148000"/>
            <ns1:ext cx="3029540" cy="1345038"/>
            <ns1:chOff x="2844950" y="5202168"/>
            <ns1:chExt cx="2844657" cy="1345038"/>
          </ns1:xfrm>
        </ns0:grpSpPr>
        <ns0:sp>
          <ns0:nvSpPr>
            <ns0:cNvPr id="39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Evidently AI. 데이터 분포 변화 감지. 재학습 트리거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0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드리프트 감지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6" name="직각 삼각형 5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50" name="직각 삼각형 49"/>
          <ns0:cNvSpPr/>
          <ns0:nvPr/>
        </ns0:nvSpPr>
        <ns0:spPr>
          <ns1:xfrm rot="5400000">
            <ns1:off x="2658489" y="2864002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51" name="직각 삼각형 50"/>
          <ns0:cNvSpPr/>
          <ns0:nvPr/>
        </ns0:nvSpPr>
        <ns0:spPr>
          <ns1:xfrm rot="5400000">
            <ns1:off x="2658488" y="4950409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551327650"/>
      </ns0:ext>
    </ns0:extLst>
  </ns0:cSld>
  <ns0:clrMapOvr>
    <ns1:masterClrMapping/>
  </ns0:clrMapOvr>
</ns0:sld>
</file>

<file path=ppt/slides/slide12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1" name="직사각형 20"/>
          <ns0:cNvSpPr/>
          <ns0:nvPr/>
        </ns0:nvSpPr>
        <ns0:spPr>
          <ns1:xfrm>
            <ns1:off x="2661737" y="1633848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E2E ML 자동화 파이프라인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47" name="직사각형 46"/>
          <ns0:cNvSpPr/>
          <ns0:nvPr/>
        </ns0:nvSpPr>
        <ns0:spPr>
          <ns1:xfrm>
            <ns1:off x="2661737" y="3415476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도메인별 정확도 비교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48" name="직사각형 47"/>
          <ns0:cNvSpPr/>
          <ns0:nvPr/>
        </ns0:nvSpPr>
        <ns0:spPr>
          <ns1:xfrm>
            <ns1:off x="2661737" y="5197104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보안 아키텍처 레이어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11 핵심 역량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45707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7937183" y="1784034"/>
            <ns1:ext cx="4254817" cy="1162366"/>
            <ns1:chOff x="2844950" y="5202168"/>
            <ns1:chExt cx="4654199" cy="1449259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데이터 수집→학습→배포→모니터링 전 과정 자동화. 개발 기간 70% 단축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End-to-End 자동화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6" name="직각 삼각형 5"/>
          <ns0:cNvSpPr/>
          <ns0:nvPr/>
        </ns0:nvSpPr>
        <ns0:spPr>
          <ns1:xfrm rot="5400000">
            <ns1:off x="2669025" y="1626419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8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| End-to-End 자동화·도메인 전문성·엔터프라이즈 보안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44" name="직각 삼각형 43"/>
          <ns0:cNvSpPr/>
          <ns0:nvPr/>
        </ns0:nvSpPr>
        <ns0:spPr>
          <ns1:xfrm rot="5400000">
            <ns1:off x="2669025" y="3408119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6" name="직각 삼각형 45"/>
          <ns0:cNvSpPr/>
          <ns0:nvPr/>
        </ns0:nvSpPr>
        <ns0:spPr>
          <ns1:xfrm rot="5400000">
            <ns1:off x="2669025" y="5189817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grpSp>
        <ns0:nvGrpSpPr>
          <ns0:cNvPr id="52" name="그룹 51"/>
          <ns0:cNvGrpSpPr/>
          <ns0:nvPr/>
        </ns0:nvGrpSpPr>
        <ns0:grpSpPr>
          <ns1:xfrm>
            <ns1:off x="7980727" y="3651150"/>
            <ns1:ext cx="4254817" cy="1162366"/>
            <ns1:chOff x="2844950" y="5202168"/>
            <ns1:chExt cx="4654199" cy="1449259"/>
          </ns1:xfrm>
        </ns0:grpSpPr>
        <ns0:sp>
          <ns0:nvSpPr>
            <ns0:cNvPr id="53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금융·제조·유통 도메인별 사전학습 모델. 정확도 평균 15% 향상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54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도메인 전문성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55" name="그룹 54"/>
          <ns0:cNvGrpSpPr/>
          <ns0:nvPr/>
        </ns0:nvGrpSpPr>
        <ns0:grpSpPr>
          <ns1:xfrm>
            <ns1:off x="7937182" y="5446369"/>
            <ns1:ext cx="4254817" cy="1162366"/>
            <ns1:chOff x="2844950" y="5202168"/>
            <ns1:chExt cx="4654199" cy="1449259"/>
          </ns1:xfrm>
        </ns0:grpSpPr>
        <ns0:sp>
          <ns0:nvSpPr>
            <ns0:cNvPr id="56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온프레미스·VPC 지원. ISO27001·ISMS 인증. 금융권 보안 기준 충족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57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엔터프라이즈 보안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58" name="직선 연결선 57"/>
          <ns0:cNvCxnSpPr/>
          <ns0:nvPr/>
        </ns0:nvCxnSpPr>
        <ns0:spPr>
          <ns1:xfrm flipH="1">
            <ns1:off x="7937182" y="3332844"/>
            <ns1:ext cx="4254818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59" name="직선 연결선 58"/>
          <ns0:cNvCxnSpPr/>
          <ns0:nvPr/>
        </ns0:nvCxnSpPr>
        <ns0:spPr>
          <ns1:xfrm flipH="1">
            <ns1:off x="7937181" y="5132616"/>
            <ns1:ext cx="4254818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</ns0:spTree>
    <ns0:extLst>
      <ns0:ext uri="{BB962C8B-B14F-4D97-AF65-F5344CB8AC3E}">
        <ns2:creationId val="2098120767"/>
      </ns0:ext>
    </ns0:extLst>
  </ns0:cSld>
  <ns0:clrMapOvr>
    <ns1:masterClrMapping/>
  </ns0:clrMapOvr>
</ns0:sld>
</file>

<file path=ppt/slides/slide15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0" name="직사각형 19"/>
          <ns0:cNvSpPr/>
          <ns0:nvPr/>
        </ns0:nvSpPr>
        <ns0:spPr>
          <ns1:xfrm>
            <ns1:off x="2662116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Multi-Head Attention 구조 다이어그램]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5866580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Foundation Model 사전학습→파인튜닝 흐름]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9071044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RLHF 보상모델 학습 프로세스]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18" name="모서리가 둥근 직사각형 17"/>
          <ns0:cNvSpPr/>
          <ns0:nvPr/>
        </ns0:nvSpPr>
        <ns0:spPr>
          <ns1:xfrm>
            <ns1:off x="2657433" y="1505930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 b="1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01 Transformer</ns1:t>
            </ns1:r>
          </ns1:p>
          <ns1:p>
            <ns1:r>
              <ns1:rPr lang="ko-KR" dirty="0"/>
              <ns1:t>어텐션 메커니즘</ns1:t>
            </ns1:r>
          </ns1:p>
        </ns0:txBody>
      </ns0:sp>
      <ns0:sp>
        <ns0:nvSpPr>
          <ns0:cNvPr id="19" name="모서리가 둥근 직사각형 18"/>
          <ns0:cNvSpPr/>
          <ns0:nvPr/>
        </ns0:nvSpPr>
        <ns0:spPr>
          <ns1:xfrm>
            <ns1:off x="5861898" y="1505929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 b="1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02 Foundation Model</ns1:t>
            </ns1:r>
          </ns1:p>
          <ns1:p>
            <ns1:r>
              <ns1:rPr lang="ko-KR" dirty="0"/>
              <ns1:t>대규모 사전학습</ns1:t>
            </ns1:r>
          </ns1:p>
        </ns0:txBody>
      </ns0:sp>
      <ns0:sp>
        <ns0:nvSpPr>
          <ns0:cNvPr id="21" name="모서리가 둥근 직사각형 20"/>
          <ns0:cNvSpPr/>
          <ns0:nvPr/>
        </ns0:nvSpPr>
        <ns0:spPr>
          <ns1:xfrm>
            <ns1:off x="9067922" y="1505929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 b="1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03 RLHF</ns1:t>
            </ns1:r>
          </ns1:p>
          <ns1:p>
            <ns1:r>
              <ns1:rPr lang="ko-KR" dirty="0"/>
              <ns1:t>인간선호 강화학습</ns1:t>
            </ns1:r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ko-KR" altLang="ko-KR" dirty="0" smtClean="0"/>
              <ns1:t>ML 기술 기반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ko-KR" altLang="ko-KR" dirty="0"/>
              <ns1:t>01 ML 패러다임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1.1. 3대 핵심 기술 트렌드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Transformer·Foundation Model·RLHF 기반 ML 패러다임 전환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62" name="Text 1"/>
          <ns0:cNvSpPr/>
          <ns0:nvPr/>
        </ns0:nvSpPr>
        <ns0:spPr>
          <ns1:xfrm>
            <ns1:off x="2661410" y="5070470"/>
            <ns1:ext cx="3124079" cy="10445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BERT·GPT의 핵심. 병렬 처리·장거리 의존성 모델링. RNN 한계 극복</ns1:t>
            </ns1:r>
          </ns1:p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병렬 처리·장거리 의존성 모델링. RNN 한계 극복.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69" name="Text 1"/>
          <ns0:cNvSpPr/>
          <ns0:nvPr/>
        </ns0:nvSpPr>
        <ns0:spPr>
          <ns1:xfrm>
            <ns1:off x="9087922" y="5070470"/>
            <ns1:ext cx="3124079" cy="10445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PPO·DPO 기반 인간선호 정렬. ChatGPT·Claude 핵심 학습 기법</ns1:t>
            </ns1:r>
          </ns1:p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ChatGPT·Claude 핵심 학습 기법.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8" name="Text 1"/>
          <ns0:cNvSpPr/>
          <ns0:nvPr/>
        </ns0:nvSpPr>
        <ns0:spPr>
          <ns1:xfrm>
            <ns1:off x="5861896" y="5070470"/>
            <ns1:ext cx="3124079" cy="82691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소수 샷·제로샷 전이 학습. ImageNet→LLM 패러다임 전환 선도</ns1:t>
            </ns1:r>
          </ns1:p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ImageNet→LLM 패러다임 전환 선도.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41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| 1.1.1 Transformer·Foundation Model·RLHF — ML 패러다임을 이끄는 3대 핵심 기술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cxnSp>
        <ns0:nvCxnSpPr>
          <ns0:cNvPr id="42" name="직선 연결선 41"/>
          <ns0:cNvCxnSpPr/>
          <ns0:nvPr/>
        </ns0:nvCxnSpPr>
        <ns0:spPr>
          <ns1:xfrm>
            <ns1:off x="5808610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4" name="직선 연결선 43"/>
          <ns0:cNvCxnSpPr/>
          <ns0:nvPr/>
        </ns0:nvCxnSpPr>
        <ns0:spPr>
          <ns1:xfrm>
            <ns1:off x="9021779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</ns0:spTree>
    <ns0:extLst>
      <ns0:ext uri="{BB962C8B-B14F-4D97-AF65-F5344CB8AC3E}">
        <ns2:creationId val="368167827"/>
      </ns0:ext>
    </ns0:extLst>
  </ns0:cSld>
  <ns0:clrMapOvr>
    <ns1:masterClrMapping/>
  </ns0:clrMapOvr>
</ns0:sld>
</file>

<file path=ppt/slides/slide16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04 학습·배포 전략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2662116" y="1506207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MLflow·W&amp;B 실험 추적 UI 화면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cxnSp>
        <ns0:nvCxnSpPr>
          <ns0:cNvPr id="4" name="직선 연결선 3"/>
          <ns0:cNvCxnSpPr/>
          <ns0:nvPr/>
        </ns0:nvCxnSpPr>
        <ns0:spPr>
          <ns1:xfrm>
            <ns1:off x="5061373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58" name="모서리가 둥근 직사각형 57"/>
          <ns0:cNvSpPr/>
          <ns0:nvPr/>
        </ns0:nvSpPr>
        <ns0:spPr>
          <ns1:xfrm>
            <ns1:off x="2658995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실험 관리</ns1:t>
            </ns1:r>
          </ns1:p>
        </ns0:txBody>
      </ns0:sp>
      <ns0:sp>
        <ns0:nvSpPr>
          <ns0:cNvPr id="62" name="Text 1"/>
          <ns0:cNvSpPr/>
          <ns0:nvPr/>
        </ns0:nvSpPr>
        <ns0:spPr>
          <ns1:xfrm>
            <ns1:off x="2755068" y="5053336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Optuna 기반 Bayesian 자동 하이퍼파라미터 탐색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1" name="직사각형 20"/>
          <ns0:cNvSpPr/>
          <ns0:nvPr/>
        </ns0:nvSpPr>
        <ns0:spPr>
          <ns1:xfrm>
            <ns1:off x="5077194" y="1506207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Optuna 하이퍼파라미터 최적화 수렴 곡선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2" name="모서리가 둥근 직사각형 21"/>
          <ns0:cNvSpPr/>
          <ns0:nvPr/>
        </ns0:nvSpPr>
        <ns0:spPr>
          <ns1:xfrm>
            <ns1:off x="5074073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HPO 최적화</ns1:t>
            </ns1: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7488382" y="1506206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ROC Curve 및 Confusion Matrix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6" name="모서리가 둥근 직사각형 25"/>
          <ns0:cNvSpPr/>
          <ns0:nvPr/>
        </ns0:nvSpPr>
        <ns0:spPr>
          <ns1:xfrm>
            <ns1:off x="7485261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모델 평가</ns1:t>
            </ns1:r>
          </ns1:p>
        </ns0:txBody>
      </ns0:sp>
      <ns0:sp>
        <ns0:nvSpPr>
          <ns0:cNvPr id="27" name="직사각형 26"/>
          <ns0:cNvSpPr/>
          <ns0:nvPr/>
        </ns0:nvSpPr>
        <ns0:spPr>
          <ns1:xfrm>
            <ns1:off x="9895681" y="1506206"/>
            <ns1:ext cx="2296320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Canary 배포 트래픽 분할 시나리오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8" name="모서리가 둥근 직사각형 27"/>
          <ns0:cNvSpPr/>
          <ns0:nvPr/>
        </ns0:nvSpPr>
        <ns0:spPr>
          <ns1:xfrm>
            <ns1:off x="9892559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배포 전략</ns1:t>
            </ns1:r>
          </ns1:p>
        </ns0:txBody>
      </ns0:sp>
      <ns0:sp>
        <ns0:nvSpPr>
          <ns0:cNvPr id="25" name="Text 1"/>
          <ns0:cNvSpPr/>
          <ns0:nvPr/>
        </ns0:nvSpPr>
        <ns0:spPr>
          <ns1:xfrm>
            <ns1:off x="5170146" y="5053336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ROC Curve, Precision-Recall. 비즈니스 KPI 연계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9" name="Text 1"/>
          <ns0:cNvSpPr/>
          <ns0:nvPr/>
        </ns0:nvSpPr>
        <ns0:spPr>
          <ns1:xfrm>
            <ns1:off x="7585224" y="5050478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Blue-Green 배포. Canary 릴리즈. 안전한 모델 교체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0" name="Text 1"/>
          <ns0:cNvSpPr/>
          <ns0:nvPr/>
        </ns0:nvSpPr>
        <ns0:spPr>
          <ns1:xfrm>
            <ns1:off x="9988632" y="4995278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MLflow·W&amp;B 실험 추적. 재현 가능한 학습 환경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31" name="직선 연결선 30"/>
          <ns0:cNvCxnSpPr/>
          <ns0:nvPr/>
        </ns0:nvCxnSpPr>
        <ns0:spPr>
          <ns1:xfrm>
            <ns1:off x="7466634" y="6012542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2" name="직선 연결선 31"/>
          <ns0:cNvCxnSpPr/>
          <ns0:nvPr/>
        </ns0:nvCxnSpPr>
        <ns0:spPr>
          <ns1:xfrm>
            <ns1:off x="9892559" y="6012541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48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| 실험 관리·HPO 최적화·모델 평가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2:creationId val="531123990"/>
      </ns0:ext>
    </ns0:extLst>
  </ns0:cSld>
  <ns0:clrMapOvr>
    <ns1:masterClrMapping/>
  </ns0:clrMapOvr>
</ns0:sld>
</file>

<file path=ppt/slides/slide24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>
          <ns1:xfrm>
            <ns1:off x="344233" y="225866"/>
            <ns1:ext cx="1500278" cy="228225"/>
          </ns1:xfrm>
        </ns0:spPr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>
          <ns1:xfrm>
            <ns1:off x="2595441" y="225458"/>
            <ns1:ext cx="2906908" cy="254000"/>
          </ns1:xfrm>
        </ns0:spPr>
        <ns0:txBody>
          <ns1:bodyPr/>
          <ns1:lstStyle/>
          <ns1:p>
            <ns1:r>
              <ns1:rPr lang="en-US" altLang="ko-KR" dirty="0"/>
              <ns1:t>10 ML 서비스</ns1:t>
            </ns1:r>
          </ns1:p>
        </ns0:txBody>
      </ns0:sp>
      <ns0:sp>
        <ns0:nvSpPr>
          <ns0:cNvPr id="2" name="이등변 삼각형 1"/>
          <ns0:cNvSpPr/>
          <ns0:nvPr/>
        </ns0:nvSpPr>
        <ns0:spPr>
          <ns1:xfrm rot="5400000">
            <ns1:off x="7216927" y="3595051"/>
            <ns1:ext cx="357169" cy="296574"/>
          </ns1:xfrm>
          <ns1:prstGeom prst="triangle">
            <ns1:avLst>
              <ns1:gd name="adj" fmla="val 54000"/>
            </ns1:avLst>
          </ns1:prstGeom>
          <ns1:solidFill>
            <ns1:srgbClr val="0C0E68"/>
          </ns1:solidFill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16" name="Text 1"/>
          <ns0:cNvSpPr/>
          <ns0:nvPr/>
        </ns0:nvSpPr>
        <ns0:spPr>
          <ns1:xfrm>
            <ns1:off x="395032" y="780494"/>
            <ns1:ext cx="2119440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7" name="Text 1"/>
          <ns0:cNvSpPr/>
          <ns0:nvPr/>
        </ns0:nvSpPr>
        <ns0:spPr>
          <ns1:xfrm>
            <ns1:off x="395032" y="2311627"/>
            <ns1:ext cx="2119440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ML Platform: Kubeflow 기반 학습·서빙 플랫폼 / GPU 클러스터 관리 / AutoML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0" name="Text 1"/>
          <ns0:cNvSpPr/>
          <ns0:nvPr/>
        </ns0:nvSpPr>
        <ns0:spPr>
          <ns1:xfrm>
            <ns1:off x="395032" y="3466057"/>
            <ns1:ext cx="2119440" cy="153733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Fortune 500 기업 10곳 이상 구축 경험 보유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</ns0:spTree>
    <ns0:extLst>
      <ns0:ext uri="{BB962C8B-B14F-4D97-AF65-F5344CB8AC3E}">
        <ns2:creationId val="2138085299"/>
      </ns0:ext>
    </ns0:extLst>
  </ns0:cSld>
  <ns0:clrMapOvr>
    <ns1:masterClrMapping/>
  </ns0:clrMapOvr>
</ns0:sld>
</file>

<file path=ppt/slides/slide29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기술 기반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02 아키텍처 진화</ns1:t>
            </ns1:r>
          </ns1:p>
        </ns0:txBody>
      </ns0:sp>
      <ns0:sp>
        <ns0:nvSpPr>
          <ns0:cNvPr id="16" name="직사각형 15"/>
          <ns0:cNvSpPr/>
          <ns0:nvPr/>
        </ns0:nvSpPr>
        <ns0:spPr>
          <ns1:xfrm>
            <ns1:off x="2657593" y="780494"/>
            <ns1:ext cx="2710790" cy="372959"/>
          </ns1:xfrm>
          <ns1:prstGeom prst="rect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2014~16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직사각형 16"/>
          <ns0:cNvSpPr/>
          <ns0:nvPr/>
        </ns0:nvSpPr>
        <ns0:spPr>
          <ns1:xfrm>
            <ns1:off x="5368383" y="1155654"/>
            <ns1:ext cx="2314244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2017~19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8" name="Text 1"/>
          <ns0:cNvSpPr/>
          <ns0:nvPr/>
        </ns0:nvSpPr>
        <ns0:spPr>
          <ns1:xfrm>
            <ns1:off x="395032" y="780494"/>
            <ns1:ext cx="2200409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기술 기반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9" name="Text 1"/>
          <ns0:cNvSpPr/>
          <ns0:nvPr/>
        </ns0:nvSpPr>
        <ns0:spPr>
          <ns1:xfrm>
            <ns1:off x="395032" y="2311627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2" name="직사각형 21"/>
          <ns0:cNvSpPr/>
          <ns0:nvPr/>
        </ns0:nvSpPr>
        <ns0:spPr>
          <ns1:xfrm>
            <ns1:off x="7700615" y="1452497"/>
            <ns1:ext cx="2314244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2020~22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10014859" y="1749340"/>
            <ns1:ext cx="2177141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2023~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2657592" y="1153452"/>
            <ns1:ext cx="2692803" cy="5704547"/>
          </ns1:xfrm>
          <ns1:prstGeom prst="rect">
            <ns1:avLst/>
          </ns1:prstGeom>
          <ns1:solidFill>
            <ns1:schemeClr val="bg1">
              <ns1:lumMod val="85000"/>
              <ns1:alpha val="3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12" name="직사각형 11"/>
          <ns0:cNvSpPr/>
          <ns0:nvPr/>
        </ns0:nvSpPr>
        <ns0:spPr>
          <ns1:xfrm>
            <ns1:off x="7700615" y="1749340"/>
            <ns1:ext cx="2314244" cy="5108659"/>
          </ns1:xfrm>
          <ns1:prstGeom prst="rect">
            <ns1:avLst/>
          </ns1:prstGeom>
          <ns1:solidFill>
            <ns1:schemeClr val="bg1">
              <ns1:lumMod val="85000"/>
              <ns1:alpha val="3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400" name="PD400"/>
          <ns0:cNvSpPr>
            <ns1:spLocks noGrp="1"/>
          </ns0:cNvSpPr>
          <ns0:nvPr/>
        </ns0:nvSpPr>
        <ns0:spPr>
          <ns1:xfrm>
            <ns1:off x="2760000" y="1180000"/>
            <ns1:ext cx="9412000" cy="35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9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  <ns0:sp>
        <ns0:nvSpPr>
          <ns0:cNvPr id="401" name="PD401"/>
          <ns0:cNvSpPr>
            <ns1:spLocks noGrp="1"/>
          </ns0:cNvSpPr>
          <ns0:nvPr/>
        </ns0:nvSpPr>
        <ns0:spPr>
          <ns1:xfrm>
            <ns1:off x="5133000" y="1680000"/>
            <ns1:ext cx="7039000" cy="35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9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  <ns0:sp>
        <ns0:nvSpPr>
          <ns0:cNvPr id="402" name="PD402"/>
          <ns0:cNvSpPr>
            <ns1:spLocks noGrp="1"/>
          </ns0:cNvSpPr>
          <ns0:nvPr/>
        </ns0:nvSpPr>
        <ns0:spPr>
          <ns1:xfrm>
            <ns1:off x="7506000" y="2180000"/>
            <ns1:ext cx="4666000" cy="35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9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  <ns0:sp>
        <ns0:nvSpPr>
          <ns0:cNvPr id="403" name="PD403"/>
          <ns0:cNvSpPr>
            <ns1:spLocks noGrp="1"/>
          </ns0:cNvSpPr>
          <ns0:nvPr/>
        </ns0:nvSpPr>
        <ns0:spPr>
          <ns1:xfrm>
            <ns1:off x="9879000" y="2680000"/>
            <ns1:ext cx="2293000" cy="35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9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</ns0:spTree>
    <ns0:extLst>
      <ns0:ext uri="{BB962C8B-B14F-4D97-AF65-F5344CB8AC3E}">
        <ns2:creationId val="554161028"/>
      </ns0:ext>
    </ns0:extLst>
  </ns0:cSld>
  <ns0:clrMapOvr>
    <ns1:masterClrMapping/>
  </ns0:clrMapOvr>
</ns0:sld>
</file>

<file path=ppt/slides/slide31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3" name="직사각형 12"/>
          <ns0:cNvSpPr/>
          <ns0:nvPr/>
        </ns0:nvSpPr>
        <ns0:spPr>
          <ns1:xfrm>
            <ns1:off x="4897938" y="838200"/>
            <ns1:ext cx="2495782" cy="6020378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15" name="직사각형 14"/>
          <ns0:cNvSpPr/>
          <ns0:nvPr/>
        </ns0:nvSpPr>
        <ns0:spPr>
          <ns1:xfrm>
            <ns1:off x="9696217" y="838200"/>
            <ns1:ext cx="2495782" cy="6020378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>06 도입 로드맵</ns1:t>
            </ns1:r>
            <ns1:endParaRPr lang="ko-KR" altLang="en-US" dirty="0"/>
          </ns1:p>
        </ns0:txBody>
      </ns0:sp>
      <ns0:sp>
        <ns0:nvSpPr>
          <ns0:cNvPr id="17" name="Text 1"/>
          <ns0:cNvSpPr/>
          <ns0:nvPr/>
        </ns0:nvSpPr>
        <ns0:spPr>
          <ns1:xfrm>
            <ns1:off x="395032" y="780494"/>
            <ns1:ext cx="2200409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8" name="Text 1"/>
          <ns0:cNvSpPr/>
          <ns0:nvPr/>
        </ns0:nvSpPr>
        <ns0:spPr>
          <ns1:xfrm>
            <ns1:off x="395032" y="2311627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9" name="직사각형 18"/>
          <ns0:cNvSpPr/>
          <ns0:nvPr/>
        </ns0:nvSpPr>
        <ns0:spPr>
          <ns1:xfrm>
            <ns1:off x="2657592" y="780495"/>
            <ns1:ext cx="953440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4" name="이등변 삼각형 13"/>
          <ns0:cNvSpPr/>
          <ns0:nvPr/>
        </ns0:nvSpPr>
        <ns0:spPr>
          <ns1:xfrm rot="5400000">
            <ns1:off x="4823242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16" name="이등변 삼각형 15"/>
          <ns0:cNvSpPr/>
          <ns0:nvPr/>
        </ns0:nvSpPr>
        <ns0:spPr>
          <ns1:xfrm rot="5400000">
            <ns1:off x="7311312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2E2E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2" name="이등변 삼각형 21"/>
          <ns0:cNvSpPr/>
          <ns0:nvPr/>
        </ns0:nvSpPr>
        <ns0:spPr>
          <ns1:xfrm rot="5400000">
            <ns1:off x="9621521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4263276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B0B2E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Q1</ns1:t>
            </ns1:r>
            <ns1:endParaRPr lang="en-US" altLang="ko-KR" sz="1600" dirty="0">
              <ns1:solidFill>
                <ns1:srgbClr val="B0B2E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6751345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7377D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Q2</ns1:t>
            </ns1:r>
            <ns1:endParaRPr lang="en-US" altLang="ko-KR" sz="1600" dirty="0">
              <ns1:solidFill>
                <ns1:srgbClr val="7377D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7" name="직사각형 26"/>
          <ns0:cNvSpPr/>
          <ns0:nvPr/>
        </ns0:nvSpPr>
        <ns0:spPr>
          <ns1:xfrm>
            <ns1:off x="9051374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363AB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Q3</ns1:t>
            </ns1:r>
            <ns1:endParaRPr lang="en-US" altLang="ko-KR" sz="1600" dirty="0">
              <ns1:solidFill>
                <ns1:srgbClr val="363AB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8" name="직사각형 27"/>
          <ns0:cNvSpPr/>
          <ns0:nvPr/>
        </ns0:nvSpPr>
        <ns0:spPr>
          <ns1:xfrm>
            <ns1:off x="11493341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Q4</ns1:t>
            </ns1:r>
            <ns1:endParaRPr lang="en-US" altLang="ko-KR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00" name="RQ300"/>
          <ns0:cNvSpPr>
            <ns1:spLocks noGrp="1"/>
          </ns0:cNvSpPr>
          <ns0:nvPr/>
        </ns0:nvSpPr>
        <ns0:spPr>
          <ns1:xfrm>
            <ns1:off x="2717592" y="4100515"/>
            <ns1:ext cx="9414407" cy="6000"/>
          </ns1:xfrm>
          <ns1:prstGeom prst="rect">
            <ns1:avLst/>
          </ns1:prstGeom>
          <ns1:solidFill>
            <ns1:srgbClr val="CCCCCC"/>
          </ns1:solidFill>
        </ns0:spPr>
      </ns0:sp>
      <ns0:sp>
        <ns0:nvSpPr>
          <ns0:cNvPr id="301" name="RQ301"/>
          <ns0:cNvSpPr>
            <ns1:spLocks noGrp="1"/>
          </ns0:cNvSpPr>
          <ns0:nvPr/>
        </ns0:nvSpPr>
        <ns0:spPr>
          <ns1:xfrm>
            <ns1:off x="2717592" y="4136515"/>
            <ns1:ext cx="9414407" cy="120000"/>
          </ns1:xfrm>
          <ns1:prstGeom prst="rect">
            <ns1:avLst/>
          </ns1:prstGeom>
          <ns1:noFill/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1000">
                <ns1:solidFill>
                  <ns1:srgbClr val="999999"/>
                </ns1:solidFill>
                <ns1:latin typeface="Pretendard"/>
                <ns1:ea typeface="Pretendard"/>
                <ns1:cs typeface="Pretendard"/>
              </ns1:rPr>
              <ns1:t>분기별 실행 계획</ns1:t>
            </ns1:r>
          </ns1:p>
        </ns0:txBody>
      </ns0:sp>
      <ns0:sp>
        <ns0:nvSpPr>
          <ns0:cNvPr id="302" name="RD302"/>
          <ns0:cNvSpPr>
            <ns1:spLocks noGrp="1"/>
          </ns0:cNvSpPr>
          <ns0:nvPr/>
        </ns0:nvSpPr>
        <ns0:spPr>
          <ns1:xfrm>
            <ns1:off x="2717592" y="1499874"/>
            <ns1:ext cx="2120346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Q1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3" name="RQ303"/>
          <ns0:cNvSpPr>
            <ns1:spLocks noGrp="1"/>
          </ns0:cNvSpPr>
          <ns0:nvPr/>
        </ns0:nvSpPr>
        <ns0:spPr>
          <ns1:xfrm>
            <ns1:off x="2717592" y="4547664"/>
            <ns1:ext cx="2120346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3C41E6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4" name="RQ304"/>
          <ns0:cNvSpPr>
            <ns1:spLocks noGrp="1"/>
          </ns0:cNvSpPr>
          <ns0:nvPr/>
        </ns0:nvSpPr>
        <ns0:spPr>
          <ns1:xfrm>
            <ns1:off x="2717592" y="5187664"/>
            <ns1:ext cx="1040173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5" name="RQ305"/>
          <ns0:cNvSpPr>
            <ns1:spLocks noGrp="1"/>
          </ns0:cNvSpPr>
          <ns0:nvPr/>
        </ns0:nvSpPr>
        <ns0:spPr>
          <ns1:xfrm>
            <ns1:off x="3797765" y="5187664"/>
            <ns1:ext cx="1040173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6" name="RD306"/>
          <ns0:cNvSpPr>
            <ns1:spLocks noGrp="1"/>
          </ns0:cNvSpPr>
          <ns0:nvPr/>
        </ns0:nvSpPr>
        <ns0:spPr>
          <ns1:xfrm>
            <ns1:off x="4957938" y="1499874"/>
            <ns1:ext cx="237578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Q2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7" name="RQ307"/>
          <ns0:cNvSpPr>
            <ns1:spLocks noGrp="1"/>
          </ns0:cNvSpPr>
          <ns0:nvPr/>
        </ns0:nvSpPr>
        <ns0:spPr>
          <ns1:xfrm>
            <ns1:off x="4957938" y="4547664"/>
            <ns1:ext cx="237578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2D30B8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8" name="RQ308"/>
          <ns0:cNvSpPr>
            <ns1:spLocks noGrp="1"/>
          </ns0:cNvSpPr>
          <ns0:nvPr/>
        </ns0:nvSpPr>
        <ns0:spPr>
          <ns1:xfrm>
            <ns1:off x="4957938" y="5187664"/>
            <ns1:ext cx="1167891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9" name="RQ309"/>
          <ns0:cNvSpPr>
            <ns1:spLocks noGrp="1"/>
          </ns0:cNvSpPr>
          <ns0:nvPr/>
        </ns0:nvSpPr>
        <ns0:spPr>
          <ns1:xfrm>
            <ns1:off x="6165829" y="5187664"/>
            <ns1:ext cx="1167891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0" name="RD310"/>
          <ns0:cNvSpPr>
            <ns1:spLocks noGrp="1"/>
          </ns0:cNvSpPr>
          <ns0:nvPr/>
        </ns0:nvSpPr>
        <ns0:spPr>
          <ns1:xfrm>
            <ns1:off x="7453720" y="1499874"/>
            <ns1:ext cx="2182497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Q3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1" name="RQ311"/>
          <ns0:cNvSpPr>
            <ns1:spLocks noGrp="1"/>
          </ns0:cNvSpPr>
          <ns0:nvPr/>
        </ns0:nvSpPr>
        <ns0:spPr>
          <ns1:xfrm>
            <ns1:off x="7453720" y="4547664"/>
            <ns1:ext cx="2182497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E2490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2" name="RQ312"/>
          <ns0:cNvSpPr>
            <ns1:spLocks noGrp="1"/>
          </ns0:cNvSpPr>
          <ns0:nvPr/>
        </ns0:nvSpPr>
        <ns0:spPr>
          <ns1:xfrm>
            <ns1:off x="7453720" y="5187664"/>
            <ns1:ext cx="1071248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3" name="RQ313"/>
          <ns0:cNvSpPr>
            <ns1:spLocks noGrp="1"/>
          </ns0:cNvSpPr>
          <ns0:nvPr/>
        </ns0:nvSpPr>
        <ns0:spPr>
          <ns1:xfrm>
            <ns1:off x="8564968" y="5187664"/>
            <ns1:ext cx="1071248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4" name="RD314"/>
          <ns0:cNvSpPr>
            <ns1:spLocks noGrp="1"/>
          </ns0:cNvSpPr>
          <ns0:nvPr/>
        </ns0:nvSpPr>
        <ns0:spPr>
          <ns1:xfrm>
            <ns1:off x="9756217" y="1499874"/>
            <ns1:ext cx="237578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Q4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5" name="RQ315"/>
          <ns0:cNvSpPr>
            <ns1:spLocks noGrp="1"/>
          </ns0:cNvSpPr>
          <ns0:nvPr/>
        </ns0:nvSpPr>
        <ns0:spPr>
          <ns1:xfrm>
            <ns1:off x="9756217" y="4547664"/>
            <ns1:ext cx="237578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419AB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6" name="RQ316"/>
          <ns0:cNvSpPr>
            <ns1:spLocks noGrp="1"/>
          </ns0:cNvSpPr>
          <ns0:nvPr/>
        </ns0:nvSpPr>
        <ns0:spPr>
          <ns1:xfrm>
            <ns1:off x="9756217" y="5187664"/>
            <ns1:ext cx="1167891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7" name="RQ317"/>
          <ns0:cNvSpPr>
            <ns1:spLocks noGrp="1"/>
          </ns0:cNvSpPr>
          <ns0:nvPr/>
        </ns0:nvSpPr>
        <ns0:spPr>
          <ns1:xfrm>
            <ns1:off x="10964108" y="5187664"/>
            <ns1:ext cx="1167891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</ns0:spTree>
    <ns0:extLst>
      <ns0:ext uri="{BB962C8B-B14F-4D97-AF65-F5344CB8AC3E}">
        <ns2:creationId val="3958239633"/>
      </ns0:ext>
    </ns0:extLst>
  </ns0:cSld>
  <ns0:clrMapOvr>
    <ns1:masterClrMapping/>
  </ns0:clrMapOvr>
</ns0:sld>
</file>

<file path=ppt/slides/slide33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>09 성과 KPI</ns1:t>
            </ns1:r>
            <ns1:endParaRPr lang="ko-KR" altLang="en-US" dirty="0"/>
          </ns1:p>
        </ns0:txBody>
      </ns0:sp>
      <ns0:sp>
        <ns0:nvSpPr>
          <ns0:cNvPr id="25" name="Text 1"/>
          <ns0:cNvSpPr/>
          <ns0:nvPr/>
        </ns0:nvSpPr>
        <ns0:spPr>
          <ns1:xfrm>
            <ns1:off x="395032" y="780494"/>
            <ns1:ext cx="2200409" cy="76894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26" name="Text 1"/>
          <ns0:cNvSpPr/>
          <ns0:nvPr/>
        </ns0:nvSpPr>
        <ns0:spPr>
          <ns1:xfrm>
            <ns1:off x="2676575" y="1024560"/>
            <ns1:ext cx="8870845" cy="311240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-23077" y="1619072"/>
            <ns1:ext cx="1221507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3" name="직사각형 32"/>
          <ns0:cNvSpPr/>
          <ns0:nvPr/>
        </ns0:nvSpPr>
        <ns0:spPr>
          <ns1:xfrm>
            <ns1:off x="9184568" y="1676777"/>
            <ns1:ext cx="3007432" cy="5181223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34" name="직사각형 33"/>
          <ns0:cNvSpPr/>
          <ns0:nvPr/>
        </ns0:nvSpPr>
        <ns0:spPr>
          <ns1:xfrm>
            <ns1:off x="3077029" y="1676777"/>
            <ns1:ext cx="3007432" cy="5181223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35" name="직사각형 34"/>
          <ns0:cNvSpPr/>
          <ns0:nvPr/>
        </ns0:nvSpPr>
        <ns0:spPr>
          <ns1:xfrm>
            <ns1:off x="1026590" y="1782671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B0B2E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Q1</ns1:t>
            </ns1:r>
            <ns1:endParaRPr lang="en-US" altLang="ko-KR" sz="1600" dirty="0">
              <ns1:solidFill>
                <ns1:srgbClr val="B0B2E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6" name="직사각형 35"/>
          <ns0:cNvSpPr/>
          <ns0:nvPr/>
        </ns0:nvSpPr>
        <ns0:spPr>
          <ns1:xfrm>
            <ns1:off x="4154807" y="1746410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7377D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Q2</ns1:t>
            </ns1:r>
            <ns1:endParaRPr lang="en-US" altLang="ko-KR" sz="1600" dirty="0">
              <ns1:solidFill>
                <ns1:srgbClr val="7377D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7" name="직사각형 36"/>
          <ns0:cNvSpPr/>
          <ns0:nvPr/>
        </ns0:nvSpPr>
        <ns0:spPr>
          <ns1:xfrm>
            <ns1:off x="7328742" y="1743824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363AB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Q3</ns1:t>
            </ns1:r>
            <ns1:endParaRPr lang="en-US" altLang="ko-KR" sz="1600" dirty="0">
              <ns1:solidFill>
                <ns1:srgbClr val="363AB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8" name="직사각형 37"/>
          <ns0:cNvSpPr/>
          <ns0:nvPr/>
        </ns0:nvSpPr>
        <ns0:spPr>
          <ns1:xfrm>
            <ns1:off x="10370953" y="1719726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Q4</ns1:t>
            </ns1:r>
            <ns1:endParaRPr lang="en-US" altLang="ko-KR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9" name="이등변 삼각형 38"/>
          <ns0:cNvSpPr/>
          <ns0:nvPr/>
        </ns0:nvSpPr>
        <ns0:spPr>
          <ns1:xfrm rot="5400000">
            <ns1:off x="3002333" y="1894329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0" name="이등변 삼각형 39"/>
          <ns0:cNvSpPr/>
          <ns0:nvPr/>
        </ns0:nvSpPr>
        <ns0:spPr>
          <ns1:xfrm rot="5400000">
            <ns1:off x="6009765" y="186479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2E2E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1" name="이등변 삼각형 40"/>
          <ns0:cNvSpPr/>
          <ns0:nvPr/>
        </ns0:nvSpPr>
        <ns0:spPr>
          <ns1:xfrm rot="5400000">
            <ns1:off x="9075094" y="1857367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00" name="RQ300"/>
          <ns0:cNvSpPr>
            <ns1:spLocks noGrp="1"/>
          </ns0:cNvSpPr>
          <ns0:nvPr/>
        </ns0:nvSpPr>
        <ns0:spPr>
          <ns1:xfrm>
            <ns1:off x="60000" y="4850641"/>
            <ns1:ext cx="12072000" cy="6000"/>
          </ns1:xfrm>
          <ns1:prstGeom prst="rect">
            <ns1:avLst/>
          </ns1:prstGeom>
          <ns1:solidFill>
            <ns1:srgbClr val="CCCCCC"/>
          </ns1:solidFill>
        </ns0:spPr>
      </ns0:sp>
      <ns0:sp>
        <ns0:nvSpPr>
          <ns0:cNvPr id="301" name="RQ301"/>
          <ns0:cNvSpPr>
            <ns1:spLocks noGrp="1"/>
          </ns0:cNvSpPr>
          <ns0:nvPr/>
        </ns0:nvSpPr>
        <ns0:spPr>
          <ns1:xfrm>
            <ns1:off x="60000" y="4886641"/>
            <ns1:ext cx="12072000" cy="120000"/>
          </ns1:xfrm>
          <ns1:prstGeom prst="rect">
            <ns1:avLst/>
          </ns1:prstGeom>
          <ns1:noFill/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1000">
                <ns1:solidFill>
                  <ns1:srgbClr val="999999"/>
                </ns1:solidFill>
                <ns1:latin typeface="Pretendard"/>
                <ns1:ea typeface="Pretendard"/>
                <ns1:cs typeface="Pretendard"/>
              </ns1:rPr>
              <ns1:t>분기별 실행 계획</ns1:t>
            </ns1:r>
          </ns1:p>
        </ns0:txBody>
      </ns0:sp>
      <ns0:sp>
        <ns0:nvSpPr>
          <ns0:cNvPr id="302" name="RD302"/>
          <ns0:cNvSpPr>
            <ns1:spLocks noGrp="1"/>
          </ns0:cNvSpPr>
          <ns0:nvPr/>
        </ns0:nvSpPr>
        <ns0:spPr>
          <ns1:xfrm>
            <ns1:off x="60000" y="2250000"/>
            <ns1:ext cx="2957029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Q1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3" name="RQ303"/>
          <ns0:cNvSpPr>
            <ns1:spLocks noGrp="1"/>
          </ns0:cNvSpPr>
          <ns0:nvPr/>
        </ns0:nvSpPr>
        <ns0:spPr>
          <ns1:xfrm>
            <ns1:off x="60000" y="5297790"/>
            <ns1:ext cx="2957029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3C41E6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4" name="RQ304"/>
          <ns0:cNvSpPr>
            <ns1:spLocks noGrp="1"/>
          </ns0:cNvSpPr>
          <ns0:nvPr/>
        </ns0:nvSpPr>
        <ns0:spPr>
          <ns1:xfrm>
            <ns1:off x="60000" y="5937790"/>
            <ns1:ext cx="1458514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5" name="RQ305"/>
          <ns0:cNvSpPr>
            <ns1:spLocks noGrp="1"/>
          </ns0:cNvSpPr>
          <ns0:nvPr/>
        </ns0:nvSpPr>
        <ns0:spPr>
          <ns1:xfrm>
            <ns1:off x="1558514" y="5937790"/>
            <ns1:ext cx="1458514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6" name="RD306"/>
          <ns0:cNvSpPr>
            <ns1:spLocks noGrp="1"/>
          </ns0:cNvSpPr>
          <ns0:nvPr/>
        </ns0:nvSpPr>
        <ns0:spPr>
          <ns1:xfrm>
            <ns1:off x="3137029" y="2250000"/>
            <ns1:ext cx="288743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Q2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7" name="RQ307"/>
          <ns0:cNvSpPr>
            <ns1:spLocks noGrp="1"/>
          </ns0:cNvSpPr>
          <ns0:nvPr/>
        </ns0:nvSpPr>
        <ns0:spPr>
          <ns1:xfrm>
            <ns1:off x="3137029" y="5297790"/>
            <ns1:ext cx="288743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2D30B8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8" name="RQ308"/>
          <ns0:cNvSpPr>
            <ns1:spLocks noGrp="1"/>
          </ns0:cNvSpPr>
          <ns0:nvPr/>
        </ns0:nvSpPr>
        <ns0:spPr>
          <ns1:xfrm>
            <ns1:off x="3137029" y="5937790"/>
            <ns1:ext cx="1423716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9" name="RQ309"/>
          <ns0:cNvSpPr>
            <ns1:spLocks noGrp="1"/>
          </ns0:cNvSpPr>
          <ns0:nvPr/>
        </ns0:nvSpPr>
        <ns0:spPr>
          <ns1:xfrm>
            <ns1:off x="4600745" y="5937790"/>
            <ns1:ext cx="1423716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0" name="RD310"/>
          <ns0:cNvSpPr>
            <ns1:spLocks noGrp="1"/>
          </ns0:cNvSpPr>
          <ns0:nvPr/>
        </ns0:nvSpPr>
        <ns0:spPr>
          <ns1:xfrm>
            <ns1:off x="6144461" y="2250000"/>
            <ns1:ext cx="2980107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Q3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1" name="RQ311"/>
          <ns0:cNvSpPr>
            <ns1:spLocks noGrp="1"/>
          </ns0:cNvSpPr>
          <ns0:nvPr/>
        </ns0:nvSpPr>
        <ns0:spPr>
          <ns1:xfrm>
            <ns1:off x="6144461" y="5297790"/>
            <ns1:ext cx="2980107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E2490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2" name="RQ312"/>
          <ns0:cNvSpPr>
            <ns1:spLocks noGrp="1"/>
          </ns0:cNvSpPr>
          <ns0:nvPr/>
        </ns0:nvSpPr>
        <ns0:spPr>
          <ns1:xfrm>
            <ns1:off x="6144461" y="5937790"/>
            <ns1:ext cx="1470053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3" name="RQ313"/>
          <ns0:cNvSpPr>
            <ns1:spLocks noGrp="1"/>
          </ns0:cNvSpPr>
          <ns0:nvPr/>
        </ns0:nvSpPr>
        <ns0:spPr>
          <ns1:xfrm>
            <ns1:off x="7654514" y="5937790"/>
            <ns1:ext cx="1470053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4" name="RD314"/>
          <ns0:cNvSpPr>
            <ns1:spLocks noGrp="1"/>
          </ns0:cNvSpPr>
          <ns0:nvPr/>
        </ns0:nvSpPr>
        <ns0:spPr>
          <ns1:xfrm>
            <ns1:off x="9244568" y="2250000"/>
            <ns1:ext cx="288743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Q4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5" name="RQ315"/>
          <ns0:cNvSpPr>
            <ns1:spLocks noGrp="1"/>
          </ns0:cNvSpPr>
          <ns0:nvPr/>
        </ns0:nvSpPr>
        <ns0:spPr>
          <ns1:xfrm>
            <ns1:off x="9244568" y="5297790"/>
            <ns1:ext cx="288743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419AB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6" name="RQ316"/>
          <ns0:cNvSpPr>
            <ns1:spLocks noGrp="1"/>
          </ns0:cNvSpPr>
          <ns0:nvPr/>
        </ns0:nvSpPr>
        <ns0:spPr>
          <ns1:xfrm>
            <ns1:off x="9244568" y="5937790"/>
            <ns1:ext cx="1423716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7" name="RQ317"/>
          <ns0:cNvSpPr>
            <ns1:spLocks noGrp="1"/>
          </ns0:cNvSpPr>
          <ns0:nvPr/>
        </ns0:nvSpPr>
        <ns0:spPr>
          <ns1:xfrm>
            <ns1:off x="10708284" y="5937790"/>
            <ns1:ext cx="1423716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</ns0:spTree>
    <ns0:extLst>
      <ns0:ext uri="{BB962C8B-B14F-4D97-AF65-F5344CB8AC3E}">
        <ns2:creationId val="863509477"/>
      </ns0:ext>
    </ns0:extLst>
  </ns0:cSld>
  <ns0:clrMapOvr>
    <ns1:masterClrMapping/>
  </ns0:clrMapOvr>
</ns0:sld>
</file>

<file path=ppt/slides/slide35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drawing/2010/main" xmlns:ns4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6" name="직사각형 35"/>
          <ns0:cNvSpPr/>
          <ns0:nvPr/>
        </ns0:nvSpPr>
        <ns0:spPr>
          <ns1:xfrm>
            <ns1:off x="5943887" y="1619852"/>
            <ns1:ext cx="6248113" cy="5245768"/>
          </ns1:xfrm>
          <ns1:prstGeom prst="rect">
            <ns1:avLst/>
          </ns1:prstGeom>
          <ns1:solidFill>
            <ns1:srgbClr val="0C0E68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>08 도입 효과</ns1:t>
            </ns1:r>
            <ns1:endParaRPr lang="ko-KR" altLang="en-US" dirty="0"/>
          </ns1:p>
        </ns0:txBody>
      </ns0:sp>
      <ns0:sp>
        <ns0:nvSpPr>
          <ns0:cNvPr id="22" name="Text 1"/>
          <ns0:cNvSpPr/>
          <ns0:nvPr/>
        </ns0:nvSpPr>
        <ns0:spPr>
          <ns1:xfrm>
            <ns1:off x="395032" y="780494"/>
            <ns1:ext cx="2200409" cy="67677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12" name="Text 1"/>
          <ns0:cNvSpPr/>
          <ns0:nvPr/>
        </ns0:nvSpPr>
        <ns0:spPr>
          <ns1:xfrm>
            <ns1:off x="2676575" y="719331"/>
            <ns1:ext cx="8870845" cy="737936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</ns0:txBody>
      </ns0:sp>
      <ns0:sp>
        <ns0:nvSpPr>
          <ns0:cNvPr id="16" name="타원 15"/>
          <ns0:cNvSpPr/>
          <ns0:nvPr/>
        </ns0:nvSpPr>
        <ns0:spPr>
          <ns1:xfrm>
            <ns1:off x="2232968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수동 배포(주1회)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7" name="타원 16"/>
          <ns0:cNvSpPr/>
          <ns0:nvPr/>
        </ns0:nvSpPr>
        <ns0:spPr>
          <ns1:xfrm>
            <ns1:off x="395032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룰 기반 의사결정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0" name="이등변 삼각형 29"/>
          <ns0:cNvSpPr/>
          <ns0:nvPr/>
        </ns0:nvSpPr>
        <ns0:spPr>
          <ns1:xfrm rot="5400000">
            <ns1:off x="5416831" y="3868601"/>
            <ns1:ext cx="539747" cy="185573"/>
          </ns1:xfrm>
          <ns1:prstGeom prst="triangle">
            <ns1:avLst/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grpSp>
        <ns0:nvGrpSpPr>
          <ns0:cNvPr id="10" name="그룹 9"/>
          <ns0:cNvGrpSpPr/>
          <ns0:nvPr/>
        </ns0:nvGrpSpPr>
        <ns0:grpSpPr>
          <ns1:xfrm>
            <ns1:off x="6733891" y="2094237"/>
            <ns1:ext cx="4813529" cy="4274047"/>
            <ns1:chOff x="6400019" y="2012761"/>
            <ns1:chExt cx="4813529" cy="4274047"/>
          </ns1:xfrm>
        </ns0:grpSpPr>
        <ns0:sp>
          <ns0:nvSpPr>
            <ns0:cNvPr id="13" name="타원 12"/>
            <ns0:cNvSpPr/>
            <ns0:nvPr/>
          </ns0:nvSpPr>
          <ns0:spPr>
            <ns1:xfrm>
              <ns1:off x="6400019" y="4384014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6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실시간 처리(&lt;100ms)</ns1:t>
              </ns1:r>
            </ns1:p>
          </ns0:txBody>
        </ns0:sp>
        <ns0:sp>
          <ns0:nvSpPr>
            <ns0:cNvPr id="18" name="타원 17"/>
            <ns0:cNvSpPr/>
            <ns0:nvPr/>
          </ns0:nvSpPr>
          <ns0:spPr>
            <ns1:xfrm>
              <ns1:off x="7822856" y="2012761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6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ML 기반 예측(정확도 92%)</ns1:t>
              </ns1:r>
              <ns1:endParaRPr lang="en-US" altLang="ko-KR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  <ns1:p>
              <ns1:pPr algn="ctr"/>
              <ns1:endParaRPr lang="ko-KR" altLang="en-US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  <ns0:sp>
          <ns0:nvSpPr>
            <ns0:cNvPr id="19" name="타원 18"/>
            <ns0:cNvSpPr/>
            <ns0:nvPr/>
          </ns0:nvSpPr>
          <ns0:spPr>
            <ns1:xfrm>
              <ns1:off x="9310754" y="4384014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6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운영 비용 40% 절감</ns1:t>
              </ns1:r>
              <ns1:endParaRPr lang="ko-KR" altLang="en-US" sz="1600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  <ns0:grpSp>
          <ns0:nvGrpSpPr>
            <ns0:cNvPr id="4" name="그룹 3"/>
            <ns0:cNvGrpSpPr/>
            <ns0:nvPr/>
          </ns0:nvGrpSpPr>
          <ns0:grpSpPr>
            <ns1:xfrm>
              <ns1:off x="7599899" y="3320870"/>
              <ns1:ext cx="2385246" cy="2385246"/>
              <ns1:chOff x="7673255" y="3218962"/>
              <ns1:chExt cx="2565890" cy="2565890"/>
            </ns1:xfrm>
          </ns0:grpSpPr>
          <ns0:sp>
            <ns0:nvSpPr>
              <ns0:cNvPr id="23" name="타원 22"/>
              <ns0:cNvSpPr/>
              <ns0:nvPr/>
            </ns0:nvSpPr>
            <ns0:spPr>
              <ns1:xfrm>
                <ns1:off x="7673255" y="3218962"/>
                <ns1:ext cx="2565890" cy="2565890"/>
              </ns1:xfrm>
              <ns1:prstGeom prst="ellipse">
                <ns1:avLst/>
              </ns1:prstGeom>
              <ns1:solidFill>
                <ns1:srgbClr val="999DFF">
                  <ns1:alpha val="50000"/>
                </ns1:srgbClr>
              </ns1:solidFill>
              <ns1:ln w="19050">
                <ns1:noFill/>
                <ns1:prstDash val="sysDash"/>
              </ns1:ln>
            </ns0:spPr>
            <ns0:style>
              <ns1:lnRef idx="2">
                <ns1:schemeClr val="accent1">
                  <ns1:shade val="50000"/>
                </ns1:schemeClr>
              </ns1:lnRef>
              <ns1:fillRef idx="1">
                <ns1:schemeClr val="accent1"/>
              </ns1:fillRef>
              <ns1:effectRef idx="0">
                <ns1:schemeClr val="accent1"/>
              </ns1:effectRef>
              <ns1:fontRef idx="minor">
                <ns1:schemeClr val="lt1"/>
              </ns1:fontRef>
            </ns0:style>
            <ns0:txBody>
              <ns1:bodyPr rtlCol="0" anchor="ctr"/>
              <ns1:lstStyle/>
              <ns1:p>
                <ns1:pPr algn="ctr"/>
                <ns1:endParaRPr lang="ko-KR" altLang="en-US" dirty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endParaRPr>
              </ns1:p>
            </ns0:txBody>
          </ns0:sp>
          <ns0:sp>
            <ns0:nvSpPr>
              <ns0:cNvPr id="21" name="타원 20"/>
              <ns0:cNvSpPr/>
              <ns0:nvPr/>
            </ns0:nvSpPr>
            <ns0:spPr>
              <ns1:xfrm>
                <ns1:off x="7932750" y="3478457"/>
                <ns1:ext cx="2046900" cy="2046900"/>
              </ns1:xfrm>
              <ns1:prstGeom prst="ellipse">
                <ns1:avLst/>
              </ns1:prstGeom>
              <ns1:solidFill>
                <ns1:srgbClr val="3C41E6"/>
              </ns1:solidFill>
              <ns1:ln w="19050">
                <ns1:solidFill>
                  <ns1:srgbClr val="999DFF"/>
                </ns1:solidFill>
                <ns1:prstDash val="sysDash"/>
              </ns1:ln>
            </ns0:spPr>
            <ns0:style>
              <ns1:lnRef idx="2">
                <ns1:schemeClr val="accent1">
                  <ns1:shade val="50000"/>
                </ns1:schemeClr>
              </ns1:lnRef>
              <ns1:fillRef idx="1">
                <ns1:schemeClr val="accent1"/>
              </ns1:fillRef>
              <ns1:effectRef idx="0">
                <ns1:schemeClr val="accent1"/>
              </ns1:effectRef>
              <ns1:fontRef idx="minor">
                <ns1:schemeClr val="lt1"/>
              </ns1:fontRef>
            </ns0:style>
            <ns0:txBody>
              <ns1:bodyPr rtlCol="0" anchor="ctr"/>
              <ns1:lstStyle/>
              <ns1:p>
                <ns1:pPr algn="ctr"/>
                <ns1:r>
                  <ns1:rPr lang="ko-KR" altLang="ko-KR" dirty="0" smtClean="0">
                    <ns1:solidFill>
                      <ns1:schemeClr val="bg1"/>
                    </ns1:solidFill>
                    <ns1:latin typeface="Pretendard SemiBold" panose="02000703000000020004" pitchFamily="2" charset="-127"/>
                    <ns1:ea typeface="Pretendard SemiBold" panose="02000703000000020004" pitchFamily="2" charset="-127"/>
                    <ns1:cs typeface="Pretendard SemiBold" panose="02000703000000020004" pitchFamily="2" charset="-127"/>
                  </ns1:rPr>
                  <ns1:t>자동 배포(일 3회)</ns1:t>
                </ns1:r>
                <ns1:endParaRPr lang="ko-KR" altLang="en-US" dirty="0">
                  <ns1:solidFill>
                    <ns1:schemeClr val="bg1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endParaRPr>
              </ns1:p>
            </ns0:txBody>
          </ns0:sp>
        </ns0:grpSp>
        <ns0:pic>
          <ns0:nvPicPr>
            <ns0:cNvPr id="7" name="그림 6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20321414">
              <ns1:off x="7098002" y="3571500"/>
              <ns1:ext cx="820397" cy="745815"/>
            </ns1:xfrm>
            <ns1:prstGeom prst="rect">
              <ns1:avLst/>
            </ns1:prstGeom>
          </ns0:spPr>
        </ns0:pic>
        <ns0:pic>
          <ns0:nvPicPr>
            <ns0:cNvPr id="31" name="그림 30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6614646">
              <ns1:off x="9556678" y="3467740"/>
              <ns1:ext cx="820397" cy="745815"/>
            </ns1:xfrm>
            <ns1:prstGeom prst="rect">
              <ns1:avLst/>
            </ns1:prstGeom>
          </ns0:spPr>
        </ns0:pic>
        <ns0:pic>
          <ns0:nvPicPr>
            <ns0:cNvPr id="32" name="그림 31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13569304">
              <ns1:off x="8438923" y="5495793"/>
              <ns1:ext cx="820397" cy="745815"/>
            </ns1:xfrm>
            <ns1:prstGeom prst="rect">
              <ns1:avLst/>
            </ns1:prstGeom>
          </ns0:spPr>
        </ns0:pic>
      </ns0:grpSp>
      <ns0:sp>
        <ns0:nvSpPr>
          <ns0:cNvPr id="35" name="타원 34"/>
          <ns0:cNvSpPr/>
          <ns0:nvPr/>
        </ns0:nvSpPr>
        <ns0:spPr>
          <ns1:xfrm>
            <ns1:off x="4070904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배치 처리(T+1)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7" name="이등변 삼각형 36"/>
          <ns0:cNvSpPr/>
          <ns0:nvPr/>
        </ns0:nvSpPr>
        <ns0:spPr>
          <ns1:xfrm rot="5400000">
            <ns1:off x="5754266" y="3926764"/>
            <ns1:ext cx="539747" cy="185573"/>
          </ns1:xfrm>
          <ns1:prstGeom prst="triangle">
            <ns1:avLst/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8" name="Text 1"/>
          <ns0:cNvSpPr/>
          <ns0:nvPr/>
        </ns0:nvSpPr>
        <ns0:spPr>
          <ns1:xfrm>
            <ns1:off x="6314550" y="1838583"/>
            <ns1:ext cx="838682" cy="31460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400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After</ns1:t>
            </ns1:r>
            <ns1:endParaRPr lang="en-US" altLang="ko-KR" sz="1400" dirty="0">
              <ns1:solidFill>
                <ns1:schemeClr val="bg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9" name="Text 1"/>
          <ns0:cNvSpPr/>
          <ns0:nvPr/>
        </ns0:nvSpPr>
        <ns0:spPr>
          <ns1:xfrm>
            <ns1:off x="4940809" y="1838583"/>
            <ns1:ext cx="838682" cy="31460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/>
            <ns1:r>
              <ns1:rPr lang="ko-KR" altLang="ko-KR" sz="1400" dirty="0" smtClean="0">
                <ns1:solidFill>
                  <ns1:srgbClr val="0C0E68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Before</ns1:t>
            </ns1:r>
            <ns1:endParaRPr lang="en-US" altLang="ko-KR" sz="1400" dirty="0">
              <ns1:solidFill>
                <ns1:srgbClr val="0C0E68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4:creationId val="525052166"/>
      </ns0:ext>
    </ns0:extLst>
  </ns0:cSld>
  <ns0:clrMapOvr>
    <ns1:masterClrMapping/>
  </ns0:clrMapOvr>
</ns0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3311" y="2311400"/>
            <a:ext cx="1598632" cy="26749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661461" y="3324430"/>
            <a:ext cx="2821971" cy="257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dirty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Drive Neo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311" y="2943548"/>
            <a:ext cx="7532191" cy="10188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ko-KR" altLang="en-US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감사합니다</a:t>
            </a:r>
            <a:r>
              <a:rPr lang="en-US" altLang="ko-KR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altLang="ko-KR" sz="66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57807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1760</TotalTime>
  <Words>3905</Words>
  <Application>Microsoft Office PowerPoint</Application>
  <PresentationFormat>와이드스크린</PresentationFormat>
  <Paragraphs>667</Paragraphs>
  <Slides>46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46</vt:i4>
      </vt:variant>
    </vt:vector>
  </HeadingPairs>
  <TitlesOfParts>
    <vt:vector size="60" baseType="lpstr">
      <vt:lpstr>Pretendard</vt:lpstr>
      <vt:lpstr>Pretendard ExtraBold</vt:lpstr>
      <vt:lpstr>Pretendard Light</vt:lpstr>
      <vt:lpstr>Pretendard Medium</vt:lpstr>
      <vt:lpstr>Pretendard SemiBold</vt:lpstr>
      <vt:lpstr>맑은 고딕</vt:lpstr>
      <vt:lpstr>맑은 고딕</vt:lpstr>
      <vt:lpstr>프리젠테이션 4 Regular</vt:lpstr>
      <vt:lpstr>프리젠테이션 5 Medium</vt:lpstr>
      <vt:lpstr>프리젠테이션 7 Bold</vt:lpstr>
      <vt:lpstr>Arial</vt:lpstr>
      <vt:lpstr>Wingdings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 발표 제목을 작성해주세요</vt:lpstr>
      <vt:lpstr>발표 제목을 작성해주세요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gsin</dc:creator>
  <cp:lastModifiedBy>gsin</cp:lastModifiedBy>
  <cp:revision>112</cp:revision>
  <dcterms:created xsi:type="dcterms:W3CDTF">2026-04-14T08:20:41Z</dcterms:created>
  <dcterms:modified xsi:type="dcterms:W3CDTF">2026-05-26T07:20:56Z</dcterms:modified>
</cp:coreProperties>
</file>