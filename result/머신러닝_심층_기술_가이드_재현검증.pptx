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56" r:id="rId8"/>
    <p:sldId id="257" r:id="rId9"/>
    <p:sldId id="293" r:id="rId17"/>
    <p:sldId id="260" r:id="rId31"/>
    <p:sldId id="283" r:id="rId11"/>
    <p:sldId id="292" r:id="rId18"/>
    <p:sldId id="291" r:id="rId12"/>
    <p:sldId id="302" r:id="rId33"/>
    <p:sldId id="282" r:id="rId13"/>
    <p:sldId id="295" r:id="rId37"/>
    <p:sldId id="309" r:id="rId35"/>
    <p:sldId id="294" r:id="rId26"/>
    <p:sldId id="290" r:id="rId14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  <p14:sldId id="295"/>
            <p14:sldId id="298"/>
            <p14:sldId id="304"/>
            <p14:sldId id="308"/>
            <p14:sldId id="297"/>
            <p14:sldId id="269"/>
            <p14:sldId id="272"/>
            <p14:sldId id="286"/>
            <p14:sldId id="287"/>
            <p14:sldId id="301"/>
            <p14:sldId id="262"/>
            <p14:sldId id="263"/>
            <p14:sldId id="307"/>
            <p14:sldId id="305"/>
            <p14:sldId id="260"/>
            <p14:sldId id="276"/>
            <p14:sldId id="302"/>
            <p14:sldId id="317"/>
            <p14:sldId id="309"/>
            <p14:sldId id="277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50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1" Type="http://schemas.openxmlformats.org/officeDocument/2006/relationships/slide" Target="slides/slide9.xml"/><Relationship Id="rId37" Type="http://schemas.openxmlformats.org/officeDocument/2006/relationships/slide" Target="slides/slide35.xml"/><Relationship Id="rId49" Type="http://schemas.openxmlformats.org/officeDocument/2006/relationships/presProps" Target="presProps.xml"/><Relationship Id="rId31" Type="http://schemas.openxmlformats.org/officeDocument/2006/relationships/slide" Target="slides/slide29.xml"/><Relationship Id="rId52" Type="http://schemas.openxmlformats.org/officeDocument/2006/relationships/tableStyles" Target="tableStyles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1" Type="http://schemas.openxmlformats.org/officeDocument/2006/relationships/slideMaster" Target="slideMasters/slideMaster1.xml"/></Relationship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 xml:space="preserve"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 xml:space="preserve"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GS Neotek ML 서비스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9501278" y="200577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9501278" y="2680450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9501278" y="3355124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9501278" y="4029798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9501278" y="4704472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501278" y="537914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9501278" y="6053819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03 데이터 파이프라인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2.1. ML 데이터 파이프라인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고품질 학습 데이터 확보를 위한 3단계 처리 체계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Kafka·Spark 기반 실시간 스트림 수집. Feature Store 중앙화 관리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데이터 수집·통합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결측치 처리·스케일링·임베딩. DVC·MLflow 버전 추적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전처리·피처 엔지니어링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Great Expectations 검증. 데이터 품질 대시보드 운영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품질 검증·버전관리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Kafka→Spark→Feature Store 데이터 수집 아키텍처]</ns1:t>
            </ns1:r>
            <ns1:endParaRPr lang="ko-KR" sz="1100" dirty="0"/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Great Expectations 데이터 품질 검증 대시보드]</ns1:t>
            </ns1:r>
            <ns1:endParaRPr lang="ko-KR" sz="1100" dirty="0"/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피처 엔지니어링 파이프라인 흐름도]</ns1:t>
            </ns1:r>
            <ns1:endParaRPr lang="ko-KR" sz="1100" dirty="0"/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cxnSp>
        <ns0:nvCxnSpPr>
          <ns0:cNvPr id="25" name="직선 연결선 24"/>
          <ns0:cNvCxnSpPr/>
          <ns0:nvPr/>
        </ns0:nvCxnSpPr>
        <ns0:spPr>
          <ns1:xfrm>
            <ns1:off x="5808610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1" name="직선 연결선 30"/>
          <ns0:cNvCxnSpPr/>
          <ns0:nvPr/>
        </ns0:nvCxnSpPr>
        <ns0:spPr>
          <ns1:xfrm>
            <ns1:off x="9021779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41" name="그룹 40"/>
          <ns0:cNvGrpSpPr/>
          <ns0:nvPr/>
        </ns0:nvGrpSpPr>
        <ns0:grpSpPr>
          <ns1:xfrm>
            <ns1:off x="5912288" y="4418753"/>
            <ns1:ext cx="3029540" cy="1241820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동적 그래프·디버깅 용이. 연구·실험 최적화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PyTorch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05 프레임워크 선택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2.3. 프레임워크 비교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PyTorch·TensorFlow·JAX 시나리오별 선택 기준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PyTorch Stars 트렌드]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4418753"/>
            <ns1:ext cx="3029540" cy="1241820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TF Serving·TFLite 엣지·모바일 배포 강점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TensorFlow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4418753"/>
            <ns1:ext cx="3029540" cy="1241820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XLA 컴파일·TPU 최적화 대규모 분산 학습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JAX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23" name="직사각형 22"/>
          <ns0:cNvSpPr/>
          <ns0:nvPr/>
        </ns0:nvSpPr>
        <ns0:spPr>
          <ns1:xfrm>
            <ns1:off x="9071043" y="780482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JAX 벤치마크 비교]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6" name="직사각형 25"/>
          <ns0:cNvSpPr/>
          <ns0:nvPr/>
        </ns0:nvSpPr>
        <ns0:spPr>
          <ns1:xfrm>
            <ns1:off x="5866579" y="788113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TF Serving 추론 아키텍처]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8" name="직각 삼각형 27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각 삼각형 28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" name="직각 삼각형 29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모서리가 둥근 직사각형 23"/>
          <ns0:cNvSpPr/>
          <ns0:nvPr/>
        </ns0:nvSpPr>
        <ns0:spPr>
          <ns1:xfrm>
            <ns1:off x="2658154" y="5825929"/>
            <ns1:ext cx="9533846" cy="1032072"/>
          </ns1:xfrm>
          <ns1:prstGeom prst="roundRect">
            <ns1:avLst>
              <ns1:gd name="adj" fmla="val 0"/>
            </ns1:avLst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연구→PyTorch / 프로덕션→TensorFlow / 대규모 분산→JAX</ns1:t>
            </ns1:r>
          </ns1:p>
        </ns0:txBody>
      </ns0:sp>
      <ns0:sp>
        <ns0:nvSpPr>
          <ns0:cNvPr id="3" name="갈매기형 수장 2"/>
          <ns0:cNvSpPr/>
          <ns0:nvPr/>
        </ns0:nvSpPr>
        <ns0:spPr>
          <ns1:xfrm rot="5400000">
            <ns1:off x="7363194" y="589076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</ns0:spTree>
    <ns0:extLst>
      <ns0:ext uri="{BB962C8B-B14F-4D97-AF65-F5344CB8AC3E}">
        <ns2:creationId val="3287227565"/>
      </ns0:ext>
    </ns0:extLst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07 ML Ops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3.2. ML Ops &amp; 모니터링</ns1:t>
            </ns1:r>
          </ns1:p>
          <ns1:p>
            <ns1:r>
              <ns1:rPr lang="ko-KR" altLang="en-US" dirty="0" smtClean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모델 생애주기 전반 자동화 운영 플랫폼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8546784" y="101860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GitHub Actions+Kubeflow. 코드 변경 시 자동 재학습·검증·배포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CI/CD 파이프라인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 flipH="1">
            <ns1:off x="8546784" y="2786973"/>
            <ns1:ext cx="3645217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직사각형 20"/>
          <ns0:cNvSpPr/>
          <ns0:nvPr/>
        </ns0:nvSpPr>
        <ns0:spPr>
          <ns1:xfrm>
            <ns1:off x="2658154" y="777929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ML CI/CD 자동화 파이프라인]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2658154" y="2864336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모델 성능 모니터링 대시보드]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2658154" y="4950744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데이터 드리프트 감지 시스템]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cxnSp>
        <ns0:nvCxnSpPr>
          <ns0:cNvPr id="30" name="직선 연결선 29"/>
          <ns0:cNvCxnSpPr/>
          <ns0:nvPr/>
        </ns0:nvCxnSpPr>
        <ns0:spPr>
          <ns1:xfrm flipH="1">
            <ns1:off x="8546784" y="4851671"/>
            <ns1:ext cx="3645216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35" name="그룹 34"/>
          <ns0:cNvGrpSpPr/>
          <ns0:nvPr/>
        </ns0:nvGrpSpPr>
        <ns0:grpSpPr>
          <ns1:xfrm>
            <ns1:off x="8546784" y="3083303"/>
            <ns1:ext cx="3029540" cy="1345038"/>
            <ns1:chOff x="2844950" y="5202168"/>
            <ns1:chExt cx="2844657" cy="1345038"/>
          </ns1:xfrm>
        </ns0:grpSpPr>
        <ns0:sp>
          <ns0:nvSpPr>
            <ns0:cNvPr id="3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Prometheus·Grafana 기반 레이턴시·처리량·에러율 트래킹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실시간 모니터링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38" name="그룹 37"/>
          <ns0:cNvGrpSpPr/>
          <ns0:nvPr/>
        </ns0:nvGrpSpPr>
        <ns0:grpSpPr>
          <ns1:xfrm>
            <ns1:off x="8546784" y="5148000"/>
            <ns1:ext cx="3029540" cy="1345038"/>
            <ns1:chOff x="2844950" y="5202168"/>
            <ns1:chExt cx="2844657" cy="1345038"/>
          </ns1:xfrm>
        </ns0:grpSpPr>
        <ns0:sp>
          <ns0:nvSpPr>
            <ns0:cNvPr id="39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Evidently AI 데이터 분포 변화 감지. PSI·KL-Divergence 알람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0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드리프트 감지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0" name="직각 삼각형 49"/>
          <ns0:cNvSpPr/>
          <ns0:nvPr/>
        </ns0:nvSpPr>
        <ns0:spPr>
          <ns1:xfrm rot="5400000">
            <ns1:off x="2658489" y="2864002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1" name="직각 삼각형 50"/>
          <ns0:cNvSpPr/>
          <ns0:nvPr/>
        </ns0:nvSpPr>
        <ns0:spPr>
          <ns1:xfrm rot="5400000">
            <ns1:off x="2658488" y="495040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551327650"/>
      </ns0:ext>
    </ns0:extLst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E2E ML 자동화 파이프라인]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도메인별 정확도 비교]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보안 아키텍처 레이어]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4.2. 핵심 역량 및 차별화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GS Neotek ML의 3대 차별화 강점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데이터→배포→모니터링 완전 자동화. 수동 개입 최소화로 운영 효율 극대화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4.2.1 End-to-End 자동화·도메인 전문성·엔터프라이즈 보안 — GS Neotek ML의 3대 차별화 강점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금융·제조·헬스케어 특화 모델. 도메인 데이터 기반 파인튜닝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On-Premise·Private Cloud 지원. 데이터 외부 유출 Zero 보장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Multi-Head Attention 구조 다이어그램]</ns1:t>
            </ns1: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Foundation Model 사전학습→파인튜닝 흐름]</ns1:t>
            </ns1: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RLHF 보상모델 학습 프로세스]</ns1:t>
            </ns1: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01 Transformer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어텐션 메커니즘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02 Foundation Model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대규모 사전학습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03 RLHF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인간선호 강화학습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01 ML 패러다임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1.1. 3대 핵심 기술 트렌드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Transformer·Foundation Model·RLHF 기반 ML 패러다임 전환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BERT·GPT의 핵심. 병렬 처리·장거리 의존성 모델링. RNN 한계 극복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PPO·DPO 기반 인간선호 정렬. ChatGPT·Claude 핵심 학습 기법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l">
              <ns1:lnSpc>
                <ns1:spcPts val="2153"/>
              </ns1:lnSpc>
            </ns1:pPr>
            <ns1:r>
              <ns1:rPr lang="en-US" altLang="ko-KR" sz="16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  <ns1:solidFill>
                  <ns1:srgbClr val="000000"/>
                </ns1:solidFill>
              </ns1:rPr>
              <ns1:t>| 1.1.1 Transformer·Foundation Model·RLHF — ML 패러다임을 이끄는 3대 핵심 기술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pPr/>
            <ns1:r>
              <ns1:rPr lang="ko-KR" dirty="0">
                <ns1:latin typeface="Pretendard"/>
                <ns1:ea typeface="Pretendard"/>
                <ns1:cs typeface="Pretendard"/>
              </ns1:rPr>
              <ns1:t>ML 파이프라인 &amp; 방법론</ns1:t>
            </ns1:r>
            <ns1:endParaRPr lang="ko-KR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pPr/>
            <ns1:r>
              <ns1:rPr lang="ko-KR" dirty="0"/>
              <ns1:t>04 학습·배포 전략</ns1:t>
            </ns1:r>
            <ns1:endParaRPr lang="ko-KR" dirty="0"/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dirty="0">
                <ns1:latin typeface="Pretendard SemiBold"/>
                <ns1:ea typeface="Pretendard SemiBold"/>
                <ns1:cs typeface="Pretendard SemiBold"/>
              </ns1:rPr>
              <ns1:t>2.2. 학습·평가·배포 사이클</ns1:t>
            </ns1:r>
          </ns1:p>
          <ns1:p>
            <ns1:r>
              <ns1:rPr lang="en-US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z="160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dirty="0" sz="1200">
                <ns1:latin typeface="Pretendard"/>
                <ns1:ea typeface="Pretendard"/>
                <ns1:cs typeface="Pretendard"/>
              </ns1:rPr>
              <ns1:t>실험 관리부터 프로덕션 배포까지 표준화된 ML 개발 절차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MLflow·W&amp;B 실험 추적 UI 화면]</ns1:t>
            </ns1:r>
            <ns1:endParaRPr lang="ko-KR" sz="1100" dirty="0"/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실험 관리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Optuna 기반 Bayesian 자동 하이퍼파라미터 탐색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Optuna 하이퍼파라미터 최적화 수렴 곡선]</ns1:t>
            </ns1:r>
            <ns1:endParaRPr lang="ko-KR" sz="1100" dirty="0"/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HPO 최적화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ROC Curve 및 Confusion Matrix]</ns1:t>
            </ns1:r>
            <ns1:endParaRPr lang="ko-KR" sz="1100" dirty="0"/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모델 평가·검증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 anchorCtr="0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Blue-Green·Canary 배포 트래픽 분산 다이어그램]</ns1:t>
            </ns1:r>
            <ns1:endParaRPr lang="ko-KR" sz="1100" dirty="0"/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프로덕션 배포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K-Fold·AUC-ROC 기반 복합 지표 모델 선택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Blue-Green·Canary A/B 테스트 트래픽 전환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MLflow·W&amp;B 실험 추적 및 재현성 보장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실험부터 프로덕션까지 표준화된 ML 개발 프로세스</ns1:t>
            </ns1:r>
            <ns1:endParaRPr lang="ko-KR" dirty="0"/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>
          <ns1:xfrm>
            <ns1:off x="344233" y="225866"/>
            <ns1:ext cx="1500278" cy="228225"/>
          </ns1:xfrm>
        </ns0:spPr>
        <ns0:txBody>
          <ns1:bodyPr>
            <ns1:normAutofit/>
          </ns1:bodyPr>
          <ns1:lstStyle/>
          <ns1:p>
            <ns1:r>
              <ns1:rPr dirty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>
          <ns1:xfrm>
            <ns1:off x="2595441" y="225458"/>
            <ns1:ext cx="2906908" cy="254000"/>
          </ns1:xfrm>
        </ns0:spPr>
        <ns0:txBody>
          <ns1:bodyPr/>
          <ns1:lstStyle/>
          <ns1:p>
            <ns1:r>
              <ns1:t>10 ML 서비스</ns1:t>
            </ns1:r>
          </ns1:p>
        </ns0:txBody>
      </ns0:sp>
      <ns0:sp>
        <ns0:nvSpPr>
          <ns0:cNvPr id="2" name="이등변 삼각형 1"/>
          <ns0:cNvSpPr/>
          <ns0:nvPr/>
        </ns0:nvSpPr>
        <ns0:spPr>
          <ns1:xfrm rot="5400000">
            <ns1:off x="7216927" y="3595051"/>
            <ns1:ext cx="357169" cy="296574"/>
          </ns1:xfrm>
          <ns1:prstGeom prst="triangle">
            <ns1:avLst>
              <ns1:gd name="adj" fmla="val 54000"/>
            </ns1:avLst>
          </ns1:prstGeom>
          <ns1:solidFill>
            <ns1:srgbClr val="0C0E68"/>
          </ns1:solidFill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Text 1"/>
          <ns0:cNvSpPr/>
          <ns0:nvPr/>
        </ns0:nvSpPr>
        <ns0:spPr>
          <ns1:xfrm>
            <ns1:off x="395032" y="780494"/>
            <ns1:ext cx="2119440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4.1. ML 서비스 포트폴리오</ns1:t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7" name="Text 1"/>
          <ns0:cNvSpPr/>
          <ns0:nvPr/>
        </ns0:nvSpPr>
        <ns0:spPr>
          <ns1:xfrm>
            <ns1:off x="395032" y="2311627"/>
            <ns1:ext cx="2119440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Platform: Kubeflow 기반 학습·서빙 플랫폼 / GPU 클러스터 관리 / AutoML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Consulting: 유즈케이스 발굴·PoC·MLOps 전략 / 도메인 특화 모델 커스터마이징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0" name="Text 1"/>
          <ns0:cNvSpPr/>
          <ns0:nvPr/>
        </ns0:nvSpPr>
        <ns0:spPr>
          <ns1:xfrm>
            <ns1:off x="395032" y="3466057"/>
            <ns1:ext cx="2119440" cy="153733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GS Neotek은 데이터 수집→모델 배포→모니터링까지 ML 전 생애주기를 지원합니다.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138085299"/>
      </ns0:ext>
    </ns0:extLst>
  </ns0:cSld>
  <ns0:clrMapOvr>
    <ns1:masterClrMapping/>
  </ns0:clrMapOvr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02 아키텍처 진화</ns1:t>
            </ns1:r>
          </ns1:p>
        </ns0:txBody>
      </ns0:sp>
      <ns0:sp>
        <ns0:nvSpPr>
          <ns0:cNvPr id="16" name="직사각형 15"/>
          <ns0:cNvSpPr/>
          <ns0:nvPr/>
        </ns0:nvSpPr>
        <ns0:spPr>
          <ns1:xfrm>
            <ns1:off x="2657593" y="780494"/>
            <ns1:ext cx="2710790" cy="37295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2014~16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직사각형 16"/>
          <ns0:cNvSpPr/>
          <ns0:nvPr/>
        </ns0:nvSpPr>
        <ns0:spPr>
          <ns1:xfrm>
            <ns1:off x="5368383" y="1155654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2017~19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1.2. 딥러닝 아키텍처 진화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CNN에서 LLM까지 10년간의 기술 계보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7700615" y="1452497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2020~22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10014859" y="1749340"/>
            <ns1:ext cx="2177141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2023~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2657592" y="1153452"/>
            <ns1:ext cx="2692803" cy="5704547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2" name="직사각형 11"/>
          <ns0:cNvSpPr/>
          <ns0:nvPr/>
        </ns0:nvSpPr>
        <ns0:spPr>
          <ns1:xfrm>
            <ns1:off x="7700615" y="1749340"/>
            <ns1:ext cx="2314244" cy="5108659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400" name="D400"/>
          <ns0:cNvSpPr>
            <ns1:spLocks noGrp="1"/>
          </ns0:cNvSpPr>
          <ns0:nvPr/>
        </ns0:nvSpPr>
        <ns0:spPr>
          <ns1:xfrm>
            <ns1:off x="2737593" y="1233453"/>
            <ns1:ext cx="2550790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2014~2016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GAN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ResNet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Seq2Seq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Vision팀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✓ ImageNet 3.5%</ns1:t>
            </ns1:r>
          </ns1:p>
          <ns1:p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1" name="D401"/>
          <ns0:cNvSpPr>
            <ns1:spLocks noGrp="1"/>
          </ns0:cNvSpPr>
          <ns0:nvPr/>
        </ns0:nvSpPr>
        <ns0:spPr>
          <ns1:xfrm>
            <ns1:off x="5448383" y="1534489"/>
            <ns1:ext cx="2154244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2017~2019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Transformer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BERT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GPT-1/2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NLP팀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✓ GLUE SOTA</ns1:t>
            </ns1:r>
          </ns1:p>
          <ns1:p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2" name="D402"/>
          <ns0:cNvSpPr>
            <ns1:spLocks noGrp="1"/>
          </ns0:cNvSpPr>
          <ns0:nvPr/>
        </ns0:nvSpPr>
        <ns0:spPr>
          <ns1:xfrm>
            <ns1:off x="7780615" y="1831332"/>
            <ns1:ext cx="2154244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2020~2022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GPT-3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CLIP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Diffusion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멀티모달팀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✓ Few-shot 급등</ns1:t>
            </ns1:r>
          </ns1:p>
          <ns1:p>
            <ns1:r>
              <ns1:rPr lang="ko-KR" dirty="0" sz="110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리스크: 중간</ns1:t>
            </ns1:r>
          </ns1:p>
        </ns0:txBody>
      </ns0:sp>
      <ns0:sp>
        <ns0:nvSpPr>
          <ns0:cNvPr id="403" name="D403"/>
          <ns0:cNvSpPr>
            <ns1:spLocks noGrp="1"/>
          </ns0:cNvSpPr>
          <ns0:nvPr/>
        </ns0:nvSpPr>
        <ns0:spPr>
          <ns1:xfrm>
            <ns1:off x="10094859" y="2128175"/>
            <ns1:ext cx="2017141" cy="2065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2023~현재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GPT-4·Claude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MoE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RLHF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LLM팀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✓ AGI 근접</ns1:t>
            </ns1:r>
          </ns1:p>
          <ns1:p>
            <ns1:r>
              <ns1:rPr lang="ko-KR" dirty="0" sz="1100">
                <ns1:solidFill>
                  <ns1:srgbClr val="FF4B4B"/>
                </ns1:solidFill>
                <ns1:latin typeface="Pretendard"/>
                <ns1:ea typeface="Pretendard"/>
                <ns1:cs typeface="Pretendard"/>
              </ns1:rPr>
              <ns1:t>리스크: 높음</ns1:t>
            </ns1:r>
          </ns1:p>
        </ns0:txBody>
      </ns0:sp>
    </ns0:spTree>
    <ns0:extLst>
      <ns0:ext uri="{BB962C8B-B14F-4D97-AF65-F5344CB8AC3E}">
        <ns2:creationId val="554161028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dirty="0">
                <ns1:latin typeface="Pretendard"/>
                <ns1:ea typeface="Pretendard"/>
                <ns1:cs typeface="Pretendard"/>
              </ns1:rPr>
              <ns1:t>엔터프라이즈 도입</ns1:t>
            </ns1:r>
            <ns1:endParaRPr lang="ko-KR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dirty="0"/>
              <ns1:t>06 도입 로드맵</ns1:t>
            </ns1:r>
            <ns1:endParaRPr lang="ko-KR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dirty="0">
                <ns1:latin typeface="Pretendard SemiBold"/>
                <ns1:ea typeface="Pretendard SemiBold"/>
                <ns1:cs typeface="Pretendard SemiBold"/>
              </ns1:rPr>
              <ns1:t>3.1. 4분기 도입 계획</ns1:t>
            </ns1: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PoC부터 전사 확산까지 4분기 점진적 도입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Q300"/>
          <ns0:cNvSpPr>
            <ns1:spLocks noGrp="1"/>
          </ns0:cNvSpPr>
          <ns0:nvPr/>
        </ns0:nvSpPr>
        <ns0:spPr>
          <ns1:xfrm>
            <ns1:off x="2717592" y="4100641"/>
            <ns1:ext cx="9414407" cy="6000"/>
          </ns1:xfrm>
          <ns1:prstGeom prst="rect">
            <ns1:avLst/>
          </ns1:prstGeom>
          <ns1:solidFill>
            <ns1:srgbClr val="CCCCCC"/>
          </ns1:solidFill>
        </ns0:spPr>
        <ns0:txBody>
          <ns1:bodyPr/>
          <ns1:lstStyle/>
          <ns1:p>
            <ns1:endParaRPr lang="en-KR"/>
          </ns1:p>
        </ns0:txBody>
      </ns0:sp>
      <ns0:sp>
        <ns0:nvSpPr>
          <ns0:cNvPr id="301" name="Q301"/>
          <ns0:cNvSpPr>
            <ns1:spLocks noGrp="1"/>
          </ns0:cNvSpPr>
          <ns0:nvPr/>
        </ns0:nvSpPr>
        <ns0:spPr>
          <ns1:xfrm>
            <ns1:off x="2717592" y="4136641"/>
            <ns1:ext cx="9414407" cy="14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1000" dirty="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D302"/>
          <ns0:cNvSpPr>
            <ns1:spLocks noGrp="1"/>
          </ns0:cNvSpPr>
          <ns0:nvPr/>
        </ns0:nvSpPr>
        <ns0:spPr>
          <ns1:xfrm>
            <ns1:off x="2717592" y="1500000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Jan~Mar</ns1:t>
            </ns1:r>
          </ns1:p>
          <ns1:p>
            <ns1:endParaRPr lang="ko-KR" sz="1100" b="1" dirty="0">
              <ns1:solidFill>
                <ns1:srgbClr val="3C41E6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ML 플랫폼 PoC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데이터 인벤토리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GPU 인프라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ML플랫폼팀</ns1:t>
            </ns1:r>
          </ns1:p>
        </ns0:txBody>
      </ns0:sp>
      <ns0:sp>
        <ns0:nvSpPr>
          <ns0:cNvPr id="303" name="Q303"/>
          <ns0:cNvSpPr>
            <ns1:spLocks noGrp="1"/>
          </ns0:cNvSpPr>
          <ns0:nvPr/>
        </ns0:nvSpPr>
        <ns0:spPr>
          <ns1:xfrm>
            <ns1:off x="2717592" y="4547790"/>
            <ns1:ext cx="212034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PoC 성공</ns1:t>
            </ns1:r>
          </ns1:p>
        </ns0:txBody>
      </ns0:sp>
      <ns0:sp>
        <ns0:nvSpPr>
          <ns0:cNvPr id="304" name="Q304"/>
          <ns0:cNvSpPr>
            <ns1:spLocks noGrp="1"/>
          </ns0:cNvSpPr>
          <ns0:nvPr/>
        </ns0:nvSpPr>
        <ns0:spPr>
          <ns1:xfrm>
            <ns1:off x="2717592" y="5187790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Q305"/>
          <ns0:cNvSpPr>
            <ns1:spLocks noGrp="1"/>
          </ns0:cNvSpPr>
          <ns0:nvPr/>
        </ns0:nvSpPr>
        <ns0:spPr>
          <ns1:xfrm>
            <ns1:off x="3797765" y="5187790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Small</ns1:t>
            </ns1:r>
          </ns1:p>
        </ns0:txBody>
      </ns0:sp>
      <ns0:sp>
        <ns0:nvSpPr>
          <ns0:cNvPr id="306" name="D306"/>
          <ns0:cNvSpPr>
            <ns1:spLocks noGrp="1"/>
          </ns0:cNvSpPr>
          <ns0:nvPr/>
        </ns0:nvSpPr>
        <ns0:spPr>
          <ns1:xfrm>
            <ns1:off x="4957938" y="1500000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Apr~Jun</ns1:t>
            </ns1:r>
          </ns1:p>
          <ns1:p>
            <ns1:endParaRPr lang="ko-KR" sz="1100" b="1" dirty="0">
              <ns1:solidFill>
                <ns1:srgbClr val="2D30B8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Feature Store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첫 모델 배포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A/B 테스트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ML엔지니어팀</ns1:t>
            </ns1:r>
          </ns1:p>
        </ns0:txBody>
      </ns0:sp>
      <ns0:sp>
        <ns0:nvSpPr>
          <ns0:cNvPr id="307" name="Q307"/>
          <ns0:cNvSpPr>
            <ns1:spLocks noGrp="1"/>
          </ns0:cNvSpPr>
          <ns0:nvPr/>
        </ns0:nvSpPr>
        <ns0:spPr>
          <ns1:xfrm>
            <ns1:off x="4957938" y="4547790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정확도 90%+</ns1:t>
            </ns1:r>
          </ns1:p>
        </ns0:txBody>
      </ns0:sp>
      <ns0:sp>
        <ns0:nvSpPr>
          <ns0:cNvPr id="308" name="Q308"/>
          <ns0:cNvSpPr>
            <ns1:spLocks noGrp="1"/>
          </ns0:cNvSpPr>
          <ns0:nvPr/>
        </ns0:nvSpPr>
        <ns0:spPr>
          <ns1:xfrm>
            <ns1:off x="4957938" y="5187790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중간</ns1:t>
            </ns1:r>
          </ns1:p>
        </ns0:txBody>
      </ns0:sp>
      <ns0:sp>
        <ns0:nvSpPr>
          <ns0:cNvPr id="309" name="Q309"/>
          <ns0:cNvSpPr>
            <ns1:spLocks noGrp="1"/>
          </ns0:cNvSpPr>
          <ns0:nvPr/>
        </ns0:nvSpPr>
        <ns0:spPr>
          <ns1:xfrm>
            <ns1:off x="6165829" y="5187790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Medium</ns1:t>
            </ns1:r>
          </ns1:p>
        </ns0:txBody>
      </ns0:sp>
      <ns0:sp>
        <ns0:nvSpPr>
          <ns0:cNvPr id="310" name="D310"/>
          <ns0:cNvSpPr>
            <ns1:spLocks noGrp="1"/>
          </ns0:cNvSpPr>
          <ns0:nvPr/>
        </ns0:nvSpPr>
        <ns0:spPr>
          <ns1:xfrm>
            <ns1:off x="7453720" y="1500000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Jul~Sep</ns1:t>
            </ns1:r>
          </ns1:p>
          <ns1:p>
            <ns1:endParaRPr lang="ko-KR" sz="1100" b="1" dirty="0">
              <ns1:solidFill>
                <ns1:srgbClr val="1E2490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ML Ops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모니터링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2차 확장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플랫폼팀</ns1:t>
            </ns1:r>
          </ns1:p>
        </ns0:txBody>
      </ns0:sp>
      <ns0:sp>
        <ns0:nvSpPr>
          <ns0:cNvPr id="311" name="Q311"/>
          <ns0:cNvSpPr>
            <ns1:spLocks noGrp="1"/>
          </ns0:cNvSpPr>
          <ns0:nvPr/>
        </ns0:nvSpPr>
        <ns0:spPr>
          <ns1:xfrm>
            <ns1:off x="7453720" y="4547790"/>
            <ns1:ext cx="218249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드리프트&lt;1일</ns1:t>
            </ns1:r>
          </ns1:p>
        </ns0:txBody>
      </ns0:sp>
      <ns0:sp>
        <ns0:nvSpPr>
          <ns0:cNvPr id="312" name="Q312"/>
          <ns0:cNvSpPr>
            <ns1:spLocks noGrp="1"/>
          </ns0:cNvSpPr>
          <ns0:nvPr/>
        </ns0:nvSpPr>
        <ns0:spPr>
          <ns1:xfrm>
            <ns1:off x="7453720" y="5187790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중간</ns1:t>
            </ns1:r>
          </ns1:p>
        </ns0:txBody>
      </ns0:sp>
      <ns0:sp>
        <ns0:nvSpPr>
          <ns0:cNvPr id="313" name="Q313"/>
          <ns0:cNvSpPr>
            <ns1:spLocks noGrp="1"/>
          </ns0:cNvSpPr>
          <ns0:nvPr/>
        </ns0:nvSpPr>
        <ns0:spPr>
          <ns1:xfrm>
            <ns1:off x="8564968" y="5187790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  <ns0:sp>
        <ns0:nvSpPr>
          <ns0:cNvPr id="314" name="D314"/>
          <ns0:cNvSpPr>
            <ns1:spLocks noGrp="1"/>
          </ns0:cNvSpPr>
          <ns0:nvPr/>
        </ns0:nvSpPr>
        <ns0:spPr>
          <ns1:xfrm>
            <ns1:off x="9756217" y="1500000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sz="11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Oct~Dec</ns1:t>
            </ns1:r>
          </ns1:p>
          <ns1:p>
            <ns1:endParaRPr lang="ko-KR" sz="1100" b="1" dirty="0">
              <ns1:solidFill>
                <ns1:srgbClr val="1419AB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전사 확산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AutoML</ns1:t>
            </ns1:r>
          </ns1:p>
          <ns1:p>
            <ns1:r>
              <ns1:rPr lang="ko-KR" sz="1100" dirty="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LLM PoC</ns1:t>
            </ns1:r>
          </ns1:p>
          <ns1:p>
            <ns1:endParaRPr lang="ko-KR" sz="1100" dirty="0">
              <ns1:solidFill>
                <ns1:srgbClr val="444444"/>
              </ns1:solidFill>
              <ns1:latin typeface="Pretendard"/>
              <ns1:ea typeface="Pretendard"/>
              <ns1:cs typeface="Pretendard"/>
            </ns1:endParaRPr>
          </ns1:p>
          <ns1:p>
            <ns1:r>
              <ns1:rPr lang="ko-KR" sz="1000" dirty="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전사팀</ns1:t>
            </ns1:r>
          </ns1:p>
        </ns0:txBody>
      </ns0:sp>
      <ns0:sp>
        <ns0:nvSpPr>
          <ns0:cNvPr id="315" name="Q315"/>
          <ns0:cNvSpPr>
            <ns1:spLocks noGrp="1"/>
          </ns0:cNvSpPr>
          <ns0:nvPr/>
        </ns0:nvSpPr>
        <ns0:spPr>
          <ns1:xfrm>
            <ns1:off x="9756217" y="4547790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sz="1100" dirty="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ROI 300%+</ns1:t>
            </ns1:r>
          </ns1:p>
        </ns0:txBody>
      </ns0:sp>
      <ns0:sp>
        <ns0:nvSpPr>
          <ns0:cNvPr id="316" name="Q316"/>
          <ns0:cNvSpPr>
            <ns1:spLocks noGrp="1"/>
          </ns0:cNvSpPr>
          <ns0:nvPr/>
        </ns0:nvSpPr>
        <ns0:spPr>
          <ns1:xfrm>
            <ns1:off x="9756217" y="5187790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sz="1100" dirty="0">
                <ns1:solidFill>
                  <ns1:srgbClr val="FF4B4B"/>
                </ns1:solidFill>
                <ns1:latin typeface="Pretendard"/>
                <ns1:ea typeface="Pretendard"/>
                <ns1:cs typeface="Pretendard"/>
              </ns1:rPr>
              <ns1:t>높음</ns1:t>
            </ns1:r>
          </ns1:p>
        </ns0:txBody>
      </ns0:sp>
      <ns0:sp>
        <ns0:nvSpPr>
          <ns0:cNvPr id="317" name="Q317"/>
          <ns0:cNvSpPr>
            <ns1:spLocks noGrp="1"/>
          </ns0:cNvSpPr>
          <ns0:nvPr/>
        </ns0:nvSpPr>
        <ns0:spPr>
          <ns1:xfrm>
            <ns1:off x="10964108" y="5187790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sz="900" b="1" dirty="0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sz="1100" dirty="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en-US" dirty="0"/>
              <ns1:t>09 성과 KPI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76894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3.4. 분기별 KPI 달성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도입 이후 4분기 핵심 성과 지표 달성 현황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3" name="직사각형 32"/>
          <ns0:cNvSpPr/>
          <ns0:nvPr/>
        </ns0:nvSpPr>
        <ns0:spPr>
          <ns1:xfrm>
            <ns1:off x="9184568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4" name="직사각형 33"/>
          <ns0:cNvSpPr/>
          <ns0:nvPr/>
        </ns0:nvSpPr>
        <ns0:spPr>
          <ns1:xfrm>
            <ns1:off x="3077029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5" name="직사각형 34"/>
          <ns0:cNvSpPr/>
          <ns0:nvPr/>
        </ns0:nvSpPr>
        <ns0:spPr>
          <ns1:xfrm>
            <ns1:off x="1026590" y="1782671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직사각형 35"/>
          <ns0:cNvSpPr/>
          <ns0:nvPr/>
        </ns0:nvSpPr>
        <ns0:spPr>
          <ns1:xfrm>
            <ns1:off x="4154807" y="1746410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7" name="직사각형 36"/>
          <ns0:cNvSpPr/>
          <ns0:nvPr/>
        </ns0:nvSpPr>
        <ns0:spPr>
          <ns1:xfrm>
            <ns1:off x="7328742" y="1743824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직사각형 37"/>
          <ns0:cNvSpPr/>
          <ns0:nvPr/>
        </ns0:nvSpPr>
        <ns0:spPr>
          <ns1:xfrm>
            <ns1:off x="10370953" y="1719726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0" name="이등변 삼각형 39"/>
          <ns0:cNvSpPr/>
          <ns0:nvPr/>
        </ns0:nvSpPr>
        <ns0:spPr>
          <ns1:xfrm rot="5400000">
            <ns1:off x="6009765" y="186479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1" name="이등변 삼각형 40"/>
          <ns0:cNvSpPr/>
          <ns0:nvPr/>
        </ns0:nvSpPr>
        <ns0:spPr>
          <ns1:xfrm rot="5400000">
            <ns1:off x="9075094" y="1857367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60000" y="4850641"/>
            <ns1:ext cx="12072000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60000" y="4886641"/>
            <ns1:ext cx="12072000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60000" y="2250000"/>
            <ns1:ext cx="2957029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PoC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88%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200ms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PoC 승인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ML팀</ns1:t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60000" y="5297790"/>
            <ns1:ext cx="2957029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PoC 통과</ns1:t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60000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1558514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Small</ns1:t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3137029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프로덕션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92%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80ms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10만 추론/일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플랫폼팀</ns1:t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3137029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SLA 99.5%</ns1:t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3137029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4600745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Medium</ns1:t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6144461" y="2250000"/>
            <ns1:ext cx="298010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확장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94.5%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45ms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3서비스 적용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전사팀</ns1:t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6144461" y="5297790"/>
            <ns1:ext cx="298010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ROI 200%</ns1:t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6144461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F5A623"/>
                </ns1:solidFill>
                <ns1:latin typeface="Pretendard"/>
                <ns1:ea typeface="Pretendard"/>
                <ns1:cs typeface="Pretendard"/>
              </ns1:rPr>
              <ns1:t>중간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7654514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244568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안정화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정확도 96%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응답 30ms</ns1:t>
            </ns1:r>
          </ns1:p>
          <ns1:p>
            <ns1:r>
              <ns1:rPr lang="ko-KR" dirty="0" sz="1100">
                <ns1:solidFill>
                  <ns1:srgbClr val="444444"/>
                </ns1:solidFill>
                <ns1:latin typeface="Pretendard"/>
                <ns1:ea typeface="Pretendard"/>
                <ns1:cs typeface="Pretendard"/>
              </ns1:rPr>
              <ns1:t>□ 드리프트 0건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1000">
                <ns1:solidFill>
                  <ns1:srgbClr val="888888"/>
                </ns1:solidFill>
                <ns1:latin typeface="Pretendard"/>
                <ns1:ea typeface="Pretendard"/>
                <ns1:cs typeface="Pretendard"/>
              </ns1:rPr>
              <ns1:t>● 전사팀</ns1:t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244568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>ROI 320%</ns1:t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244568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708284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>Large</ns1:t>
            </ns1:r>
          </ns1:p>
        </ns0:txBody>
      </ns0:sp>
    </ns0:spTree>
    <ns0:extLst>
      <ns0:ext uri="{BB962C8B-B14F-4D97-AF65-F5344CB8AC3E}">
        <ns2:creationId val="863509477"/>
      </ns0:ext>
    </ns0:extLst>
  </ns0:cSld>
  <ns0:clrMapOvr>
    <ns1:masterClrMapping/>
  </ns0:clrMapOvr>
</ns0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6" name="직사각형 35"/>
          <ns0:cNvSpPr/>
          <ns0:nvPr/>
        </ns0:nvSpPr>
        <ns0:spPr>
          <ns1:xfrm>
            <ns1:off x="5943887" y="1619852"/>
            <ns1:ext cx="6248113" cy="5245768"/>
          </ns1:xfrm>
          <ns1:prstGeom prst="rect">
            <ns1:avLst/>
          </ns1:prstGeom>
          <ns1:solidFill>
            <ns1:srgbClr val="0C0E6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en-US" dirty="0"/>
              <ns1:t>08 도입 효과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3.3. 도입 전후 비교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플랫폼 도입으로 달성한 정량적 운영 혁신</ns1:t>
            </ns1:r>
          </ns1:p>
          <ns1:p/>
          <ns1:p/>
        </ns0:txBody>
      </ns0:sp>
      <ns0:sp>
        <ns0:nvSpPr>
          <ns0:cNvPr id="16" name="타원 15"/>
          <ns0:cNvSpPr/>
          <ns0:nvPr/>
        </ns0:nvSpPr>
        <ns0:spPr>
          <ns1:xfrm>
            <ns1:off x="2232968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룰 기반 의사결정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7" name="타원 16"/>
          <ns0:cNvSpPr/>
          <ns0:nvPr/>
        </ns0:nvSpPr>
        <ns0:spPr>
          <ns1:xfrm>
            <ns1:off x="395032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수동 배포(주1회)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이등변 삼각형 29"/>
          <ns0:cNvSpPr/>
          <ns0:nvPr/>
        </ns0:nvSpPr>
        <ns0:spPr>
          <ns1:xfrm rot="5400000">
            <ns1:off x="5416831" y="3868601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10" name="그룹 9"/>
          <ns0:cNvGrpSpPr/>
          <ns0:nvPr/>
        </ns0:nvGrpSpPr>
        <ns0:grpSpPr>
          <ns1:xfrm>
            <ns1:off x="6733891" y="2094237"/>
            <ns1:ext cx="4813529" cy="4274047"/>
            <ns1:chOff x="6400019" y="2012761"/>
            <ns1:chExt cx="4813529" cy="4274047"/>
          </ns1:xfrm>
        </ns0:grpSpPr>
        <ns0:sp>
          <ns0:nvSpPr>
            <ns0:cNvPr id="13" name="타원 12"/>
            <ns0:cNvSpPr/>
            <ns0:nvPr/>
          </ns0:nvSpPr>
          <ns0:spPr>
            <ns1:xfrm>
              <ns1:off x="6400019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2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스트림 처리(ms)</ns1:t>
              </ns1:r>
            </ns1:p>
          </ns0:txBody>
        </ns0:sp>
        <ns0:sp>
          <ns0:nvSpPr>
            <ns0:cNvPr id="18" name="타원 17"/>
            <ns0:cNvSpPr/>
            <ns0:nvPr/>
          </ns0:nvSpPr>
          <ns0:spPr>
            <ns1:xfrm>
              <ns1:off x="7822856" y="2012761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2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자동 CI/CD(시간단위)</ns1:t>
              </ns1:r>
              <ns1:endParaRPr lang="en-US" altLang="ko-KR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  <ns1:p>
              <ns1:pPr algn="ctr"/>
              <ns1:endParaRPr lang="ko-KR" altLang="en-US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sp>
          <ns0:nvSpPr>
            <ns0:cNvPr id="19" name="타원 18"/>
            <ns0:cNvSpPr/>
            <ns0:nvPr/>
          </ns0:nvSpPr>
          <ns0:spPr>
            <ns1:xfrm>
              <ns1:off x="9310754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2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인건비-40%</ns1:t>
              </ns1:r>
              <ns1:endParaRPr lang="ko-KR" altLang="en-US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grpSp>
          <ns0:nvGrpSpPr>
            <ns0:cNvPr id="4" name="그룹 3"/>
            <ns0:cNvGrpSpPr/>
            <ns0:nvPr/>
          </ns0:nvGrpSpPr>
          <ns0:grpSpPr>
            <ns1:xfrm>
              <ns1:off x="7599899" y="3320870"/>
              <ns1:ext cx="2385246" cy="2385246"/>
              <ns1:chOff x="7673255" y="3218962"/>
              <ns1:chExt cx="2565890" cy="2565890"/>
            </ns1:xfrm>
          </ns0:grpSpPr>
          <ns0:sp>
            <ns0:nvSpPr>
              <ns0:cNvPr id="23" name="타원 22"/>
              <ns0:cNvSpPr/>
              <ns0:nvPr/>
            </ns0:nvSpPr>
            <ns0:spPr>
              <ns1:xfrm>
                <ns1:off x="7673255" y="3218962"/>
                <ns1:ext cx="2565890" cy="2565890"/>
              </ns1:xfrm>
              <ns1:prstGeom prst="ellipse">
                <ns1:avLst/>
              </ns1:prstGeom>
              <ns1:solidFill>
                <ns1:srgbClr val="999DFF">
                  <ns1:alpha val="50000"/>
                </ns1:srgbClr>
              </ns1:solidFill>
              <ns1:ln w="19050">
                <ns1:noFill/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endParaRPr lang="ko-KR" altLang="en-US" dirty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  <ns0:sp>
            <ns0:nvSpPr>
              <ns0:cNvPr id="21" name="타원 20"/>
              <ns0:cNvSpPr/>
              <ns0:nvPr/>
            </ns0:nvSpPr>
            <ns0:spPr>
              <ns1:xfrm>
                <ns1:off x="7932750" y="3478457"/>
                <ns1:ext cx="2046900" cy="2046900"/>
              </ns1:xfrm>
              <ns1:prstGeom prst="ellipse">
                <ns1:avLst/>
              </ns1:prstGeom>
              <ns1:solidFill>
                <ns1:srgbClr val="3C41E6"/>
              </ns1:solidFill>
              <ns1:ln w="19050">
                <ns1:solidFill>
                  <ns1:srgbClr val="999DFF"/>
                </ns1:solidFill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r>
                  <ns1:rPr lang="ko-KR" altLang="ko-KR" dirty="0" smtClean="0" sz="1200">
                    <ns1:solidFill>
                      <ns1:schemeClr val="bg1"/>
                    </ns1:solidFill>
                    <ns1:latin typeface="Pretendard SemiBold" panose="02000703000000020004" pitchFamily="2" charset="-127"/>
                    <ns1:ea typeface="Pretendard SemiBold" panose="02000703000000020004" pitchFamily="2" charset="-127"/>
                    <ns1:cs typeface="Pretendard SemiBold" panose="02000703000000020004" pitchFamily="2" charset="-127"/>
                  </ns1:rPr>
                  <ns1:t>ML 실시간 추론</ns1:t>
                </ns1:r>
                <ns1:endParaRPr lang="ko-KR" altLang="en-US" dirty="0">
                  <ns1:solidFill>
                    <ns1:schemeClr val="bg1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</ns0:grpSp>
        <ns0:pic>
          <ns0:nvPicPr>
            <ns0:cNvPr id="7" name="그림 6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20321414">
              <ns1:off x="7098002" y="357150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1" name="그림 30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6614646">
              <ns1:off x="9556678" y="346774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2" name="그림 31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13569304">
              <ns1:off x="8438923" y="5495793"/>
              <ns1:ext cx="820397" cy="745815"/>
            </ns1:xfrm>
            <ns1:prstGeom prst="rect">
              <ns1:avLst/>
            </ns1:prstGeom>
          </ns0:spPr>
        </ns0:pic>
      </ns0:grpSp>
      <ns0:sp>
        <ns0:nvSpPr>
          <ns0:cNvPr id="35" name="타원 34"/>
          <ns0:cNvSpPr/>
          <ns0:nvPr/>
        </ns0:nvSpPr>
        <ns0:spPr>
          <ns1:xfrm>
            <ns1:off x="4070904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배치 처리(T+1)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7" name="이등변 삼각형 36"/>
          <ns0:cNvSpPr/>
          <ns0:nvPr/>
        </ns0:nvSpPr>
        <ns0:spPr>
          <ns1:xfrm rot="5400000">
            <ns1:off x="5754266" y="3926764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8" name="Text 1"/>
          <ns0:cNvSpPr/>
          <ns0:nvPr/>
        </ns0:nvSpPr>
        <ns0:spPr>
          <ns1:xfrm>
            <ns1:off x="6314550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4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After</ns1:t>
            </ns1:r>
            <ns1:endParaRPr lang="en-US" altLang="ko-KR" sz="14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4940809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/>
            <ns1:r>
              <ns1:rPr lang="ko-KR" altLang="ko-KR" sz="1400" dirty="0" smtClean="0">
                <ns1:solidFill>
                  <ns1:srgbClr val="0C0E68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Before</ns1:t>
            </ns1:r>
            <ns1:endParaRPr lang="en-US" altLang="ko-KR" sz="1400" dirty="0">
              <ns1:solidFill>
                <ns1:srgbClr val="0C0E68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4:creationId val="525052166"/>
      </ns0:ext>
    </ns0:extLst>
  </ns0:cSld>
  <ns0:clrMapOvr>
    <ns1:masterClrMapping/>
  </ns0:clrMapOvr>
</ns0:sld>
</file>

<file path=ppt/slides/slide4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603311" y="2311400"/>
            <ns1:ext cx="1598632" cy="267494"/>
          </ns1:xfrm>
          <ns1:prstGeom prst="rect">
            <ns1:avLst/>
          </ns1:prstGeom>
        </ns0:spPr>
      </ns0:pic>
      <ns0:sp>
        <ns0:nvSpPr>
          <ns0:cNvPr id="8" name="Text 3"/>
          <ns0:cNvSpPr/>
          <ns0:nvPr/>
        </ns0:nvSpPr>
        <ns0:spPr>
          <ns1:xfrm>
            <ns1:off x="8661461" y="332443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dirty="0">
                <ns1:solidFill>
                  <ns1:schemeClr val="bg1"/>
                </ns1:solidFill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Drive Neo Technology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603311" y="2943548"/>
            <ns1:ext cx="7532191" cy="1018852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Autofit/>
          </ns1:bodyPr>
          <ns1:lstStyle/>
          <ns1:p>
            <ns1:pPr>
              <ns1:lnSpc>
                <ns1:spcPts val="4064"/>
              </ns1:lnSpc>
            </ns1:pPr>
            <ns1:r>
              <ns1:rPr lang="ko-KR" altLang="en-US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감사합니다</ns1:t>
            </ns1:r>
            <ns1:r>
              <ns1:rPr lang="en-US" altLang="ko-KR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.</ns1:t>
            </ns1:r>
            <ns1:endParaRPr lang="en-US" altLang="ko-KR" sz="66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3:creationId val="2657807510"/>
      </ns0:ext>
    </ns0:extLst>
  </ns0:cSld>
  <ns0:clrMapOvr>
    <ns1:masterClrMapping/>
  </ns0:clrMapOvr>
</ns0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